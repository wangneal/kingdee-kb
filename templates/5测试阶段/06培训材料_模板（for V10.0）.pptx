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handoutMasterIdLst>
    <p:handoutMasterId r:id="rId28"/>
  </p:handoutMasterIdLst>
  <p:sldIdLst>
    <p:sldId id="15051996" r:id="rId2"/>
    <p:sldId id="15051997" r:id="rId3"/>
    <p:sldId id="15052105" r:id="rId4"/>
    <p:sldId id="15052127" r:id="rId5"/>
    <p:sldId id="15052106" r:id="rId6"/>
    <p:sldId id="15052111" r:id="rId7"/>
    <p:sldId id="15052112" r:id="rId8"/>
    <p:sldId id="15052113" r:id="rId9"/>
    <p:sldId id="15051901" r:id="rId10"/>
    <p:sldId id="15052128" r:id="rId11"/>
    <p:sldId id="15052094" r:id="rId12"/>
    <p:sldId id="15052114" r:id="rId13"/>
    <p:sldId id="15052129" r:id="rId14"/>
    <p:sldId id="15052115" r:id="rId15"/>
    <p:sldId id="15052116" r:id="rId16"/>
    <p:sldId id="15052117" r:id="rId17"/>
    <p:sldId id="15052085" r:id="rId18"/>
    <p:sldId id="15052130" r:id="rId19"/>
    <p:sldId id="15052090" r:id="rId20"/>
    <p:sldId id="15052095" r:id="rId21"/>
    <p:sldId id="15052098" r:id="rId22"/>
    <p:sldId id="15052087" r:id="rId23"/>
    <p:sldId id="15052131" r:id="rId24"/>
    <p:sldId id="15051907" r:id="rId25"/>
    <p:sldId id="15051999"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15051997"/>
            <p14:sldId id="15052105"/>
            <p14:sldId id="15052127"/>
            <p14:sldId id="15052106"/>
            <p14:sldId id="15052111"/>
            <p14:sldId id="15052112"/>
            <p14:sldId id="15052113"/>
            <p14:sldId id="15051901"/>
            <p14:sldId id="15052128"/>
            <p14:sldId id="15052094"/>
            <p14:sldId id="15052114"/>
            <p14:sldId id="15052129"/>
            <p14:sldId id="15052115"/>
            <p14:sldId id="15052116"/>
            <p14:sldId id="15052117"/>
            <p14:sldId id="15052085"/>
            <p14:sldId id="15052130"/>
            <p14:sldId id="15052090"/>
            <p14:sldId id="15052095"/>
            <p14:sldId id="15052098"/>
            <p14:sldId id="15052087"/>
            <p14:sldId id="15052131"/>
            <p14:sldId id="15051907"/>
            <p14:sldId id="15051999"/>
          </p14:sldIdLst>
        </p14:section>
      </p14:sectionLst>
    </p:ext>
    <p:ext uri="{EFAFB233-063F-42B5-8137-9DF3F51BA10A}">
      <p15:sldGuideLst xmlns:p15="http://schemas.microsoft.com/office/powerpoint/2012/main">
        <p15:guide id="1" orient="horz" pos="2161">
          <p15:clr>
            <a:srgbClr val="A4A3A4"/>
          </p15:clr>
        </p15:guide>
        <p15:guide id="2" pos="3823">
          <p15:clr>
            <a:srgbClr val="A4A3A4"/>
          </p15:clr>
        </p15:guide>
        <p15:guide id="3" pos="251">
          <p15:clr>
            <a:srgbClr val="A4A3A4"/>
          </p15:clr>
        </p15:guide>
        <p15:guide id="4" pos="7491">
          <p15:clr>
            <a:srgbClr val="A4A3A4"/>
          </p15:clr>
        </p15:guide>
        <p15:guide id="5" orient="horz" pos="187">
          <p15:clr>
            <a:srgbClr val="A4A3A4"/>
          </p15:clr>
        </p15:guide>
        <p15:guide id="6" orient="horz" pos="418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DFF"/>
    <a:srgbClr val="DFE8FB"/>
    <a:srgbClr val="2970EB"/>
    <a:srgbClr val="2A70EB"/>
    <a:srgbClr val="A16EFF"/>
    <a:srgbClr val="08C8C8"/>
    <a:srgbClr val="22AAFE"/>
    <a:srgbClr val="2287F5"/>
    <a:srgbClr val="00BEEE"/>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p:cViewPr varScale="1">
        <p:scale>
          <a:sx n="70" d="100"/>
          <a:sy n="70" d="100"/>
        </p:scale>
        <p:origin x="660" y="52"/>
      </p:cViewPr>
      <p:guideLst>
        <p:guide orient="horz" pos="2161"/>
        <p:guide pos="3823"/>
        <p:guide pos="251"/>
        <p:guide pos="7491"/>
        <p:guide orient="horz" pos="187"/>
        <p:guide orient="horz" pos="4186"/>
      </p:guideLst>
    </p:cSldViewPr>
  </p:slideViewPr>
  <p:outlineViewPr>
    <p:cViewPr>
      <p:scale>
        <a:sx n="33" d="100"/>
        <a:sy n="33" d="100"/>
      </p:scale>
      <p:origin x="0" y="-4744"/>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2022/10/18</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2022/10/18</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微软雅黑" panose="020B0503020204020204" charset="-122"/>
                <a:ea typeface="微软雅黑" panose="020B0503020204020204" charset="-122"/>
              </a:rPr>
              <a:t>①</a:t>
            </a:r>
            <a:r>
              <a:rPr lang="zh-CN" altLang="en-US" sz="900" b="0" i="0" dirty="0">
                <a:solidFill>
                  <a:schemeClr val="accent1">
                    <a:lumMod val="75000"/>
                  </a:schemeClr>
                </a:solidFill>
                <a:latin typeface="微软雅黑" panose="020B0503020204020204" charset="-122"/>
                <a:ea typeface="微软雅黑" panose="020B0503020204020204" charset="-122"/>
              </a:rPr>
              <a:t> </a:t>
            </a:r>
            <a:r>
              <a:rPr lang="zh-CN" altLang="zh-CN" sz="900" b="0" i="0" dirty="0">
                <a:solidFill>
                  <a:schemeClr val="accent1">
                    <a:lumMod val="75000"/>
                  </a:schemeClr>
                </a:solidFill>
                <a:latin typeface="微软雅黑" panose="020B0503020204020204" charset="-122"/>
                <a:ea typeface="微软雅黑" panose="020B050302020402020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7975"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7975"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zh-CN" sz="1800" b="1" i="0" dirty="0">
                <a:solidFill>
                  <a:srgbClr val="FFC000"/>
                </a:solidFill>
                <a:latin typeface="微软雅黑" panose="020B0503020204020204" charset="-122"/>
                <a:ea typeface="微软雅黑" panose="020B0503020204020204" charset="-122"/>
              </a:rPr>
              <a:t>①</a:t>
            </a:r>
            <a:r>
              <a:rPr lang="zh-CN" altLang="en-US" sz="1800" b="1" i="0" dirty="0">
                <a:solidFill>
                  <a:srgbClr val="FFC000"/>
                </a:solidFill>
                <a:latin typeface="微软雅黑" panose="020B0503020204020204" charset="-122"/>
                <a:ea typeface="微软雅黑" panose="020B0503020204020204" charset="-122"/>
              </a:rPr>
              <a:t> </a:t>
            </a:r>
            <a:r>
              <a:rPr lang="zh-CN" altLang="zh-CN" sz="1800" b="1" i="0" dirty="0">
                <a:solidFill>
                  <a:srgbClr val="FFC000"/>
                </a:solidFill>
                <a:latin typeface="微软雅黑" panose="020B0503020204020204" charset="-122"/>
                <a:ea typeface="微软雅黑" panose="020B0503020204020204" charset="-122"/>
              </a:rPr>
              <a:t>绝密信息 严禁泄露</a:t>
            </a:r>
            <a:r>
              <a:rPr lang="zh-CN" altLang="en-US" sz="1800" b="1" i="0" dirty="0">
                <a:solidFill>
                  <a:srgbClr val="FFC000"/>
                </a:solidFill>
                <a:latin typeface="微软雅黑" panose="020B0503020204020204" charset="-122"/>
                <a:ea typeface="微软雅黑" panose="020B0503020204020204" charset="-122"/>
              </a:rPr>
              <a:t> </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pSp>
        <p:nvGrpSpPr>
          <p:cNvPr id="11" name="Group 10"/>
          <p:cNvGrpSpPr/>
          <p:nvPr userDrawn="1"/>
        </p:nvGrpSpPr>
        <p:grpSpPr>
          <a:xfrm>
            <a:off x="-268112"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r="38287"/>
          <a:stretch>
            <a:fillRect/>
          </a:stretch>
        </p:blipFill>
        <p:spPr>
          <a:xfrm>
            <a:off x="10415184" y="257036"/>
            <a:ext cx="1381001" cy="465455"/>
          </a:xfrm>
          <a:prstGeom prst="rect">
            <a:avLst/>
          </a:prstGeom>
        </p:spPr>
      </p:pic>
      <p:sp>
        <p:nvSpPr>
          <p:cNvPr id="22" name="内容占位符 2"/>
          <p:cNvSpPr>
            <a:spLocks noGrp="1"/>
          </p:cNvSpPr>
          <p:nvPr>
            <p:ph idx="1"/>
          </p:nvPr>
        </p:nvSpPr>
        <p:spPr>
          <a:xfrm>
            <a:off x="431371" y="989299"/>
            <a:ext cx="11233248" cy="5136868"/>
          </a:xfrm>
          <a:prstGeom prst="rect">
            <a:avLst/>
          </a:prstGeom>
        </p:spPr>
        <p:txBody>
          <a:bodyPr>
            <a:normAutofit/>
          </a:bodyPr>
          <a:lstStyle>
            <a:lvl1pPr marL="342900" indent="-342900">
              <a:buSzPct val="70000"/>
              <a:buFontTx/>
              <a:buBlip>
                <a:blip r:embed="rId3"/>
              </a:buBlip>
              <a:defRPr sz="20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a:defRPr sz="18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a:defRPr sz="16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a:defRPr sz="14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a:defRPr sz="14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25" name="标题 1"/>
          <p:cNvSpPr>
            <a:spLocks noGrp="1"/>
          </p:cNvSpPr>
          <p:nvPr>
            <p:ph type="title"/>
          </p:nvPr>
        </p:nvSpPr>
        <p:spPr>
          <a:xfrm>
            <a:off x="6693" y="4"/>
            <a:ext cx="5801276" cy="576000"/>
          </a:xfrm>
          <a:prstGeom prst="rect">
            <a:avLst/>
          </a:prstGeom>
        </p:spPr>
        <p:txBody>
          <a:bodyPr anchor="ctr">
            <a:normAutofit/>
          </a:bodyPr>
          <a:lstStyle>
            <a:lvl1pPr algn="l">
              <a:defRPr sz="2400" b="0" i="0">
                <a:latin typeface="微软雅黑" panose="020B0503020204020204" charset="-122"/>
                <a:ea typeface="微软雅黑" panose="020B0503020204020204" charset="-122"/>
                <a:cs typeface="微软雅黑" panose="020B0503020204020204" charset="-122"/>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25.emf"/></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最终用户培训</a:t>
            </a:r>
          </a:p>
        </p:txBody>
      </p:sp>
      <p:sp>
        <p:nvSpPr>
          <p:cNvPr id="3" name="内容占位符 2"/>
          <p:cNvSpPr>
            <a:spLocks noGrp="1"/>
          </p:cNvSpPr>
          <p:nvPr>
            <p:ph sz="quarter" idx="12"/>
          </p:nvPr>
        </p:nvSpPr>
        <p:spPr/>
        <p:txBody>
          <a:bodyPr/>
          <a:lstStyle/>
          <a:p>
            <a:endParaRPr kumimoji="1" lang="zh-CN" altLang="en-US" dirty="0"/>
          </a:p>
        </p:txBody>
      </p:sp>
      <p:sp>
        <p:nvSpPr>
          <p:cNvPr id="4" name="内容占位符 3"/>
          <p:cNvSpPr>
            <a:spLocks noGrp="1"/>
          </p:cNvSpPr>
          <p:nvPr>
            <p:ph sz="quarter" idx="13"/>
          </p:nvPr>
        </p:nvSpPr>
        <p:spPr/>
        <p:txBody>
          <a:bodyPr/>
          <a:lstStyle/>
          <a:p>
            <a:endParaRPr kumimoji="1" lang="zh-CN" altLang="en-US" dirty="0"/>
          </a:p>
        </p:txBody>
      </p:sp>
      <p:sp>
        <p:nvSpPr>
          <p:cNvPr id="5" name="内容占位符 4"/>
          <p:cNvSpPr>
            <a:spLocks noGrp="1"/>
          </p:cNvSpPr>
          <p:nvPr>
            <p:ph sz="quarter" idx="14"/>
          </p:nvPr>
        </p:nvSpPr>
        <p:spPr/>
        <p:txBody>
          <a:bodyPr/>
          <a:lstStyle/>
          <a:p>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655036" y="3562237"/>
            <a:ext cx="1052336" cy="751494"/>
          </a:xfrm>
        </p:spPr>
        <p:txBody>
          <a:bodyPr/>
          <a:lstStyle/>
          <a:p>
            <a:r>
              <a:rPr kumimoji="1" lang="en-US" altLang="zh-CN" dirty="0"/>
              <a:t>03</a:t>
            </a:r>
            <a:endParaRPr kumimoji="1" lang="zh-CN" altLang="en-US" dirty="0"/>
          </a:p>
        </p:txBody>
      </p:sp>
      <p:sp>
        <p:nvSpPr>
          <p:cNvPr id="3" name="文本占位符 2"/>
          <p:cNvSpPr>
            <a:spLocks noGrp="1"/>
          </p:cNvSpPr>
          <p:nvPr>
            <p:ph type="body" sz="quarter" idx="14"/>
          </p:nvPr>
        </p:nvSpPr>
        <p:spPr>
          <a:xfrm>
            <a:off x="655036" y="4642384"/>
            <a:ext cx="1052336" cy="673771"/>
          </a:xfrm>
        </p:spPr>
        <p:txBody>
          <a:bodyPr/>
          <a:lstStyle/>
          <a:p>
            <a:r>
              <a:rPr kumimoji="1" lang="en-US" altLang="zh-CN" dirty="0"/>
              <a:t>04</a:t>
            </a:r>
            <a:endParaRPr kumimoji="1" lang="zh-CN" altLang="en-US" dirty="0"/>
          </a:p>
        </p:txBody>
      </p:sp>
      <p:sp>
        <p:nvSpPr>
          <p:cNvPr id="4" name="文本占位符 3"/>
          <p:cNvSpPr>
            <a:spLocks noGrp="1"/>
          </p:cNvSpPr>
          <p:nvPr>
            <p:ph type="body" sz="quarter" idx="15"/>
          </p:nvPr>
        </p:nvSpPr>
        <p:spPr>
          <a:xfrm>
            <a:off x="1969317" y="2441274"/>
            <a:ext cx="6602906" cy="410834"/>
          </a:xfrm>
        </p:spPr>
        <p:txBody>
          <a:bodyPr/>
          <a:lstStyle/>
          <a:p>
            <a:r>
              <a:rPr kumimoji="1" lang="zh-CN" altLang="en-US" dirty="0">
                <a:sym typeface="+mn-ea"/>
              </a:rPr>
              <a:t>整体业务流程介绍</a:t>
            </a:r>
          </a:p>
        </p:txBody>
      </p:sp>
      <p:sp>
        <p:nvSpPr>
          <p:cNvPr id="5" name="文本占位符 4"/>
          <p:cNvSpPr>
            <a:spLocks noGrp="1"/>
          </p:cNvSpPr>
          <p:nvPr>
            <p:ph type="body" sz="quarter" idx="16"/>
          </p:nvPr>
        </p:nvSpPr>
        <p:spPr>
          <a:xfrm>
            <a:off x="1969317" y="2894976"/>
            <a:ext cx="6602906" cy="285116"/>
          </a:xfrm>
        </p:spPr>
        <p:txBody>
          <a:bodyPr/>
          <a:lstStyle/>
          <a:p>
            <a:r>
              <a:rPr kumimoji="1" lang="en-US" altLang="zh-CN"/>
              <a:t> </a:t>
            </a:r>
          </a:p>
        </p:txBody>
      </p:sp>
      <p:sp>
        <p:nvSpPr>
          <p:cNvPr id="6" name="文本占位符 5"/>
          <p:cNvSpPr>
            <a:spLocks noGrp="1"/>
          </p:cNvSpPr>
          <p:nvPr>
            <p:ph type="body" sz="quarter" idx="18"/>
          </p:nvPr>
        </p:nvSpPr>
        <p:spPr>
          <a:xfrm>
            <a:off x="1969317" y="3961778"/>
            <a:ext cx="6602906" cy="285116"/>
          </a:xfrm>
        </p:spPr>
        <p:txBody>
          <a:bodyPr/>
          <a:lstStyle/>
          <a:p>
            <a:r>
              <a:rPr kumimoji="1" lang="en-US" altLang="zh-CN"/>
              <a:t> </a:t>
            </a:r>
          </a:p>
        </p:txBody>
      </p:sp>
      <p:sp>
        <p:nvSpPr>
          <p:cNvPr id="7" name="文本占位符 6"/>
          <p:cNvSpPr>
            <a:spLocks noGrp="1"/>
          </p:cNvSpPr>
          <p:nvPr>
            <p:ph type="body" sz="quarter" idx="20"/>
          </p:nvPr>
        </p:nvSpPr>
        <p:spPr>
          <a:xfrm>
            <a:off x="1969317" y="3962335"/>
            <a:ext cx="6602906" cy="285116"/>
          </a:xfrm>
        </p:spPr>
        <p:txBody>
          <a:bodyPr/>
          <a:lstStyle/>
          <a:p>
            <a:r>
              <a:rPr kumimoji="1" lang="en-US" altLang="zh-CN"/>
              <a:t>2-1.</a:t>
            </a:r>
            <a:r>
              <a:rPr kumimoji="1" lang="zh-CN" altLang="en-US"/>
              <a:t>业务场景介绍 </a:t>
            </a:r>
            <a:r>
              <a:rPr kumimoji="1" lang="en-US" altLang="zh-CN"/>
              <a:t>|  2-2.</a:t>
            </a:r>
            <a:r>
              <a:rPr kumimoji="1" lang="zh-CN" altLang="en-US"/>
              <a:t>业务流程图  </a:t>
            </a:r>
            <a:r>
              <a:rPr kumimoji="1" lang="en-US" altLang="zh-CN"/>
              <a:t>| 2-3.</a:t>
            </a:r>
            <a:r>
              <a:rPr kumimoji="1" lang="zh-CN" altLang="en-US"/>
              <a:t>系统操作培训 </a:t>
            </a:r>
          </a:p>
        </p:txBody>
      </p:sp>
      <p:sp>
        <p:nvSpPr>
          <p:cNvPr id="8" name="文本占位符 7"/>
          <p:cNvSpPr>
            <a:spLocks noGrp="1"/>
          </p:cNvSpPr>
          <p:nvPr>
            <p:ph type="body" sz="quarter" idx="21"/>
          </p:nvPr>
        </p:nvSpPr>
        <p:spPr>
          <a:xfrm>
            <a:off x="655036" y="5709621"/>
            <a:ext cx="1052336" cy="673771"/>
          </a:xfrm>
        </p:spPr>
        <p:txBody>
          <a:bodyPr/>
          <a:lstStyle/>
          <a:p>
            <a:r>
              <a:rPr kumimoji="1" lang="en-US" altLang="zh-CN" dirty="0"/>
              <a:t>05</a:t>
            </a:r>
            <a:endParaRPr kumimoji="1" lang="zh-CN" altLang="en-US" dirty="0"/>
          </a:p>
        </p:txBody>
      </p:sp>
      <p:sp>
        <p:nvSpPr>
          <p:cNvPr id="9" name="文本占位符 8"/>
          <p:cNvSpPr>
            <a:spLocks noGrp="1"/>
          </p:cNvSpPr>
          <p:nvPr>
            <p:ph type="body" sz="quarter" idx="23"/>
          </p:nvPr>
        </p:nvSpPr>
        <p:spPr>
          <a:xfrm>
            <a:off x="1969317" y="6098277"/>
            <a:ext cx="6602906" cy="285116"/>
          </a:xfrm>
        </p:spPr>
        <p:txBody>
          <a:bodyPr/>
          <a:lstStyle/>
          <a:p>
            <a:r>
              <a:rPr kumimoji="1" lang="en-US" altLang="zh-CN"/>
              <a:t> </a:t>
            </a:r>
          </a:p>
        </p:txBody>
      </p:sp>
      <p:sp>
        <p:nvSpPr>
          <p:cNvPr id="10" name="文本占位符 9"/>
          <p:cNvSpPr>
            <a:spLocks noGrp="1"/>
          </p:cNvSpPr>
          <p:nvPr>
            <p:ph type="body" sz="quarter" idx="24"/>
          </p:nvPr>
        </p:nvSpPr>
        <p:spPr>
          <a:xfrm>
            <a:off x="10091816" y="2489930"/>
            <a:ext cx="1213281" cy="405045"/>
          </a:xfrm>
        </p:spPr>
        <p:txBody>
          <a:bodyPr/>
          <a:lstStyle/>
          <a:p>
            <a:r>
              <a:rPr kumimoji="1" lang="en-US" altLang="zh-CN"/>
              <a:t>P 02</a:t>
            </a:r>
          </a:p>
        </p:txBody>
      </p:sp>
      <p:sp>
        <p:nvSpPr>
          <p:cNvPr id="11" name="文本占位符 10"/>
          <p:cNvSpPr>
            <a:spLocks noGrp="1"/>
          </p:cNvSpPr>
          <p:nvPr>
            <p:ph type="body" sz="quarter" idx="25"/>
          </p:nvPr>
        </p:nvSpPr>
        <p:spPr>
          <a:xfrm>
            <a:off x="10091816" y="3569032"/>
            <a:ext cx="1213281" cy="405045"/>
          </a:xfrm>
        </p:spPr>
        <p:txBody>
          <a:bodyPr/>
          <a:lstStyle/>
          <a:p>
            <a:r>
              <a:rPr kumimoji="1" lang="en-US" altLang="zh-CN"/>
              <a:t>P 08</a:t>
            </a:r>
          </a:p>
        </p:txBody>
      </p:sp>
      <p:sp>
        <p:nvSpPr>
          <p:cNvPr id="12" name="文本占位符 11"/>
          <p:cNvSpPr>
            <a:spLocks noGrp="1"/>
          </p:cNvSpPr>
          <p:nvPr>
            <p:ph type="body" sz="quarter" idx="26"/>
          </p:nvPr>
        </p:nvSpPr>
        <p:spPr>
          <a:xfrm>
            <a:off x="10091816" y="4649180"/>
            <a:ext cx="1213281" cy="405045"/>
          </a:xfrm>
        </p:spPr>
        <p:txBody>
          <a:bodyPr/>
          <a:lstStyle/>
          <a:p>
            <a:r>
              <a:rPr kumimoji="1" lang="en-US" altLang="zh-CN"/>
              <a:t>P 11</a:t>
            </a:r>
          </a:p>
        </p:txBody>
      </p:sp>
      <p:sp>
        <p:nvSpPr>
          <p:cNvPr id="13" name="文本占位符 12"/>
          <p:cNvSpPr>
            <a:spLocks noGrp="1"/>
          </p:cNvSpPr>
          <p:nvPr>
            <p:ph type="body" sz="quarter" idx="27"/>
          </p:nvPr>
        </p:nvSpPr>
        <p:spPr>
          <a:xfrm>
            <a:off x="10091816" y="5727303"/>
            <a:ext cx="1213281" cy="405045"/>
          </a:xfrm>
        </p:spPr>
        <p:txBody>
          <a:bodyPr/>
          <a:lstStyle/>
          <a:p>
            <a:r>
              <a:rPr kumimoji="1" lang="en-US" altLang="zh-CN"/>
              <a:t>P 15</a:t>
            </a:r>
          </a:p>
        </p:txBody>
      </p:sp>
      <p:sp>
        <p:nvSpPr>
          <p:cNvPr id="14" name="文本占位符 13"/>
          <p:cNvSpPr>
            <a:spLocks noGrp="1"/>
          </p:cNvSpPr>
          <p:nvPr>
            <p:ph type="body" sz="quarter" idx="28"/>
          </p:nvPr>
        </p:nvSpPr>
        <p:spPr/>
        <p:txBody>
          <a:bodyPr/>
          <a:lstStyle/>
          <a:p>
            <a:r>
              <a:rPr kumimoji="1" lang="zh-CN" altLang="en-US" dirty="0"/>
              <a:t> </a:t>
            </a:r>
          </a:p>
        </p:txBody>
      </p:sp>
      <p:sp>
        <p:nvSpPr>
          <p:cNvPr id="15" name="文本占位符 14"/>
          <p:cNvSpPr>
            <a:spLocks noGrp="1"/>
          </p:cNvSpPr>
          <p:nvPr>
            <p:ph type="body" sz="quarter" idx="29"/>
          </p:nvPr>
        </p:nvSpPr>
        <p:spPr>
          <a:xfrm>
            <a:off x="1969317" y="3551617"/>
            <a:ext cx="6602906" cy="410834"/>
          </a:xfrm>
        </p:spPr>
        <p:txBody>
          <a:bodyPr/>
          <a:lstStyle/>
          <a:p>
            <a:r>
              <a:rPr kumimoji="1" lang="zh-CN" altLang="en-US" dirty="0">
                <a:sym typeface="+mn-ea"/>
              </a:rPr>
              <a:t>分场景业务流程培训</a:t>
            </a:r>
            <a:endParaRPr kumimoji="1" lang="zh-CN" altLang="en-US" dirty="0"/>
          </a:p>
        </p:txBody>
      </p:sp>
      <p:sp>
        <p:nvSpPr>
          <p:cNvPr id="16" name="文本占位符 15"/>
          <p:cNvSpPr>
            <a:spLocks noGrp="1"/>
          </p:cNvSpPr>
          <p:nvPr>
            <p:ph type="body" sz="quarter" idx="30"/>
          </p:nvPr>
        </p:nvSpPr>
        <p:spPr>
          <a:xfrm>
            <a:off x="1969317" y="4709947"/>
            <a:ext cx="6602906" cy="410834"/>
          </a:xfrm>
        </p:spPr>
        <p:txBody>
          <a:bodyPr/>
          <a:lstStyle/>
          <a:p>
            <a:r>
              <a:rPr kumimoji="1" lang="zh-CN" altLang="en-US" dirty="0">
                <a:sym typeface="+mn-ea"/>
              </a:rPr>
              <a:t>系统通用功能培训</a:t>
            </a:r>
          </a:p>
        </p:txBody>
      </p:sp>
      <p:sp>
        <p:nvSpPr>
          <p:cNvPr id="17" name="文本占位符 16"/>
          <p:cNvSpPr>
            <a:spLocks noGrp="1"/>
          </p:cNvSpPr>
          <p:nvPr>
            <p:ph type="body" sz="quarter" idx="31"/>
          </p:nvPr>
        </p:nvSpPr>
        <p:spPr>
          <a:xfrm>
            <a:off x="1969317" y="5690659"/>
            <a:ext cx="6602906" cy="410834"/>
          </a:xfrm>
        </p:spPr>
        <p:txBody>
          <a:bodyPr/>
          <a:lstStyle/>
          <a:p>
            <a:r>
              <a:rPr kumimoji="1" lang="en-US" altLang="zh-CN"/>
              <a:t>Q&amp;A</a:t>
            </a:r>
          </a:p>
        </p:txBody>
      </p:sp>
      <p:sp>
        <p:nvSpPr>
          <p:cNvPr id="18" name="标题 17"/>
          <p:cNvSpPr>
            <a:spLocks noGrp="1"/>
          </p:cNvSpPr>
          <p:nvPr>
            <p:ph type="title"/>
          </p:nvPr>
        </p:nvSpPr>
        <p:spPr/>
        <p:txBody>
          <a:bodyPr/>
          <a:lstStyle/>
          <a:p>
            <a:r>
              <a:rPr kumimoji="1" lang="zh-CN" altLang="en-US" dirty="0"/>
              <a:t>目 录</a:t>
            </a:r>
          </a:p>
        </p:txBody>
      </p:sp>
      <p:sp>
        <p:nvSpPr>
          <p:cNvPr id="19" name="文本占位符 18"/>
          <p:cNvSpPr>
            <a:spLocks noGrp="1"/>
          </p:cNvSpPr>
          <p:nvPr>
            <p:ph type="body" sz="quarter" idx="32"/>
          </p:nvPr>
        </p:nvSpPr>
        <p:spPr>
          <a:xfrm>
            <a:off x="655036" y="2402909"/>
            <a:ext cx="1052336" cy="830674"/>
          </a:xfrm>
        </p:spPr>
        <p:txBody>
          <a:bodyPr/>
          <a:lstStyle/>
          <a:p>
            <a:r>
              <a:rPr kumimoji="1" lang="en-US" altLang="zh-CN" dirty="0"/>
              <a:t>02</a:t>
            </a:r>
            <a:endParaRPr kumimoji="1" lang="zh-CN" altLang="en-US" dirty="0"/>
          </a:p>
        </p:txBody>
      </p:sp>
      <p:sp>
        <p:nvSpPr>
          <p:cNvPr id="21" name="文本占位符 4"/>
          <p:cNvSpPr>
            <a:spLocks noGrp="1"/>
          </p:cNvSpPr>
          <p:nvPr/>
        </p:nvSpPr>
        <p:spPr>
          <a:xfrm>
            <a:off x="1969317" y="302197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22" name="文本占位符 6"/>
          <p:cNvSpPr>
            <a:spLocks noGrp="1"/>
          </p:cNvSpPr>
          <p:nvPr/>
        </p:nvSpPr>
        <p:spPr>
          <a:xfrm>
            <a:off x="1969317" y="5120575"/>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t> </a:t>
            </a:r>
          </a:p>
        </p:txBody>
      </p:sp>
      <p:sp>
        <p:nvSpPr>
          <p:cNvPr id="23" name="文本占位符 4"/>
          <p:cNvSpPr>
            <a:spLocks noGrp="1"/>
          </p:cNvSpPr>
          <p:nvPr/>
        </p:nvSpPr>
        <p:spPr>
          <a:xfrm>
            <a:off x="1969317" y="174181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26" name="文本占位符 4"/>
          <p:cNvSpPr>
            <a:spLocks noGrp="1"/>
          </p:cNvSpPr>
          <p:nvPr/>
        </p:nvSpPr>
        <p:spPr>
          <a:xfrm>
            <a:off x="1969317" y="186881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0" name="文本占位符 3"/>
          <p:cNvSpPr>
            <a:spLocks noGrp="1"/>
          </p:cNvSpPr>
          <p:nvPr/>
        </p:nvSpPr>
        <p:spPr>
          <a:xfrm>
            <a:off x="1969317" y="1383999"/>
            <a:ext cx="6602906" cy="41083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2400" b="1"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a:sym typeface="+mn-ea"/>
              </a:rPr>
              <a:t>项目背景及整体方案</a:t>
            </a:r>
          </a:p>
        </p:txBody>
      </p:sp>
      <p:sp>
        <p:nvSpPr>
          <p:cNvPr id="31" name="文本占位符 4"/>
          <p:cNvSpPr>
            <a:spLocks noGrp="1"/>
          </p:cNvSpPr>
          <p:nvPr/>
        </p:nvSpPr>
        <p:spPr>
          <a:xfrm>
            <a:off x="1969317" y="1964701"/>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3" name="文本占位符 18"/>
          <p:cNvSpPr>
            <a:spLocks noGrp="1"/>
          </p:cNvSpPr>
          <p:nvPr/>
        </p:nvSpPr>
        <p:spPr>
          <a:xfrm>
            <a:off x="655036" y="1345634"/>
            <a:ext cx="1052336" cy="83067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54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t>01</a:t>
            </a:r>
            <a:endParaRPr kumimoji="1" lang="zh-CN" altLang="en-US" dirty="0"/>
          </a:p>
        </p:txBody>
      </p:sp>
      <p:sp>
        <p:nvSpPr>
          <p:cNvPr id="34" name="文本占位符 4"/>
          <p:cNvSpPr>
            <a:spLocks noGrp="1"/>
          </p:cNvSpPr>
          <p:nvPr/>
        </p:nvSpPr>
        <p:spPr>
          <a:xfrm>
            <a:off x="1969317" y="2091701"/>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5" name="文本占位符 4"/>
          <p:cNvSpPr>
            <a:spLocks noGrp="1"/>
          </p:cNvSpPr>
          <p:nvPr/>
        </p:nvSpPr>
        <p:spPr>
          <a:xfrm>
            <a:off x="1969317" y="88964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6" name="文本占位符 4"/>
          <p:cNvSpPr>
            <a:spLocks noGrp="1"/>
          </p:cNvSpPr>
          <p:nvPr/>
        </p:nvSpPr>
        <p:spPr>
          <a:xfrm>
            <a:off x="1969317" y="101664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7" name="文本占位符 9"/>
          <p:cNvSpPr>
            <a:spLocks noGrp="1"/>
          </p:cNvSpPr>
          <p:nvPr/>
        </p:nvSpPr>
        <p:spPr>
          <a:xfrm>
            <a:off x="10091816" y="1541875"/>
            <a:ext cx="1213281" cy="405045"/>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20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P 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t>项目背景及整体方案</a:t>
            </a:r>
          </a:p>
        </p:txBody>
      </p:sp>
      <p:sp>
        <p:nvSpPr>
          <p:cNvPr id="3" name="文本占位符 2"/>
          <p:cNvSpPr>
            <a:spLocks noGrp="1"/>
          </p:cNvSpPr>
          <p:nvPr>
            <p:ph type="body" sz="quarter" idx="17"/>
          </p:nvPr>
        </p:nvSpPr>
        <p:spPr>
          <a:xfrm>
            <a:off x="472054" y="3305280"/>
            <a:ext cx="4724718" cy="1276660"/>
          </a:xfrm>
        </p:spPr>
        <p:txBody>
          <a:bodyPr/>
          <a:lstStyle/>
          <a:p>
            <a:r>
              <a:rPr lang="en-US" altLang="zh-CN"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项目</a:t>
            </a:r>
            <a:r>
              <a:rPr kumimoji="1" lang="zh-CN" altLang="en-US" dirty="0">
                <a:sym typeface="+mn-ea"/>
              </a:rPr>
              <a:t>背景</a:t>
            </a:r>
            <a:br>
              <a:rPr kumimoji="1" lang="zh-CN" altLang="en-US" dirty="0"/>
            </a:br>
            <a:endParaRPr kumimoji="1" lang="zh-CN" altLang="en-US" dirty="0"/>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描述项目的背景及整体方案，可使用图文形式展现，增强参训者整体性认识。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a:t>
            </a:r>
            <a:r>
              <a:rPr kumimoji="1" lang="zh-CN" altLang="en-US" dirty="0">
                <a:sym typeface="+mn-ea"/>
              </a:rPr>
              <a:t>背景</a:t>
            </a:r>
            <a:br>
              <a:rPr kumimoji="1" lang="zh-CN" altLang="en-US" dirty="0"/>
            </a:br>
            <a:endParaRPr kumimoji="1" lang="zh-CN" altLang="en-US" dirty="0"/>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kumimoji="0" sz="1800" dirty="0">
                <a:solidFill>
                  <a:schemeClr val="tx1"/>
                </a:solidFill>
                <a:latin typeface="微软雅黑" panose="020B0503020204020204" charset="-122"/>
                <a:ea typeface="微软雅黑" panose="020B0503020204020204" charset="-122"/>
                <a:cs typeface="微软雅黑" panose="020B0503020204020204" charset="-122"/>
              </a:rPr>
              <a:t>中国汽车业通过十几年的高速发展，到现在已经进入成熟期，汽车制造依然是国家经济发展的支柱之一，依然有一个相对长的快速发展期。汽配企业作为汽车生产供应的重要组成，随整车厂的发展而大力发展，因整车厂对供应链信息化的要求，汽配企业的信息化建设逐渐深入和复杂。比如MMOG认证对信息化的要求。还有整车厂的EDI计划接口，要求汽配厂家提供信息系统对接和反馈。针对汽配企业自己的供应商，要求能提升与供应商的业务协同能力，及时高效的处理与供应商的协同事宜。</a:t>
            </a:r>
            <a:endParaRPr lang="en-US" altLang="zh-CN" sz="1700" dirty="0">
              <a:latin typeface="+mn-ea"/>
              <a:ea typeface="+mn-ea"/>
            </a:endParaRPr>
          </a:p>
          <a:p>
            <a:endParaRPr lang="en-US" altLang="zh-CN" dirty="0"/>
          </a:p>
          <a:p>
            <a:pPr marL="0" indent="0">
              <a:buNone/>
            </a:pPr>
            <a:endParaRPr lang="en-US" altLang="zh-CN" dirty="0"/>
          </a:p>
          <a:p>
            <a:pPr marL="0" indent="0">
              <a:buNone/>
            </a:pPr>
            <a:endParaRPr lang="en-US" altLang="zh-CN" dirty="0"/>
          </a:p>
          <a:p>
            <a:endParaRPr lang="en-US" altLang="zh-CN" dirty="0"/>
          </a:p>
          <a:p>
            <a:pPr marL="0" indent="0">
              <a:buNone/>
            </a:pPr>
            <a:endParaRPr lang="en-US" altLang="zh-CN" dirty="0"/>
          </a:p>
        </p:txBody>
      </p:sp>
      <p:pic>
        <p:nvPicPr>
          <p:cNvPr id="8" name="图片 7"/>
          <p:cNvPicPr>
            <a:picLocks noChangeAspect="1"/>
          </p:cNvPicPr>
          <p:nvPr/>
        </p:nvPicPr>
        <p:blipFill>
          <a:blip r:embed="rId3"/>
          <a:stretch>
            <a:fillRect/>
          </a:stretch>
        </p:blipFill>
        <p:spPr>
          <a:xfrm>
            <a:off x="898808" y="4353522"/>
            <a:ext cx="1524784" cy="613419"/>
          </a:xfrm>
          <a:prstGeom prst="rect">
            <a:avLst/>
          </a:prstGeom>
        </p:spPr>
      </p:pic>
      <p:pic>
        <p:nvPicPr>
          <p:cNvPr id="9" name="图片 8"/>
          <p:cNvPicPr>
            <a:picLocks noChangeAspect="1"/>
          </p:cNvPicPr>
          <p:nvPr/>
        </p:nvPicPr>
        <p:blipFill>
          <a:blip r:embed="rId4"/>
          <a:stretch>
            <a:fillRect/>
          </a:stretch>
        </p:blipFill>
        <p:spPr>
          <a:xfrm>
            <a:off x="931685" y="3376838"/>
            <a:ext cx="1392423" cy="816024"/>
          </a:xfrm>
          <a:prstGeom prst="rect">
            <a:avLst/>
          </a:prstGeom>
        </p:spPr>
      </p:pic>
      <p:pic>
        <p:nvPicPr>
          <p:cNvPr id="10" name="图片 9"/>
          <p:cNvPicPr/>
          <p:nvPr/>
        </p:nvPicPr>
        <p:blipFill>
          <a:blip r:embed="rId5"/>
          <a:stretch>
            <a:fillRect/>
          </a:stretch>
        </p:blipFill>
        <p:spPr>
          <a:xfrm>
            <a:off x="4108112" y="3430210"/>
            <a:ext cx="3240837" cy="1374706"/>
          </a:xfrm>
          <a:prstGeom prst="rect">
            <a:avLst/>
          </a:prstGeom>
        </p:spPr>
      </p:pic>
      <p:pic>
        <p:nvPicPr>
          <p:cNvPr id="11" name="图片 10"/>
          <p:cNvPicPr>
            <a:picLocks noChangeAspect="1"/>
          </p:cNvPicPr>
          <p:nvPr/>
        </p:nvPicPr>
        <p:blipFill>
          <a:blip r:embed="rId6"/>
          <a:stretch>
            <a:fillRect/>
          </a:stretch>
        </p:blipFill>
        <p:spPr>
          <a:xfrm>
            <a:off x="9048329" y="3327977"/>
            <a:ext cx="2160239" cy="1494948"/>
          </a:xfrm>
          <a:prstGeom prst="rect">
            <a:avLst/>
          </a:prstGeom>
        </p:spPr>
      </p:pic>
      <p:sp>
        <p:nvSpPr>
          <p:cNvPr id="12" name="文本框 11"/>
          <p:cNvSpPr txBox="1"/>
          <p:nvPr/>
        </p:nvSpPr>
        <p:spPr>
          <a:xfrm>
            <a:off x="1290993" y="2694623"/>
            <a:ext cx="740414" cy="398780"/>
          </a:xfrm>
          <a:prstGeom prst="rect">
            <a:avLst/>
          </a:prstGeom>
          <a:noFill/>
        </p:spPr>
        <p:txBody>
          <a:bodyPr wrap="square" rtlCol="0">
            <a:spAutoFit/>
          </a:bodyPr>
          <a:lstStyle/>
          <a:p>
            <a:r>
              <a:rPr lang="zh-CN" altLang="en-US" sz="2000" b="1" dirty="0">
                <a:latin typeface="微软雅黑" panose="020B0503020204020204" charset="-122"/>
                <a:ea typeface="微软雅黑" panose="020B0503020204020204" charset="-122"/>
              </a:rPr>
              <a:t>客户</a:t>
            </a:r>
          </a:p>
        </p:txBody>
      </p:sp>
      <p:sp>
        <p:nvSpPr>
          <p:cNvPr id="14" name="文本框 13"/>
          <p:cNvSpPr txBox="1"/>
          <p:nvPr/>
        </p:nvSpPr>
        <p:spPr>
          <a:xfrm>
            <a:off x="5303912" y="2694623"/>
            <a:ext cx="1224136" cy="400110"/>
          </a:xfrm>
          <a:prstGeom prst="rect">
            <a:avLst/>
          </a:prstGeom>
          <a:noFill/>
        </p:spPr>
        <p:txBody>
          <a:bodyPr wrap="square" rtlCol="0">
            <a:spAutoFit/>
          </a:bodyPr>
          <a:lstStyle/>
          <a:p>
            <a:r>
              <a:rPr lang="en-US" altLang="zh-CN" sz="2000" b="1" dirty="0">
                <a:latin typeface="微软雅黑" panose="020B0503020204020204" charset="-122"/>
                <a:ea typeface="微软雅黑" panose="020B0503020204020204" charset="-122"/>
              </a:rPr>
              <a:t>XX</a:t>
            </a:r>
          </a:p>
        </p:txBody>
      </p:sp>
      <p:sp>
        <p:nvSpPr>
          <p:cNvPr id="15" name="文本框 14"/>
          <p:cNvSpPr txBox="1"/>
          <p:nvPr/>
        </p:nvSpPr>
        <p:spPr>
          <a:xfrm>
            <a:off x="9408368" y="2734693"/>
            <a:ext cx="1224136" cy="400110"/>
          </a:xfrm>
          <a:prstGeom prst="rect">
            <a:avLst/>
          </a:prstGeom>
          <a:noFill/>
        </p:spPr>
        <p:txBody>
          <a:bodyPr wrap="square" rtlCol="0">
            <a:spAutoFit/>
          </a:bodyPr>
          <a:lstStyle/>
          <a:p>
            <a:r>
              <a:rPr lang="zh-CN" altLang="en-US" sz="2000" b="1" dirty="0">
                <a:latin typeface="微软雅黑" panose="020B0503020204020204" charset="-122"/>
                <a:ea typeface="微软雅黑" panose="020B0503020204020204" charset="-122"/>
              </a:rPr>
              <a:t>供应商</a:t>
            </a:r>
          </a:p>
        </p:txBody>
      </p:sp>
      <p:sp>
        <p:nvSpPr>
          <p:cNvPr id="20" name="左右箭头 19"/>
          <p:cNvSpPr/>
          <p:nvPr/>
        </p:nvSpPr>
        <p:spPr>
          <a:xfrm>
            <a:off x="2495600" y="3859139"/>
            <a:ext cx="1513028" cy="50405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latin typeface="微软雅黑" panose="020B0503020204020204" charset="-122"/>
                <a:ea typeface="微软雅黑" panose="020B0503020204020204" charset="-122"/>
              </a:rPr>
              <a:t>产销协同</a:t>
            </a:r>
          </a:p>
        </p:txBody>
      </p:sp>
      <p:sp>
        <p:nvSpPr>
          <p:cNvPr id="22" name="左右箭头 21"/>
          <p:cNvSpPr/>
          <p:nvPr/>
        </p:nvSpPr>
        <p:spPr>
          <a:xfrm>
            <a:off x="7463292" y="3886821"/>
            <a:ext cx="1513028" cy="50405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latin typeface="微软雅黑" panose="020B0503020204020204" charset="-122"/>
                <a:ea typeface="微软雅黑" panose="020B0503020204020204" charset="-122"/>
              </a:rPr>
              <a:t>供应协同</a:t>
            </a:r>
          </a:p>
        </p:txBody>
      </p:sp>
      <p:sp>
        <p:nvSpPr>
          <p:cNvPr id="23" name="下弧形箭头 22"/>
          <p:cNvSpPr/>
          <p:nvPr/>
        </p:nvSpPr>
        <p:spPr>
          <a:xfrm>
            <a:off x="4648648" y="4986622"/>
            <a:ext cx="2700301" cy="1008112"/>
          </a:xfrm>
          <a:prstGeom prst="curved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内部管理提升</a:t>
            </a:r>
          </a:p>
        </p:txBody>
      </p:sp>
      <p:sp>
        <p:nvSpPr>
          <p:cNvPr id="24" name="上弧形箭头 23"/>
          <p:cNvSpPr/>
          <p:nvPr/>
        </p:nvSpPr>
        <p:spPr>
          <a:xfrm>
            <a:off x="4511824" y="2348880"/>
            <a:ext cx="2837125" cy="961877"/>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6" name="空心弧 25"/>
          <p:cNvSpPr/>
          <p:nvPr/>
        </p:nvSpPr>
        <p:spPr>
          <a:xfrm rot="10800000">
            <a:off x="1290993" y="5633022"/>
            <a:ext cx="9557536" cy="973780"/>
          </a:xfrm>
          <a:prstGeom prst="blockArc">
            <a:avLst>
              <a:gd name="adj1" fmla="val 10876165"/>
              <a:gd name="adj2" fmla="val 0"/>
              <a:gd name="adj3" fmla="val 25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27" name="文本框 26"/>
          <p:cNvSpPr txBox="1"/>
          <p:nvPr/>
        </p:nvSpPr>
        <p:spPr>
          <a:xfrm>
            <a:off x="3459108" y="6277726"/>
            <a:ext cx="5760640" cy="368300"/>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cs typeface="微软雅黑" panose="020B0503020204020204" charset="-122"/>
              </a:rPr>
              <a:t>产业链协同、</a:t>
            </a:r>
            <a:r>
              <a:rPr lang="en-US" altLang="zh-CN" dirty="0">
                <a:latin typeface="微软雅黑" panose="020B0503020204020204" charset="-122"/>
                <a:ea typeface="微软雅黑" panose="020B0503020204020204" charset="-122"/>
                <a:cs typeface="微软雅黑" panose="020B0503020204020204" charset="-122"/>
              </a:rPr>
              <a:t>MMOG  -&gt;    ERP+(</a:t>
            </a:r>
            <a:r>
              <a:rPr lang="zh-CN" altLang="en-US" dirty="0">
                <a:latin typeface="微软雅黑" panose="020B0503020204020204" charset="-122"/>
                <a:ea typeface="微软雅黑" panose="020B0503020204020204" charset="-122"/>
                <a:cs typeface="微软雅黑" panose="020B0503020204020204" charset="-122"/>
              </a:rPr>
              <a:t>连接、智能、创新</a:t>
            </a:r>
            <a:r>
              <a:rPr lang="en-US" altLang="zh-CN"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931685" y="5002959"/>
            <a:ext cx="1620180"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a:t>
            </a:r>
          </a:p>
        </p:txBody>
      </p:sp>
      <p:sp>
        <p:nvSpPr>
          <p:cNvPr id="29" name="文本框 28"/>
          <p:cNvSpPr txBox="1"/>
          <p:nvPr/>
        </p:nvSpPr>
        <p:spPr>
          <a:xfrm>
            <a:off x="2907314" y="4653136"/>
            <a:ext cx="740414" cy="400110"/>
          </a:xfrm>
          <a:prstGeom prst="rect">
            <a:avLst/>
          </a:prstGeom>
          <a:noFill/>
        </p:spPr>
        <p:txBody>
          <a:bodyPr wrap="square" rtlCol="0">
            <a:spAutoFit/>
          </a:bodyPr>
          <a:lstStyle/>
          <a:p>
            <a:r>
              <a:rPr lang="en-US" altLang="zh-CN" sz="2000" b="1" dirty="0">
                <a:solidFill>
                  <a:srgbClr val="FF0000"/>
                </a:solidFill>
                <a:latin typeface="微软雅黑" panose="020B0503020204020204" charset="-122"/>
                <a:ea typeface="微软雅黑" panose="020B0503020204020204" charset="-122"/>
              </a:rPr>
              <a:t>EDI</a:t>
            </a:r>
          </a:p>
        </p:txBody>
      </p:sp>
      <p:sp>
        <p:nvSpPr>
          <p:cNvPr id="30" name="文本框 29"/>
          <p:cNvSpPr txBox="1"/>
          <p:nvPr/>
        </p:nvSpPr>
        <p:spPr>
          <a:xfrm>
            <a:off x="7464152" y="4653136"/>
            <a:ext cx="2016224"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rPr>
              <a:t>供应商协同平台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示例：项目整体方案</a:t>
            </a:r>
          </a:p>
        </p:txBody>
      </p:sp>
      <p:sp>
        <p:nvSpPr>
          <p:cNvPr id="2" name="矩形 1"/>
          <p:cNvSpPr/>
          <p:nvPr/>
        </p:nvSpPr>
        <p:spPr>
          <a:xfrm>
            <a:off x="777855" y="980728"/>
            <a:ext cx="3877985" cy="369332"/>
          </a:xfrm>
          <a:prstGeom prst="rect">
            <a:avLst/>
          </a:prstGeom>
        </p:spPr>
        <p:txBody>
          <a:bodyPr wrap="none">
            <a:spAutoFit/>
          </a:bodyPr>
          <a:lstStyle/>
          <a:p>
            <a:r>
              <a:rPr lang="zh-CN" altLang="zh-CN" b="1" dirty="0">
                <a:solidFill>
                  <a:srgbClr val="000000"/>
                </a:solidFill>
                <a:ea typeface="微软雅黑" panose="020B0503020204020204" charset="-122"/>
                <a:cs typeface="Helvetica" panose="020B0604020202020204" pitchFamily="34" charset="0"/>
              </a:rPr>
              <a:t>集团业务集中管控、组织间业务协同</a:t>
            </a:r>
            <a:endParaRPr lang="zh-CN" altLang="en-US" dirty="0"/>
          </a:p>
        </p:txBody>
      </p:sp>
      <p:pic>
        <p:nvPicPr>
          <p:cNvPr id="6" name="图片 5"/>
          <p:cNvPicPr/>
          <p:nvPr/>
        </p:nvPicPr>
        <p:blipFill>
          <a:blip r:embed="rId2"/>
          <a:stretch>
            <a:fillRect/>
          </a:stretch>
        </p:blipFill>
        <p:spPr>
          <a:xfrm>
            <a:off x="5735960" y="2492896"/>
            <a:ext cx="5544616" cy="3540289"/>
          </a:xfrm>
          <a:prstGeom prst="rect">
            <a:avLst/>
          </a:prstGeom>
        </p:spPr>
      </p:pic>
      <p:sp>
        <p:nvSpPr>
          <p:cNvPr id="7" name="十二边形 6"/>
          <p:cNvSpPr/>
          <p:nvPr/>
        </p:nvSpPr>
        <p:spPr>
          <a:xfrm>
            <a:off x="263352" y="980728"/>
            <a:ext cx="432048" cy="369332"/>
          </a:xfrm>
          <a:prstGeom prst="dodec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1</a:t>
            </a:r>
            <a:endParaRPr lang="zh-CN" altLang="en-US" dirty="0"/>
          </a:p>
        </p:txBody>
      </p:sp>
      <p:sp>
        <p:nvSpPr>
          <p:cNvPr id="9" name="矩形 8"/>
          <p:cNvSpPr/>
          <p:nvPr/>
        </p:nvSpPr>
        <p:spPr>
          <a:xfrm>
            <a:off x="777855" y="1782545"/>
            <a:ext cx="2089033" cy="369332"/>
          </a:xfrm>
          <a:prstGeom prst="rect">
            <a:avLst/>
          </a:prstGeom>
        </p:spPr>
        <p:txBody>
          <a:bodyPr wrap="none">
            <a:spAutoFit/>
          </a:bodyPr>
          <a:lstStyle/>
          <a:p>
            <a:pPr marL="285750" indent="-285750">
              <a:buFont typeface="Wingdings" panose="05000000000000000000" pitchFamily="2" charset="2"/>
              <a:buChar char="l"/>
            </a:pPr>
            <a:r>
              <a:rPr lang="zh-CN" altLang="zh-CN" dirty="0">
                <a:solidFill>
                  <a:srgbClr val="000000"/>
                </a:solidFill>
                <a:ea typeface="微软雅黑" panose="020B0503020204020204" charset="-122"/>
                <a:cs typeface="Helvetica" panose="020B0604020202020204" pitchFamily="34" charset="0"/>
              </a:rPr>
              <a:t>多工厂集中管控</a:t>
            </a:r>
            <a:endParaRPr lang="zh-CN" altLang="en-US" dirty="0"/>
          </a:p>
        </p:txBody>
      </p:sp>
      <p:sp>
        <p:nvSpPr>
          <p:cNvPr id="10" name="矩形 9"/>
          <p:cNvSpPr/>
          <p:nvPr/>
        </p:nvSpPr>
        <p:spPr>
          <a:xfrm>
            <a:off x="777855" y="3284984"/>
            <a:ext cx="3012363" cy="369332"/>
          </a:xfrm>
          <a:prstGeom prst="rect">
            <a:avLst/>
          </a:prstGeom>
        </p:spPr>
        <p:txBody>
          <a:bodyPr wrap="none">
            <a:spAutoFit/>
          </a:bodyPr>
          <a:lstStyle/>
          <a:p>
            <a:pPr marL="285750" indent="-285750">
              <a:buFont typeface="Wingdings" panose="05000000000000000000" pitchFamily="2" charset="2"/>
              <a:buChar char="l"/>
            </a:pPr>
            <a:r>
              <a:rPr lang="zh-CN" altLang="zh-CN" dirty="0">
                <a:solidFill>
                  <a:srgbClr val="000000"/>
                </a:solidFill>
                <a:ea typeface="微软雅黑" panose="020B0503020204020204" charset="-122"/>
                <a:cs typeface="Helvetica" panose="020B0604020202020204" pitchFamily="34" charset="0"/>
              </a:rPr>
              <a:t>集中计划、</a:t>
            </a:r>
            <a:r>
              <a:rPr lang="zh-CN" altLang="en-US" dirty="0">
                <a:solidFill>
                  <a:srgbClr val="000000"/>
                </a:solidFill>
                <a:ea typeface="微软雅黑" panose="020B0503020204020204" charset="-122"/>
                <a:cs typeface="Helvetica" panose="020B0604020202020204" pitchFamily="34" charset="0"/>
              </a:rPr>
              <a:t>集中</a:t>
            </a:r>
            <a:r>
              <a:rPr lang="zh-CN" altLang="zh-CN" dirty="0">
                <a:solidFill>
                  <a:srgbClr val="000000"/>
                </a:solidFill>
                <a:ea typeface="微软雅黑" panose="020B0503020204020204" charset="-122"/>
                <a:cs typeface="Helvetica" panose="020B0604020202020204" pitchFamily="34" charset="0"/>
              </a:rPr>
              <a:t>业务处理</a:t>
            </a:r>
            <a:endParaRPr lang="zh-CN" altLang="en-US" dirty="0">
              <a:solidFill>
                <a:srgbClr val="000000"/>
              </a:solidFill>
              <a:ea typeface="微软雅黑" panose="020B0503020204020204" charset="-122"/>
              <a:cs typeface="Helvetica" panose="020B0604020202020204" pitchFamily="34" charset="0"/>
            </a:endParaRPr>
          </a:p>
        </p:txBody>
      </p:sp>
      <p:sp>
        <p:nvSpPr>
          <p:cNvPr id="11" name="矩形 10"/>
          <p:cNvSpPr/>
          <p:nvPr/>
        </p:nvSpPr>
        <p:spPr>
          <a:xfrm>
            <a:off x="839123" y="4787423"/>
            <a:ext cx="2089033"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实现</a:t>
            </a:r>
            <a:r>
              <a:rPr lang="zh-CN" altLang="zh-CN" dirty="0">
                <a:solidFill>
                  <a:srgbClr val="000000"/>
                </a:solidFill>
                <a:ea typeface="微软雅黑" panose="020B0503020204020204" charset="-122"/>
                <a:cs typeface="Helvetica" panose="020B0604020202020204" pitchFamily="34" charset="0"/>
              </a:rPr>
              <a:t>组织间交易</a:t>
            </a:r>
            <a:endParaRPr lang="zh-CN" altLang="en-US" dirty="0">
              <a:solidFill>
                <a:srgbClr val="000000"/>
              </a:solidFill>
              <a:ea typeface="微软雅黑" panose="020B0503020204020204" charset="-122"/>
              <a:cs typeface="Helvetica" panose="020B0604020202020204" pitchFamily="34" charset="0"/>
            </a:endParaRPr>
          </a:p>
        </p:txBody>
      </p:sp>
      <p:sp>
        <p:nvSpPr>
          <p:cNvPr id="15" name="矩形 14"/>
          <p:cNvSpPr/>
          <p:nvPr/>
        </p:nvSpPr>
        <p:spPr>
          <a:xfrm>
            <a:off x="1134717" y="2276872"/>
            <a:ext cx="4097187" cy="830997"/>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搭建面向集团的</a:t>
            </a:r>
            <a:r>
              <a:rPr lang="zh-CN" altLang="en-US" sz="1600" dirty="0">
                <a:solidFill>
                  <a:srgbClr val="000000"/>
                </a:solidFill>
                <a:ea typeface="微软雅黑" panose="020B0503020204020204" charset="-122"/>
                <a:cs typeface="Helvetica" panose="020B0604020202020204" pitchFamily="34" charset="0"/>
              </a:rPr>
              <a:t>多组织</a:t>
            </a:r>
            <a:r>
              <a:rPr lang="zh-CN" altLang="zh-CN" sz="1600" dirty="0">
                <a:solidFill>
                  <a:srgbClr val="000000"/>
                </a:solidFill>
                <a:ea typeface="微软雅黑" panose="020B0503020204020204" charset="-122"/>
                <a:cs typeface="Helvetica" panose="020B0604020202020204" pitchFamily="34" charset="0"/>
              </a:rPr>
              <a:t>系统架构，一个帐套实现业务集中管控，财务集中核算与监管，满足</a:t>
            </a:r>
            <a:r>
              <a:rPr lang="en-US" altLang="zh-CN" sz="1600" dirty="0">
                <a:solidFill>
                  <a:srgbClr val="000000"/>
                </a:solidFill>
                <a:ea typeface="微软雅黑" panose="020B0503020204020204" charset="-122"/>
                <a:cs typeface="Helvetica" panose="020B0604020202020204" pitchFamily="34" charset="0"/>
              </a:rPr>
              <a:t>XX</a:t>
            </a:r>
            <a:r>
              <a:rPr lang="zh-CN" altLang="zh-CN" sz="1600" dirty="0">
                <a:solidFill>
                  <a:srgbClr val="000000"/>
                </a:solidFill>
                <a:ea typeface="微软雅黑" panose="020B0503020204020204" charset="-122"/>
                <a:cs typeface="Helvetica" panose="020B0604020202020204" pitchFamily="34" charset="0"/>
              </a:rPr>
              <a:t>多工厂、多地域集中管理要求。</a:t>
            </a:r>
            <a:endParaRPr lang="zh-CN" altLang="en-US" sz="1600" dirty="0"/>
          </a:p>
        </p:txBody>
      </p:sp>
      <p:sp>
        <p:nvSpPr>
          <p:cNvPr id="20" name="矩形 19"/>
          <p:cNvSpPr/>
          <p:nvPr/>
        </p:nvSpPr>
        <p:spPr>
          <a:xfrm>
            <a:off x="1169824" y="3789040"/>
            <a:ext cx="4062080" cy="584775"/>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通过集中计划，</a:t>
            </a:r>
            <a:r>
              <a:rPr lang="zh-CN" altLang="en-US" sz="1600" dirty="0">
                <a:solidFill>
                  <a:srgbClr val="000000"/>
                </a:solidFill>
                <a:ea typeface="微软雅黑" panose="020B0503020204020204" charset="-122"/>
                <a:cs typeface="Helvetica" panose="020B0604020202020204" pitchFamily="34" charset="0"/>
              </a:rPr>
              <a:t>驱动业务集中</a:t>
            </a:r>
            <a:r>
              <a:rPr lang="zh-CN" altLang="zh-CN" sz="1600" dirty="0">
                <a:solidFill>
                  <a:srgbClr val="000000"/>
                </a:solidFill>
                <a:ea typeface="微软雅黑" panose="020B0503020204020204" charset="-122"/>
                <a:cs typeface="Helvetica" panose="020B0604020202020204" pitchFamily="34" charset="0"/>
              </a:rPr>
              <a:t>。如</a:t>
            </a:r>
            <a:r>
              <a:rPr lang="zh-CN" altLang="en-US" sz="1600" dirty="0">
                <a:solidFill>
                  <a:srgbClr val="000000"/>
                </a:solidFill>
                <a:ea typeface="微软雅黑" panose="020B0503020204020204" charset="-122"/>
                <a:cs typeface="Helvetica" panose="020B0604020202020204" pitchFamily="34" charset="0"/>
              </a:rPr>
              <a:t>部分物料</a:t>
            </a:r>
            <a:r>
              <a:rPr lang="zh-CN" altLang="zh-CN" sz="1600" dirty="0">
                <a:solidFill>
                  <a:srgbClr val="000000"/>
                </a:solidFill>
                <a:ea typeface="微软雅黑" panose="020B0503020204020204" charset="-122"/>
                <a:cs typeface="Helvetica" panose="020B0604020202020204" pitchFamily="34" charset="0"/>
              </a:rPr>
              <a:t>采购计划集中下达</a:t>
            </a:r>
            <a:r>
              <a:rPr lang="zh-CN" altLang="en-US" sz="1600" dirty="0">
                <a:solidFill>
                  <a:srgbClr val="000000"/>
                </a:solidFill>
                <a:ea typeface="微软雅黑" panose="020B0503020204020204" charset="-122"/>
                <a:cs typeface="Helvetica" panose="020B0604020202020204" pitchFamily="34" charset="0"/>
              </a:rPr>
              <a:t>执行</a:t>
            </a:r>
            <a:r>
              <a:rPr lang="zh-CN" altLang="zh-CN" sz="1600" dirty="0">
                <a:solidFill>
                  <a:srgbClr val="000000"/>
                </a:solidFill>
                <a:ea typeface="微软雅黑" panose="020B0503020204020204" charset="-122"/>
                <a:cs typeface="Helvetica" panose="020B0604020202020204" pitchFamily="34" charset="0"/>
              </a:rPr>
              <a:t>，</a:t>
            </a:r>
            <a:r>
              <a:rPr lang="zh-CN" altLang="en-US" sz="1600" dirty="0">
                <a:solidFill>
                  <a:srgbClr val="000000"/>
                </a:solidFill>
                <a:ea typeface="微软雅黑" panose="020B0503020204020204" charset="-122"/>
                <a:cs typeface="Helvetica" panose="020B0604020202020204" pitchFamily="34" charset="0"/>
              </a:rPr>
              <a:t>各分厂领用的模式</a:t>
            </a:r>
            <a:r>
              <a:rPr lang="zh-CN" altLang="zh-CN" sz="1600" dirty="0">
                <a:solidFill>
                  <a:srgbClr val="000000"/>
                </a:solidFill>
                <a:ea typeface="微软雅黑" panose="020B0503020204020204" charset="-122"/>
                <a:cs typeface="Helvetica" panose="020B0604020202020204" pitchFamily="34" charset="0"/>
              </a:rPr>
              <a:t>。</a:t>
            </a:r>
            <a:endParaRPr lang="zh-CN" altLang="en-US" sz="1600" dirty="0">
              <a:solidFill>
                <a:srgbClr val="000000"/>
              </a:solidFill>
              <a:ea typeface="微软雅黑" panose="020B0503020204020204" charset="-122"/>
              <a:cs typeface="Helvetica" panose="020B0604020202020204" pitchFamily="34" charset="0"/>
            </a:endParaRPr>
          </a:p>
        </p:txBody>
      </p:sp>
      <p:sp>
        <p:nvSpPr>
          <p:cNvPr id="21" name="矩形 20"/>
          <p:cNvSpPr/>
          <p:nvPr/>
        </p:nvSpPr>
        <p:spPr>
          <a:xfrm>
            <a:off x="1169824" y="5262299"/>
            <a:ext cx="4062080" cy="1323439"/>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系统通过读取组织间的交易关系及内部结算价格，就自动汇总出组织间结算分析报告。这解决了组织间结算普遍存在的业务需要多次操作（销售业务、采购业务、财务记账业务分开操作</a:t>
            </a:r>
            <a:endParaRPr lang="zh-CN" altLang="en-US" sz="1600" dirty="0">
              <a:solidFill>
                <a:srgbClr val="000000"/>
              </a:solidFill>
              <a:ea typeface="微软雅黑" panose="020B0503020204020204" charset="-122"/>
              <a:cs typeface="Helvetica"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示例：项目整体方案</a:t>
            </a:r>
          </a:p>
        </p:txBody>
      </p:sp>
      <p:sp>
        <p:nvSpPr>
          <p:cNvPr id="8" name="矩形 7"/>
          <p:cNvSpPr/>
          <p:nvPr/>
        </p:nvSpPr>
        <p:spPr>
          <a:xfrm>
            <a:off x="777855" y="980728"/>
            <a:ext cx="3185487" cy="369332"/>
          </a:xfrm>
          <a:prstGeom prst="rect">
            <a:avLst/>
          </a:prstGeom>
        </p:spPr>
        <p:txBody>
          <a:bodyPr wrap="none">
            <a:spAutoFit/>
          </a:bodyPr>
          <a:lstStyle/>
          <a:p>
            <a:r>
              <a:rPr lang="zh-CN" altLang="zh-CN" b="1" dirty="0">
                <a:solidFill>
                  <a:srgbClr val="000000"/>
                </a:solidFill>
                <a:ea typeface="微软雅黑" panose="020B0503020204020204" charset="-122"/>
                <a:cs typeface="Helvetica" panose="020B0604020202020204" pitchFamily="34" charset="0"/>
              </a:rPr>
              <a:t>连接上下游，实现</a:t>
            </a:r>
            <a:r>
              <a:rPr lang="zh-CN" altLang="en-US" b="1" dirty="0">
                <a:solidFill>
                  <a:srgbClr val="000000"/>
                </a:solidFill>
                <a:ea typeface="微软雅黑" panose="020B0503020204020204" charset="-122"/>
                <a:cs typeface="Helvetica" panose="020B0604020202020204" pitchFamily="34" charset="0"/>
              </a:rPr>
              <a:t>产业链协同</a:t>
            </a:r>
            <a:endParaRPr lang="zh-CN" altLang="en-US" dirty="0"/>
          </a:p>
        </p:txBody>
      </p:sp>
      <p:sp>
        <p:nvSpPr>
          <p:cNvPr id="12" name="十二边形 11"/>
          <p:cNvSpPr/>
          <p:nvPr/>
        </p:nvSpPr>
        <p:spPr>
          <a:xfrm>
            <a:off x="263352" y="980728"/>
            <a:ext cx="432048" cy="369332"/>
          </a:xfrm>
          <a:prstGeom prst="dodec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2</a:t>
            </a:r>
            <a:endParaRPr lang="zh-CN" altLang="en-US" dirty="0"/>
          </a:p>
        </p:txBody>
      </p:sp>
      <p:sp>
        <p:nvSpPr>
          <p:cNvPr id="13" name="矩形 12"/>
          <p:cNvSpPr/>
          <p:nvPr/>
        </p:nvSpPr>
        <p:spPr>
          <a:xfrm>
            <a:off x="777855" y="1782545"/>
            <a:ext cx="2319866"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客户要货计划协同</a:t>
            </a:r>
            <a:endParaRPr lang="zh-CN" altLang="en-US" dirty="0"/>
          </a:p>
        </p:txBody>
      </p:sp>
      <p:sp>
        <p:nvSpPr>
          <p:cNvPr id="14" name="矩形 13"/>
          <p:cNvSpPr/>
          <p:nvPr/>
        </p:nvSpPr>
        <p:spPr>
          <a:xfrm>
            <a:off x="777855" y="4509120"/>
            <a:ext cx="2550698"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供应商采购计划协同</a:t>
            </a:r>
          </a:p>
        </p:txBody>
      </p:sp>
      <p:sp>
        <p:nvSpPr>
          <p:cNvPr id="17" name="矩形 16"/>
          <p:cNvSpPr/>
          <p:nvPr/>
        </p:nvSpPr>
        <p:spPr>
          <a:xfrm>
            <a:off x="1278733" y="2348880"/>
            <a:ext cx="4097187" cy="1323439"/>
          </a:xfrm>
          <a:prstGeom prst="rect">
            <a:avLst/>
          </a:prstGeom>
        </p:spPr>
        <p:txBody>
          <a:bodyPr wrap="square">
            <a:spAutoFit/>
          </a:bodyPr>
          <a:lstStyle/>
          <a:p>
            <a:pPr marL="285750" indent="-285750">
              <a:buFont typeface="Wingdings" panose="05000000000000000000" pitchFamily="2" charset="2"/>
              <a:buChar char="ü"/>
            </a:pPr>
            <a:r>
              <a:rPr lang="zh-CN" altLang="zh-CN" sz="1600" dirty="0">
                <a:solidFill>
                  <a:srgbClr val="000000"/>
                </a:solidFill>
                <a:ea typeface="微软雅黑" panose="020B0503020204020204" charset="-122"/>
                <a:cs typeface="Helvetica" panose="020B0604020202020204" pitchFamily="34" charset="0"/>
              </a:rPr>
              <a:t>建立与其核心主机厂客户长安福特的</a:t>
            </a:r>
            <a:r>
              <a:rPr lang="en-US" altLang="zh-CN" sz="1600" dirty="0">
                <a:solidFill>
                  <a:srgbClr val="000000"/>
                </a:solidFill>
                <a:ea typeface="微软雅黑" panose="020B0503020204020204" charset="-122"/>
                <a:cs typeface="Helvetica" panose="020B0604020202020204" pitchFamily="34" charset="0"/>
              </a:rPr>
              <a:t>EDI</a:t>
            </a:r>
            <a:r>
              <a:rPr lang="zh-CN" altLang="zh-CN" sz="1600" dirty="0">
                <a:solidFill>
                  <a:srgbClr val="000000"/>
                </a:solidFill>
                <a:ea typeface="微软雅黑" panose="020B0503020204020204" charset="-122"/>
                <a:cs typeface="Helvetica" panose="020B0604020202020204" pitchFamily="34" charset="0"/>
              </a:rPr>
              <a:t>集成接口。</a:t>
            </a:r>
            <a:r>
              <a:rPr lang="zh-CN" altLang="en-US" sz="1600" dirty="0">
                <a:solidFill>
                  <a:srgbClr val="000000"/>
                </a:solidFill>
                <a:ea typeface="微软雅黑" panose="020B0503020204020204" charset="-122"/>
                <a:cs typeface="Helvetica" panose="020B0604020202020204" pitchFamily="34" charset="0"/>
              </a:rPr>
              <a:t>使福特</a:t>
            </a:r>
            <a:r>
              <a:rPr lang="zh-CN" altLang="zh-CN" sz="1600" dirty="0">
                <a:solidFill>
                  <a:srgbClr val="000000"/>
                </a:solidFill>
                <a:ea typeface="微软雅黑" panose="020B0503020204020204" charset="-122"/>
                <a:cs typeface="Helvetica" panose="020B0604020202020204" pitchFamily="34" charset="0"/>
              </a:rPr>
              <a:t>的要货计划</a:t>
            </a:r>
            <a:r>
              <a:rPr lang="zh-CN" altLang="en-US" sz="1600" dirty="0">
                <a:solidFill>
                  <a:srgbClr val="000000"/>
                </a:solidFill>
                <a:ea typeface="微软雅黑" panose="020B0503020204020204" charset="-122"/>
                <a:cs typeface="Helvetica" panose="020B0604020202020204" pitchFamily="34" charset="0"/>
              </a:rPr>
              <a:t>与</a:t>
            </a:r>
            <a:r>
              <a:rPr lang="zh-CN" altLang="zh-CN" sz="1600" dirty="0">
                <a:solidFill>
                  <a:srgbClr val="000000"/>
                </a:solidFill>
                <a:ea typeface="微软雅黑" panose="020B0503020204020204" charset="-122"/>
                <a:cs typeface="Helvetica" panose="020B0604020202020204" pitchFamily="34" charset="0"/>
              </a:rPr>
              <a:t>金蝶</a:t>
            </a:r>
            <a:r>
              <a:rPr lang="en-US" altLang="zh-CN" sz="1600" dirty="0">
                <a:solidFill>
                  <a:srgbClr val="000000"/>
                </a:solidFill>
                <a:ea typeface="微软雅黑" panose="020B0503020204020204" charset="-122"/>
                <a:cs typeface="Helvetica" panose="020B0604020202020204" pitchFamily="34" charset="0"/>
              </a:rPr>
              <a:t>ERP</a:t>
            </a:r>
            <a:r>
              <a:rPr lang="zh-CN" altLang="en-US" sz="1600" dirty="0">
                <a:solidFill>
                  <a:srgbClr val="000000"/>
                </a:solidFill>
                <a:ea typeface="微软雅黑" panose="020B0503020204020204" charset="-122"/>
                <a:cs typeface="Helvetica" panose="020B0604020202020204" pitchFamily="34" charset="0"/>
              </a:rPr>
              <a:t>直连</a:t>
            </a:r>
            <a:r>
              <a:rPr lang="zh-CN" altLang="zh-CN" sz="1600" dirty="0">
                <a:solidFill>
                  <a:srgbClr val="000000"/>
                </a:solidFill>
                <a:ea typeface="微软雅黑" panose="020B0503020204020204" charset="-122"/>
                <a:cs typeface="Helvetica" panose="020B0604020202020204" pitchFamily="34" charset="0"/>
              </a:rPr>
              <a:t>，形成</a:t>
            </a:r>
            <a:r>
              <a:rPr lang="en-US" altLang="zh-CN" sz="1600" dirty="0">
                <a:solidFill>
                  <a:srgbClr val="000000"/>
                </a:solidFill>
                <a:ea typeface="微软雅黑" panose="020B0503020204020204" charset="-122"/>
                <a:cs typeface="Helvetica" panose="020B0604020202020204" pitchFamily="34" charset="0"/>
              </a:rPr>
              <a:t>ERP</a:t>
            </a:r>
            <a:r>
              <a:rPr lang="zh-CN" altLang="zh-CN" sz="1600" dirty="0">
                <a:solidFill>
                  <a:srgbClr val="000000"/>
                </a:solidFill>
                <a:ea typeface="微软雅黑" panose="020B0503020204020204" charset="-122"/>
                <a:cs typeface="Helvetica" panose="020B0604020202020204" pitchFamily="34" charset="0"/>
              </a:rPr>
              <a:t>的销售订单</a:t>
            </a:r>
            <a:r>
              <a:rPr lang="zh-CN" altLang="en-US" sz="1600" dirty="0">
                <a:solidFill>
                  <a:srgbClr val="000000"/>
                </a:solidFill>
                <a:ea typeface="微软雅黑" panose="020B0503020204020204" charset="-122"/>
                <a:cs typeface="Helvetica" panose="020B0604020202020204" pitchFamily="34" charset="0"/>
              </a:rPr>
              <a:t>（</a:t>
            </a:r>
            <a:r>
              <a:rPr lang="en-US" altLang="zh-CN" sz="1600" dirty="0">
                <a:solidFill>
                  <a:srgbClr val="000000"/>
                </a:solidFill>
                <a:ea typeface="微软雅黑" panose="020B0503020204020204" charset="-122"/>
                <a:cs typeface="Helvetica" panose="020B0604020202020204" pitchFamily="34" charset="0"/>
              </a:rPr>
              <a:t>862</a:t>
            </a:r>
            <a:r>
              <a:rPr lang="zh-CN" altLang="en-US" sz="1600" dirty="0">
                <a:solidFill>
                  <a:srgbClr val="000000"/>
                </a:solidFill>
                <a:ea typeface="微软雅黑" panose="020B0503020204020204" charset="-122"/>
                <a:cs typeface="Helvetica" panose="020B0604020202020204" pitchFamily="34" charset="0"/>
              </a:rPr>
              <a:t>）</a:t>
            </a:r>
            <a:r>
              <a:rPr lang="zh-CN" altLang="zh-CN" sz="1600" dirty="0">
                <a:solidFill>
                  <a:srgbClr val="000000"/>
                </a:solidFill>
                <a:ea typeface="微软雅黑" panose="020B0503020204020204" charset="-122"/>
                <a:cs typeface="Helvetica" panose="020B0604020202020204" pitchFamily="34" charset="0"/>
              </a:rPr>
              <a:t>或销售预测单</a:t>
            </a:r>
            <a:r>
              <a:rPr lang="zh-CN" altLang="en-US" sz="1600" dirty="0">
                <a:solidFill>
                  <a:srgbClr val="000000"/>
                </a:solidFill>
                <a:ea typeface="微软雅黑" panose="020B0503020204020204" charset="-122"/>
                <a:cs typeface="Helvetica" panose="020B0604020202020204" pitchFamily="34" charset="0"/>
              </a:rPr>
              <a:t>（</a:t>
            </a:r>
            <a:r>
              <a:rPr lang="en-US" altLang="zh-CN" sz="1600" dirty="0">
                <a:solidFill>
                  <a:srgbClr val="000000"/>
                </a:solidFill>
                <a:ea typeface="微软雅黑" panose="020B0503020204020204" charset="-122"/>
                <a:cs typeface="Helvetica" panose="020B0604020202020204" pitchFamily="34" charset="0"/>
              </a:rPr>
              <a:t>830</a:t>
            </a:r>
            <a:r>
              <a:rPr lang="zh-CN" altLang="en-US" sz="1600" dirty="0">
                <a:solidFill>
                  <a:srgbClr val="000000"/>
                </a:solidFill>
                <a:ea typeface="微软雅黑" panose="020B0503020204020204" charset="-122"/>
                <a:cs typeface="Helvetica" panose="020B0604020202020204" pitchFamily="34" charset="0"/>
              </a:rPr>
              <a:t>、</a:t>
            </a:r>
            <a:r>
              <a:rPr lang="en-US" altLang="zh-CN" sz="1600" dirty="0">
                <a:solidFill>
                  <a:srgbClr val="000000"/>
                </a:solidFill>
                <a:ea typeface="微软雅黑" panose="020B0503020204020204" charset="-122"/>
                <a:cs typeface="Helvetica" panose="020B0604020202020204" pitchFamily="34" charset="0"/>
              </a:rPr>
              <a:t>862</a:t>
            </a:r>
            <a:r>
              <a:rPr lang="zh-CN" altLang="en-US" sz="1600" dirty="0">
                <a:solidFill>
                  <a:srgbClr val="000000"/>
                </a:solidFill>
                <a:ea typeface="微软雅黑" panose="020B0503020204020204" charset="-122"/>
                <a:cs typeface="Helvetica" panose="020B0604020202020204" pitchFamily="34" charset="0"/>
              </a:rPr>
              <a:t>）。</a:t>
            </a:r>
            <a:endParaRPr lang="en-US" altLang="zh-CN" sz="1600" dirty="0">
              <a:solidFill>
                <a:srgbClr val="000000"/>
              </a:solidFill>
              <a:ea typeface="微软雅黑" panose="020B0503020204020204" charset="-122"/>
              <a:cs typeface="Helvetica" panose="020B0604020202020204" pitchFamily="34" charset="0"/>
            </a:endParaRPr>
          </a:p>
          <a:p>
            <a:pPr marL="285750" indent="-285750">
              <a:buFont typeface="Wingdings" panose="05000000000000000000" pitchFamily="2" charset="2"/>
              <a:buChar char="ü"/>
            </a:pPr>
            <a:r>
              <a:rPr lang="zh-CN" altLang="en-US" sz="1600" dirty="0">
                <a:solidFill>
                  <a:srgbClr val="000000"/>
                </a:solidFill>
                <a:ea typeface="微软雅黑" panose="020B0503020204020204" charset="-122"/>
                <a:cs typeface="Helvetica" panose="020B0604020202020204" pitchFamily="34" charset="0"/>
              </a:rPr>
              <a:t>未来还可以扩展到其他主机厂。</a:t>
            </a:r>
          </a:p>
        </p:txBody>
      </p:sp>
      <p:sp>
        <p:nvSpPr>
          <p:cNvPr id="18" name="矩形 17"/>
          <p:cNvSpPr/>
          <p:nvPr/>
        </p:nvSpPr>
        <p:spPr>
          <a:xfrm>
            <a:off x="1169824" y="5013176"/>
            <a:ext cx="4062080" cy="1323439"/>
          </a:xfrm>
          <a:prstGeom prst="rect">
            <a:avLst/>
          </a:prstGeom>
        </p:spPr>
        <p:txBody>
          <a:bodyPr wrap="square">
            <a:spAutoFit/>
          </a:bodyPr>
          <a:lstStyle/>
          <a:p>
            <a:pPr marL="285750" indent="-285750">
              <a:buFont typeface="Wingdings" panose="05000000000000000000" pitchFamily="2" charset="2"/>
              <a:buChar char="ü"/>
            </a:pPr>
            <a:r>
              <a:rPr lang="zh-CN" altLang="zh-CN" sz="1600" dirty="0">
                <a:solidFill>
                  <a:srgbClr val="000000"/>
                </a:solidFill>
                <a:ea typeface="微软雅黑" panose="020B0503020204020204" charset="-122"/>
                <a:cs typeface="Helvetica" panose="020B0604020202020204" pitchFamily="34" charset="0"/>
              </a:rPr>
              <a:t>供应商体可通过供应商门户网站能够查询英特空调为其下达的采购计划，并可做在线确认订单与交货反馈。</a:t>
            </a:r>
            <a:endParaRPr lang="en-US" altLang="zh-CN" sz="1600" dirty="0">
              <a:solidFill>
                <a:srgbClr val="000000"/>
              </a:solidFill>
              <a:ea typeface="微软雅黑" panose="020B0503020204020204" charset="-122"/>
              <a:cs typeface="Helvetica" panose="020B0604020202020204" pitchFamily="34" charset="0"/>
            </a:endParaRPr>
          </a:p>
          <a:p>
            <a:pPr marL="285750" indent="-285750">
              <a:buFont typeface="Wingdings" panose="05000000000000000000" pitchFamily="2" charset="2"/>
              <a:buChar char="ü"/>
            </a:pPr>
            <a:r>
              <a:rPr lang="zh-CN" altLang="en-US" sz="1600" dirty="0">
                <a:solidFill>
                  <a:srgbClr val="000000"/>
                </a:solidFill>
                <a:ea typeface="微软雅黑" panose="020B0503020204020204" charset="-122"/>
                <a:cs typeface="Helvetica" panose="020B0604020202020204" pitchFamily="34" charset="0"/>
              </a:rPr>
              <a:t>供应商还可以通过在线查看英特库存情况，自主确定送货时间和数量。</a:t>
            </a:r>
          </a:p>
        </p:txBody>
      </p:sp>
      <p:pic>
        <p:nvPicPr>
          <p:cNvPr id="15" name="图片 14"/>
          <p:cNvPicPr/>
          <p:nvPr/>
        </p:nvPicPr>
        <p:blipFill>
          <a:blip r:embed="rId2"/>
          <a:stretch>
            <a:fillRect/>
          </a:stretch>
        </p:blipFill>
        <p:spPr>
          <a:xfrm>
            <a:off x="6175384" y="1219440"/>
            <a:ext cx="5163972" cy="2477929"/>
          </a:xfrm>
          <a:prstGeom prst="rect">
            <a:avLst/>
          </a:prstGeom>
        </p:spPr>
      </p:pic>
      <p:grpSp>
        <p:nvGrpSpPr>
          <p:cNvPr id="2" name="组合 1"/>
          <p:cNvGrpSpPr/>
          <p:nvPr/>
        </p:nvGrpSpPr>
        <p:grpSpPr>
          <a:xfrm>
            <a:off x="6336690" y="3933056"/>
            <a:ext cx="5519950" cy="2808312"/>
            <a:chOff x="757042" y="883869"/>
            <a:chExt cx="7055318" cy="5334598"/>
          </a:xfrm>
        </p:grpSpPr>
        <p:sp>
          <p:nvSpPr>
            <p:cNvPr id="20" name="矩形 19"/>
            <p:cNvSpPr/>
            <p:nvPr/>
          </p:nvSpPr>
          <p:spPr>
            <a:xfrm>
              <a:off x="4658384" y="5031417"/>
              <a:ext cx="3009960" cy="1187049"/>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公共服务</a:t>
              </a:r>
            </a:p>
          </p:txBody>
        </p:sp>
        <p:sp>
          <p:nvSpPr>
            <p:cNvPr id="21" name="矩形 20"/>
            <p:cNvSpPr/>
            <p:nvPr/>
          </p:nvSpPr>
          <p:spPr>
            <a:xfrm>
              <a:off x="6240472" y="1552247"/>
              <a:ext cx="1427873" cy="3412924"/>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销售业务</a:t>
              </a:r>
            </a:p>
          </p:txBody>
        </p:sp>
        <p:sp>
          <p:nvSpPr>
            <p:cNvPr id="22" name="矩形 21"/>
            <p:cNvSpPr/>
            <p:nvPr/>
          </p:nvSpPr>
          <p:spPr>
            <a:xfrm>
              <a:off x="3765368" y="1550326"/>
              <a:ext cx="900449" cy="464521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基础管理</a:t>
              </a:r>
            </a:p>
          </p:txBody>
        </p:sp>
        <p:cxnSp>
          <p:nvCxnSpPr>
            <p:cNvPr id="23" name="直接箭头连接符 22"/>
            <p:cNvCxnSpPr/>
            <p:nvPr/>
          </p:nvCxnSpPr>
          <p:spPr>
            <a:xfrm>
              <a:off x="3422193" y="2547521"/>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矩形 23"/>
            <p:cNvSpPr/>
            <p:nvPr/>
          </p:nvSpPr>
          <p:spPr bwMode="auto">
            <a:xfrm>
              <a:off x="3854310" y="4943124"/>
              <a:ext cx="573674" cy="116574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销售业务资料</a:t>
              </a:r>
            </a:p>
          </p:txBody>
        </p:sp>
        <p:sp>
          <p:nvSpPr>
            <p:cNvPr id="25" name="矩形 24"/>
            <p:cNvSpPr/>
            <p:nvPr/>
          </p:nvSpPr>
          <p:spPr bwMode="auto">
            <a:xfrm>
              <a:off x="4702922" y="5349213"/>
              <a:ext cx="1001078" cy="421552"/>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供应信息</a:t>
              </a:r>
              <a:endParaRPr lang="en-US" altLang="zh-CN" sz="1200" dirty="0">
                <a:solidFill>
                  <a:srgbClr val="FFFFFF"/>
                </a:solidFill>
                <a:latin typeface="微软雅黑" panose="020B0503020204020204" charset="-122"/>
                <a:ea typeface="微软雅黑" panose="020B0503020204020204" charset="-122"/>
              </a:endParaRPr>
            </a:p>
          </p:txBody>
        </p:sp>
        <p:sp>
          <p:nvSpPr>
            <p:cNvPr id="26" name="矩形 25"/>
            <p:cNvSpPr/>
            <p:nvPr/>
          </p:nvSpPr>
          <p:spPr bwMode="auto">
            <a:xfrm>
              <a:off x="3861641" y="1985189"/>
              <a:ext cx="522911" cy="1059769"/>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100" dirty="0">
                  <a:solidFill>
                    <a:srgbClr val="FFFFFF"/>
                  </a:solidFill>
                  <a:latin typeface="微软雅黑" panose="020B0503020204020204" charset="-122"/>
                  <a:ea typeface="微软雅黑" panose="020B0503020204020204" charset="-122"/>
                </a:rPr>
                <a:t>企业资料管理</a:t>
              </a:r>
            </a:p>
          </p:txBody>
        </p:sp>
        <p:sp>
          <p:nvSpPr>
            <p:cNvPr id="27" name="矩形 26"/>
            <p:cNvSpPr/>
            <p:nvPr/>
          </p:nvSpPr>
          <p:spPr>
            <a:xfrm>
              <a:off x="4706719" y="1521582"/>
              <a:ext cx="1253594" cy="3464909"/>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采购业务</a:t>
              </a:r>
            </a:p>
          </p:txBody>
        </p:sp>
        <p:sp>
          <p:nvSpPr>
            <p:cNvPr id="28" name="矩形 27"/>
            <p:cNvSpPr/>
            <p:nvPr/>
          </p:nvSpPr>
          <p:spPr bwMode="auto">
            <a:xfrm>
              <a:off x="4751681" y="1955672"/>
              <a:ext cx="1208633" cy="486338"/>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寻源</a:t>
              </a:r>
              <a:r>
                <a:rPr lang="en-US" altLang="zh-CN" sz="1200" dirty="0">
                  <a:solidFill>
                    <a:srgbClr val="FFFFFF"/>
                  </a:solidFill>
                  <a:latin typeface="微软雅黑" panose="020B0503020204020204" charset="-122"/>
                  <a:ea typeface="微软雅黑" panose="020B0503020204020204" charset="-122"/>
                </a:rPr>
                <a:t>/</a:t>
              </a:r>
              <a:r>
                <a:rPr lang="zh-CN" altLang="en-US" sz="1200" dirty="0">
                  <a:solidFill>
                    <a:srgbClr val="FFFFFF"/>
                  </a:solidFill>
                  <a:latin typeface="微软雅黑" panose="020B0503020204020204" charset="-122"/>
                  <a:ea typeface="微软雅黑" panose="020B0503020204020204" charset="-122"/>
                </a:rPr>
                <a:t>供应商</a:t>
              </a:r>
              <a:endParaRPr lang="en-US" altLang="zh-CN" sz="1200" dirty="0">
                <a:solidFill>
                  <a:srgbClr val="FFFFFF"/>
                </a:solidFill>
                <a:latin typeface="微软雅黑" panose="020B0503020204020204" charset="-122"/>
                <a:ea typeface="微软雅黑" panose="020B0503020204020204" charset="-122"/>
              </a:endParaRPr>
            </a:p>
          </p:txBody>
        </p:sp>
        <p:sp>
          <p:nvSpPr>
            <p:cNvPr id="29" name="矩形 28"/>
            <p:cNvSpPr/>
            <p:nvPr/>
          </p:nvSpPr>
          <p:spPr bwMode="auto">
            <a:xfrm>
              <a:off x="863234" y="1550325"/>
              <a:ext cx="1260495" cy="4662983"/>
            </a:xfrm>
            <a:prstGeom prst="rect">
              <a:avLst/>
            </a:prstGeom>
            <a:solidFill>
              <a:schemeClr val="accent1">
                <a:lumMod val="40000"/>
                <a:lumOff val="6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lnSpc>
                  <a:spcPct val="90000"/>
                </a:lnSpc>
              </a:pPr>
              <a:r>
                <a:rPr lang="zh-CN" altLang="en-US" sz="1200" dirty="0">
                  <a:solidFill>
                    <a:srgbClr val="000000"/>
                  </a:solidFill>
                  <a:latin typeface="微软雅黑" panose="020B0503020204020204" charset="-122"/>
                  <a:ea typeface="微软雅黑" panose="020B0503020204020204" charset="-122"/>
                </a:rPr>
                <a:t>金蝶</a:t>
              </a:r>
              <a:r>
                <a:rPr lang="en-US" altLang="zh-CN" sz="1200" dirty="0">
                  <a:solidFill>
                    <a:srgbClr val="000000"/>
                  </a:solidFill>
                  <a:latin typeface="微软雅黑" panose="020B0503020204020204" charset="-122"/>
                  <a:ea typeface="微软雅黑" panose="020B0503020204020204" charset="-122"/>
                </a:rPr>
                <a:t>ERP</a:t>
              </a:r>
            </a:p>
          </p:txBody>
        </p:sp>
        <p:cxnSp>
          <p:nvCxnSpPr>
            <p:cNvPr id="30" name="直接连接符 29"/>
            <p:cNvCxnSpPr/>
            <p:nvPr/>
          </p:nvCxnSpPr>
          <p:spPr>
            <a:xfrm flipH="1">
              <a:off x="3491881" y="914462"/>
              <a:ext cx="1" cy="5208015"/>
            </a:xfrm>
            <a:prstGeom prst="line">
              <a:avLst/>
            </a:prstGeom>
            <a:ln w="9525">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矩形 30"/>
            <p:cNvSpPr/>
            <p:nvPr/>
          </p:nvSpPr>
          <p:spPr>
            <a:xfrm>
              <a:off x="3642442" y="883869"/>
              <a:ext cx="4169918" cy="560477"/>
            </a:xfrm>
            <a:prstGeom prst="rect">
              <a:avLst/>
            </a:prstGeom>
            <a:solidFill>
              <a:srgbClr val="FFFFFF">
                <a:lumMod val="50000"/>
              </a:srgbClr>
            </a:solidFill>
            <a:ln w="9525" cap="flat" cmpd="sng" algn="ctr">
              <a:noFill/>
              <a:prstDash val="solid"/>
            </a:ln>
            <a:effectLst/>
          </p:spPr>
          <p:txBody>
            <a:bodyPr anchor="ctr"/>
            <a:lstStyle/>
            <a:p>
              <a:pPr algn="ctr" fontAlgn="auto">
                <a:spcBef>
                  <a:spcPts val="0"/>
                </a:spcBef>
                <a:spcAft>
                  <a:spcPts val="0"/>
                </a:spcAft>
              </a:pPr>
              <a:r>
                <a:rPr kumimoji="1" lang="zh-CN" altLang="en-US" sz="1400" b="1" kern="0" dirty="0">
                  <a:solidFill>
                    <a:srgbClr val="FFFFFF"/>
                  </a:solidFill>
                  <a:latin typeface="Calibri" panose="020F0502020204030204"/>
                  <a:ea typeface="微软雅黑" panose="020B0503020204020204" charset="-122"/>
                  <a:cs typeface="Heiti SC Light" panose="02000000000000000000" charset="-122"/>
                </a:rPr>
                <a:t>供应商协同平台</a:t>
              </a:r>
            </a:p>
          </p:txBody>
        </p:sp>
        <p:sp>
          <p:nvSpPr>
            <p:cNvPr id="32" name="矩形 31"/>
            <p:cNvSpPr/>
            <p:nvPr/>
          </p:nvSpPr>
          <p:spPr>
            <a:xfrm>
              <a:off x="762122" y="883869"/>
              <a:ext cx="1361606" cy="560477"/>
            </a:xfrm>
            <a:prstGeom prst="rect">
              <a:avLst/>
            </a:prstGeom>
            <a:solidFill>
              <a:srgbClr val="FFFFFF">
                <a:lumMod val="50000"/>
              </a:srgbClr>
            </a:solidFill>
            <a:ln w="9525" cap="flat" cmpd="sng" algn="ctr">
              <a:noFill/>
              <a:prstDash val="solid"/>
            </a:ln>
            <a:effectLst/>
          </p:spPr>
          <p:txBody>
            <a:bodyPr anchor="ctr"/>
            <a:lstStyle/>
            <a:p>
              <a:pPr algn="ctr" fontAlgn="auto">
                <a:spcBef>
                  <a:spcPts val="0"/>
                </a:spcBef>
                <a:spcAft>
                  <a:spcPts val="0"/>
                </a:spcAft>
              </a:pPr>
              <a:r>
                <a:rPr kumimoji="1" lang="zh-CN" altLang="en-US" sz="1400" b="1" kern="0" dirty="0">
                  <a:solidFill>
                    <a:srgbClr val="FFFFFF"/>
                  </a:solidFill>
                  <a:latin typeface="微软雅黑" panose="020B0503020204020204" charset="-122"/>
                  <a:ea typeface="微软雅黑" panose="020B0503020204020204" charset="-122"/>
                  <a:cs typeface="Heiti SC Light" panose="02000000000000000000" charset="-122"/>
                </a:rPr>
                <a:t>线下</a:t>
              </a:r>
              <a:r>
                <a:rPr kumimoji="1" lang="en-US" altLang="zh-CN" sz="1400" b="1" kern="0" dirty="0">
                  <a:solidFill>
                    <a:srgbClr val="FFFFFF"/>
                  </a:solidFill>
                  <a:latin typeface="微软雅黑" panose="020B0503020204020204" charset="-122"/>
                  <a:ea typeface="微软雅黑" panose="020B0503020204020204" charset="-122"/>
                  <a:cs typeface="Heiti SC Light" panose="02000000000000000000" charset="-122"/>
                </a:rPr>
                <a:t>ERP</a:t>
              </a:r>
              <a:endParaRPr kumimoji="1" lang="zh-CN" altLang="en-US" sz="1400" b="1" kern="0" dirty="0">
                <a:solidFill>
                  <a:srgbClr val="FFFFFF"/>
                </a:solidFill>
                <a:latin typeface="微软雅黑" panose="020B0503020204020204" charset="-122"/>
                <a:ea typeface="微软雅黑" panose="020B0503020204020204" charset="-122"/>
                <a:cs typeface="Heiti SC Light" panose="02000000000000000000" charset="-122"/>
              </a:endParaRPr>
            </a:p>
          </p:txBody>
        </p:sp>
        <p:cxnSp>
          <p:nvCxnSpPr>
            <p:cNvPr id="33" name="直接连接符 32"/>
            <p:cNvCxnSpPr/>
            <p:nvPr/>
          </p:nvCxnSpPr>
          <p:spPr>
            <a:xfrm flipH="1">
              <a:off x="757042" y="914462"/>
              <a:ext cx="5079" cy="5298847"/>
            </a:xfrm>
            <a:prstGeom prst="line">
              <a:avLst/>
            </a:prstGeom>
            <a:ln w="9525">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矩形 33"/>
            <p:cNvSpPr/>
            <p:nvPr/>
          </p:nvSpPr>
          <p:spPr bwMode="auto">
            <a:xfrm>
              <a:off x="3854311" y="3521360"/>
              <a:ext cx="530241" cy="1059769"/>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采购业务资料</a:t>
              </a:r>
            </a:p>
          </p:txBody>
        </p:sp>
        <p:sp>
          <p:nvSpPr>
            <p:cNvPr id="35" name="矩形 34"/>
            <p:cNvSpPr/>
            <p:nvPr/>
          </p:nvSpPr>
          <p:spPr bwMode="auto">
            <a:xfrm>
              <a:off x="935241" y="2442007"/>
              <a:ext cx="1080120" cy="1635619"/>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供应链</a:t>
              </a:r>
            </a:p>
          </p:txBody>
        </p:sp>
        <p:sp>
          <p:nvSpPr>
            <p:cNvPr id="36" name="矩形 35"/>
            <p:cNvSpPr/>
            <p:nvPr/>
          </p:nvSpPr>
          <p:spPr bwMode="auto">
            <a:xfrm>
              <a:off x="935241" y="4206254"/>
              <a:ext cx="1080120" cy="1781713"/>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财务</a:t>
              </a:r>
            </a:p>
          </p:txBody>
        </p:sp>
        <p:sp>
          <p:nvSpPr>
            <p:cNvPr id="37" name="矩形 36"/>
            <p:cNvSpPr/>
            <p:nvPr/>
          </p:nvSpPr>
          <p:spPr bwMode="auto">
            <a:xfrm>
              <a:off x="4751680" y="2564903"/>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发布询价</a:t>
              </a:r>
              <a:endParaRPr lang="en-US" altLang="zh-CN" sz="1200" dirty="0">
                <a:solidFill>
                  <a:srgbClr val="FFFFFF"/>
                </a:solidFill>
                <a:latin typeface="微软雅黑" panose="020B0503020204020204" charset="-122"/>
                <a:ea typeface="微软雅黑" panose="020B0503020204020204" charset="-122"/>
              </a:endParaRPr>
            </a:p>
          </p:txBody>
        </p:sp>
        <p:cxnSp>
          <p:nvCxnSpPr>
            <p:cNvPr id="38" name="直接箭头连接符 37"/>
            <p:cNvCxnSpPr/>
            <p:nvPr/>
          </p:nvCxnSpPr>
          <p:spPr>
            <a:xfrm>
              <a:off x="3415343" y="4839918"/>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5944402" y="4045725"/>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矩形 39"/>
            <p:cNvSpPr/>
            <p:nvPr/>
          </p:nvSpPr>
          <p:spPr bwMode="auto">
            <a:xfrm>
              <a:off x="6355834" y="1988841"/>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潜在客户</a:t>
              </a:r>
              <a:endParaRPr lang="en-US" altLang="zh-CN" sz="1200" dirty="0">
                <a:solidFill>
                  <a:srgbClr val="FFFFFF"/>
                </a:solidFill>
                <a:latin typeface="微软雅黑" panose="020B0503020204020204" charset="-122"/>
                <a:ea typeface="微软雅黑" panose="020B0503020204020204" charset="-122"/>
              </a:endParaRPr>
            </a:p>
          </p:txBody>
        </p:sp>
        <p:sp>
          <p:nvSpPr>
            <p:cNvPr id="41" name="矩形 40"/>
            <p:cNvSpPr/>
            <p:nvPr/>
          </p:nvSpPr>
          <p:spPr bwMode="auto">
            <a:xfrm>
              <a:off x="6372201" y="3839930"/>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订单确认</a:t>
              </a:r>
              <a:endParaRPr lang="en-US" altLang="zh-CN" sz="1200" dirty="0">
                <a:solidFill>
                  <a:srgbClr val="FFFFFF"/>
                </a:solidFill>
                <a:latin typeface="微软雅黑" panose="020B0503020204020204" charset="-122"/>
                <a:ea typeface="微软雅黑" panose="020B0503020204020204" charset="-122"/>
              </a:endParaRPr>
            </a:p>
          </p:txBody>
        </p:sp>
        <p:sp>
          <p:nvSpPr>
            <p:cNvPr id="42" name="矩形 41"/>
            <p:cNvSpPr/>
            <p:nvPr/>
          </p:nvSpPr>
          <p:spPr bwMode="auto">
            <a:xfrm>
              <a:off x="4758226" y="3211285"/>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询价查询</a:t>
              </a:r>
              <a:endParaRPr lang="en-US" altLang="zh-CN" sz="1200" dirty="0">
                <a:solidFill>
                  <a:srgbClr val="FFFFFF"/>
                </a:solidFill>
                <a:latin typeface="微软雅黑" panose="020B0503020204020204" charset="-122"/>
                <a:ea typeface="微软雅黑" panose="020B0503020204020204" charset="-122"/>
              </a:endParaRPr>
            </a:p>
          </p:txBody>
        </p:sp>
        <p:sp>
          <p:nvSpPr>
            <p:cNvPr id="43" name="矩形 42"/>
            <p:cNvSpPr/>
            <p:nvPr/>
          </p:nvSpPr>
          <p:spPr bwMode="auto">
            <a:xfrm>
              <a:off x="4751679" y="3827692"/>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采购下单</a:t>
              </a:r>
              <a:endParaRPr lang="en-US" altLang="zh-CN" sz="1200" dirty="0">
                <a:solidFill>
                  <a:srgbClr val="FFFFFF"/>
                </a:solidFill>
                <a:latin typeface="微软雅黑" panose="020B0503020204020204" charset="-122"/>
                <a:ea typeface="微软雅黑" panose="020B0503020204020204" charset="-122"/>
              </a:endParaRPr>
            </a:p>
          </p:txBody>
        </p:sp>
        <p:sp>
          <p:nvSpPr>
            <p:cNvPr id="44" name="矩形 43"/>
            <p:cNvSpPr/>
            <p:nvPr/>
          </p:nvSpPr>
          <p:spPr bwMode="auto">
            <a:xfrm>
              <a:off x="4785273" y="4402926"/>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采购执行</a:t>
              </a:r>
              <a:endParaRPr lang="en-US" altLang="zh-CN" sz="1200" dirty="0">
                <a:solidFill>
                  <a:srgbClr val="FFFFFF"/>
                </a:solidFill>
                <a:latin typeface="微软雅黑" panose="020B0503020204020204" charset="-122"/>
                <a:ea typeface="微软雅黑" panose="020B0503020204020204" charset="-122"/>
              </a:endParaRPr>
            </a:p>
          </p:txBody>
        </p:sp>
        <p:sp>
          <p:nvSpPr>
            <p:cNvPr id="45" name="矩形 44"/>
            <p:cNvSpPr/>
            <p:nvPr/>
          </p:nvSpPr>
          <p:spPr bwMode="auto">
            <a:xfrm>
              <a:off x="6372201" y="2591791"/>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供应信息</a:t>
              </a:r>
              <a:endParaRPr lang="en-US" altLang="zh-CN" sz="1200" dirty="0">
                <a:solidFill>
                  <a:srgbClr val="FFFFFF"/>
                </a:solidFill>
                <a:latin typeface="微软雅黑" panose="020B0503020204020204" charset="-122"/>
                <a:ea typeface="微软雅黑" panose="020B0503020204020204" charset="-122"/>
              </a:endParaRPr>
            </a:p>
          </p:txBody>
        </p:sp>
        <p:sp>
          <p:nvSpPr>
            <p:cNvPr id="46" name="矩形 45"/>
            <p:cNvSpPr/>
            <p:nvPr/>
          </p:nvSpPr>
          <p:spPr bwMode="auto">
            <a:xfrm>
              <a:off x="6372201" y="3263866"/>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询价报价</a:t>
              </a:r>
              <a:endParaRPr lang="en-US" altLang="zh-CN" sz="1200" dirty="0">
                <a:solidFill>
                  <a:srgbClr val="FFFFFF"/>
                </a:solidFill>
                <a:latin typeface="微软雅黑" panose="020B0503020204020204" charset="-122"/>
                <a:ea typeface="微软雅黑" panose="020B0503020204020204" charset="-122"/>
              </a:endParaRPr>
            </a:p>
          </p:txBody>
        </p:sp>
        <p:sp>
          <p:nvSpPr>
            <p:cNvPr id="47" name="矩形 46"/>
            <p:cNvSpPr/>
            <p:nvPr/>
          </p:nvSpPr>
          <p:spPr bwMode="auto">
            <a:xfrm>
              <a:off x="6427842" y="4389107"/>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订单执行</a:t>
              </a:r>
              <a:endParaRPr lang="en-US" altLang="zh-CN" sz="1200" dirty="0">
                <a:solidFill>
                  <a:srgbClr val="FFFFFF"/>
                </a:solidFill>
                <a:latin typeface="微软雅黑" panose="020B0503020204020204" charset="-122"/>
                <a:ea typeface="微软雅黑" panose="020B0503020204020204" charset="-122"/>
              </a:endParaRPr>
            </a:p>
          </p:txBody>
        </p:sp>
        <p:sp>
          <p:nvSpPr>
            <p:cNvPr id="48" name="矩形 47"/>
            <p:cNvSpPr/>
            <p:nvPr/>
          </p:nvSpPr>
          <p:spPr bwMode="auto">
            <a:xfrm>
              <a:off x="6150116" y="5349213"/>
              <a:ext cx="1001078" cy="421552"/>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求购信息</a:t>
              </a:r>
              <a:endParaRPr lang="en-US" altLang="zh-CN" sz="1200" dirty="0">
                <a:solidFill>
                  <a:srgbClr val="FFFFFF"/>
                </a:solidFill>
                <a:latin typeface="微软雅黑" panose="020B0503020204020204" charset="-122"/>
                <a:ea typeface="微软雅黑" panose="020B0503020204020204" charset="-122"/>
              </a:endParaRPr>
            </a:p>
          </p:txBody>
        </p:sp>
        <p:cxnSp>
          <p:nvCxnSpPr>
            <p:cNvPr id="49" name="直接箭头连接符 48"/>
            <p:cNvCxnSpPr/>
            <p:nvPr/>
          </p:nvCxnSpPr>
          <p:spPr>
            <a:xfrm>
              <a:off x="5934030" y="2802574"/>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5934030" y="2215423"/>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5934030" y="3451311"/>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5934030" y="4637539"/>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矩形 52"/>
            <p:cNvSpPr/>
            <p:nvPr/>
          </p:nvSpPr>
          <p:spPr bwMode="auto">
            <a:xfrm>
              <a:off x="5482160" y="5796915"/>
              <a:ext cx="1001078" cy="421552"/>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供求匹配</a:t>
              </a:r>
              <a:endParaRPr lang="en-US" altLang="zh-CN" sz="1200" dirty="0">
                <a:solidFill>
                  <a:srgbClr val="FFFFFF"/>
                </a:solidFill>
                <a:latin typeface="微软雅黑" panose="020B0503020204020204" charset="-122"/>
                <a:ea typeface="微软雅黑" panose="020B0503020204020204" charset="-122"/>
              </a:endParaRPr>
            </a:p>
          </p:txBody>
        </p:sp>
        <p:sp>
          <p:nvSpPr>
            <p:cNvPr id="54" name="矩形 53"/>
            <p:cNvSpPr/>
            <p:nvPr/>
          </p:nvSpPr>
          <p:spPr bwMode="auto">
            <a:xfrm>
              <a:off x="2422518" y="1552247"/>
              <a:ext cx="931574" cy="4523601"/>
            </a:xfrm>
            <a:prstGeom prst="rect">
              <a:avLst/>
            </a:prstGeom>
            <a:solidFill>
              <a:srgbClr val="0070C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同步</a:t>
              </a:r>
              <a:r>
                <a:rPr lang="en-US" altLang="zh-CN" sz="1200" dirty="0">
                  <a:solidFill>
                    <a:srgbClr val="FFFFFF"/>
                  </a:solidFill>
                  <a:latin typeface="微软雅黑" panose="020B0503020204020204" charset="-122"/>
                  <a:ea typeface="微软雅黑" panose="020B0503020204020204" charset="-122"/>
                </a:rPr>
                <a:t>API</a:t>
              </a:r>
              <a:endParaRPr lang="zh-CN" altLang="en-US" sz="1200" dirty="0">
                <a:solidFill>
                  <a:srgbClr val="FFFFFF"/>
                </a:solidFill>
                <a:latin typeface="微软雅黑" panose="020B0503020204020204" charset="-122"/>
                <a:ea typeface="微软雅黑" panose="020B0503020204020204" charset="-122"/>
              </a:endParaRPr>
            </a:p>
          </p:txBody>
        </p:sp>
        <p:sp>
          <p:nvSpPr>
            <p:cNvPr id="55" name="矩形 54"/>
            <p:cNvSpPr/>
            <p:nvPr/>
          </p:nvSpPr>
          <p:spPr>
            <a:xfrm>
              <a:off x="2274289" y="883869"/>
              <a:ext cx="1217593" cy="560477"/>
            </a:xfrm>
            <a:prstGeom prst="rect">
              <a:avLst/>
            </a:prstGeom>
            <a:solidFill>
              <a:srgbClr val="FFFFFF">
                <a:lumMod val="50000"/>
              </a:srgbClr>
            </a:solidFill>
            <a:ln w="9525" cap="flat" cmpd="sng" algn="ctr">
              <a:noFill/>
              <a:prstDash val="solid"/>
            </a:ln>
            <a:effectLst/>
          </p:spPr>
          <p:txBody>
            <a:bodyPr anchor="ctr"/>
            <a:lstStyle/>
            <a:p>
              <a:pPr algn="ctr" fontAlgn="auto">
                <a:spcBef>
                  <a:spcPts val="0"/>
                </a:spcBef>
                <a:spcAft>
                  <a:spcPts val="0"/>
                </a:spcAft>
              </a:pPr>
              <a:r>
                <a:rPr kumimoji="1" lang="zh-CN" altLang="en-US" sz="1400" b="1" kern="0" dirty="0">
                  <a:solidFill>
                    <a:srgbClr val="FFFFFF"/>
                  </a:solidFill>
                  <a:latin typeface="Calibri" panose="020F0502020204030204"/>
                  <a:ea typeface="微软雅黑" panose="020B0503020204020204" charset="-122"/>
                  <a:cs typeface="Heiti SC Light" panose="02000000000000000000" charset="-122"/>
                </a:rPr>
                <a:t>数据接口</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示例：项目整体方案</a:t>
            </a:r>
          </a:p>
        </p:txBody>
      </p:sp>
      <p:sp>
        <p:nvSpPr>
          <p:cNvPr id="8" name="矩形 7"/>
          <p:cNvSpPr/>
          <p:nvPr/>
        </p:nvSpPr>
        <p:spPr>
          <a:xfrm>
            <a:off x="777855" y="980728"/>
            <a:ext cx="4339650" cy="369332"/>
          </a:xfrm>
          <a:prstGeom prst="rect">
            <a:avLst/>
          </a:prstGeom>
        </p:spPr>
        <p:txBody>
          <a:bodyPr wrap="none">
            <a:spAutoFit/>
          </a:bodyPr>
          <a:lstStyle/>
          <a:p>
            <a:r>
              <a:rPr lang="zh-CN" altLang="en-US" b="1" dirty="0">
                <a:solidFill>
                  <a:srgbClr val="000000"/>
                </a:solidFill>
                <a:ea typeface="微软雅黑" panose="020B0503020204020204" charset="-122"/>
                <a:cs typeface="Helvetica" panose="020B0604020202020204" pitchFamily="34" charset="0"/>
              </a:rPr>
              <a:t>实现成本管理精细化，优化财务管理流程</a:t>
            </a:r>
            <a:endParaRPr lang="zh-CN" altLang="en-US" dirty="0"/>
          </a:p>
        </p:txBody>
      </p:sp>
      <p:sp>
        <p:nvSpPr>
          <p:cNvPr id="12" name="十二边形 11"/>
          <p:cNvSpPr/>
          <p:nvPr/>
        </p:nvSpPr>
        <p:spPr>
          <a:xfrm>
            <a:off x="263352" y="980728"/>
            <a:ext cx="432048" cy="369332"/>
          </a:xfrm>
          <a:prstGeom prst="dodec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3</a:t>
            </a:r>
            <a:endParaRPr lang="zh-CN" altLang="en-US" dirty="0"/>
          </a:p>
        </p:txBody>
      </p:sp>
      <p:sp>
        <p:nvSpPr>
          <p:cNvPr id="13" name="矩形 12"/>
          <p:cNvSpPr/>
          <p:nvPr/>
        </p:nvSpPr>
        <p:spPr>
          <a:xfrm>
            <a:off x="777855" y="1782545"/>
            <a:ext cx="4166525"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建立标准成本与实际成本的分析体系</a:t>
            </a:r>
            <a:endParaRPr lang="zh-CN" altLang="en-US" dirty="0"/>
          </a:p>
        </p:txBody>
      </p:sp>
      <p:sp>
        <p:nvSpPr>
          <p:cNvPr id="14" name="矩形 13"/>
          <p:cNvSpPr/>
          <p:nvPr/>
        </p:nvSpPr>
        <p:spPr>
          <a:xfrm>
            <a:off x="777855" y="4509120"/>
            <a:ext cx="2896947"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财务</a:t>
            </a:r>
            <a:r>
              <a:rPr lang="en-US" altLang="zh-CN" dirty="0">
                <a:solidFill>
                  <a:srgbClr val="000000"/>
                </a:solidFill>
                <a:ea typeface="微软雅黑" panose="020B0503020204020204" charset="-122"/>
                <a:cs typeface="Helvetica" panose="020B0604020202020204" pitchFamily="34" charset="0"/>
              </a:rPr>
              <a:t>OA</a:t>
            </a:r>
            <a:r>
              <a:rPr lang="zh-CN" altLang="en-US" dirty="0">
                <a:solidFill>
                  <a:srgbClr val="000000"/>
                </a:solidFill>
                <a:ea typeface="微软雅黑" panose="020B0503020204020204" charset="-122"/>
                <a:cs typeface="Helvetica" panose="020B0604020202020204" pitchFamily="34" charset="0"/>
              </a:rPr>
              <a:t>流程与</a:t>
            </a:r>
            <a:r>
              <a:rPr lang="en-US" altLang="zh-CN" dirty="0">
                <a:solidFill>
                  <a:srgbClr val="000000"/>
                </a:solidFill>
                <a:ea typeface="微软雅黑" panose="020B0503020204020204" charset="-122"/>
                <a:cs typeface="Helvetica" panose="020B0604020202020204" pitchFamily="34" charset="0"/>
              </a:rPr>
              <a:t>ERP</a:t>
            </a:r>
            <a:r>
              <a:rPr lang="zh-CN" altLang="en-US" dirty="0">
                <a:solidFill>
                  <a:srgbClr val="000000"/>
                </a:solidFill>
                <a:ea typeface="微软雅黑" panose="020B0503020204020204" charset="-122"/>
                <a:cs typeface="Helvetica" panose="020B0604020202020204" pitchFamily="34" charset="0"/>
              </a:rPr>
              <a:t>集成</a:t>
            </a:r>
          </a:p>
        </p:txBody>
      </p:sp>
      <p:sp>
        <p:nvSpPr>
          <p:cNvPr id="17" name="矩形 16"/>
          <p:cNvSpPr/>
          <p:nvPr/>
        </p:nvSpPr>
        <p:spPr>
          <a:xfrm>
            <a:off x="1278733" y="2348880"/>
            <a:ext cx="4097187" cy="830997"/>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建立实际成本核算与标准成本分析体系模式</a:t>
            </a:r>
            <a:r>
              <a:rPr lang="zh-CN" altLang="en-US" sz="1600" dirty="0">
                <a:solidFill>
                  <a:srgbClr val="000000"/>
                </a:solidFill>
                <a:ea typeface="微软雅黑" panose="020B0503020204020204" charset="-122"/>
                <a:cs typeface="Helvetica" panose="020B0604020202020204" pitchFamily="34" charset="0"/>
              </a:rPr>
              <a:t>。</a:t>
            </a:r>
            <a:endParaRPr lang="en-US" altLang="zh-CN" sz="1600" dirty="0">
              <a:solidFill>
                <a:srgbClr val="000000"/>
              </a:solidFill>
              <a:ea typeface="微软雅黑" panose="020B0503020204020204" charset="-122"/>
              <a:cs typeface="Helvetica" panose="020B0604020202020204" pitchFamily="34" charset="0"/>
            </a:endParaRPr>
          </a:p>
          <a:p>
            <a:r>
              <a:rPr lang="zh-CN" altLang="zh-CN" sz="1600" dirty="0">
                <a:solidFill>
                  <a:srgbClr val="000000"/>
                </a:solidFill>
                <a:ea typeface="微软雅黑" panose="020B0503020204020204" charset="-122"/>
                <a:cs typeface="Helvetica" panose="020B0604020202020204" pitchFamily="34" charset="0"/>
              </a:rPr>
              <a:t>实</a:t>
            </a:r>
            <a:r>
              <a:rPr lang="zh-CN" altLang="en-US" sz="1600" dirty="0">
                <a:solidFill>
                  <a:srgbClr val="000000"/>
                </a:solidFill>
                <a:ea typeface="微软雅黑" panose="020B0503020204020204" charset="-122"/>
                <a:cs typeface="Helvetica" panose="020B0604020202020204" pitchFamily="34" charset="0"/>
              </a:rPr>
              <a:t>现实际</a:t>
            </a:r>
            <a:r>
              <a:rPr lang="zh-CN" altLang="zh-CN" sz="1600" dirty="0">
                <a:solidFill>
                  <a:srgbClr val="000000"/>
                </a:solidFill>
                <a:ea typeface="微软雅黑" panose="020B0503020204020204" charset="-122"/>
                <a:cs typeface="Helvetica" panose="020B0604020202020204" pitchFamily="34" charset="0"/>
              </a:rPr>
              <a:t>成本与标准成本之间的</a:t>
            </a:r>
            <a:r>
              <a:rPr lang="zh-CN" altLang="en-US" sz="1600" dirty="0">
                <a:solidFill>
                  <a:srgbClr val="000000"/>
                </a:solidFill>
                <a:ea typeface="微软雅黑" panose="020B0503020204020204" charset="-122"/>
                <a:cs typeface="Helvetica" panose="020B0604020202020204" pitchFamily="34" charset="0"/>
              </a:rPr>
              <a:t>料工费</a:t>
            </a:r>
            <a:r>
              <a:rPr lang="zh-CN" altLang="zh-CN" sz="1600" dirty="0">
                <a:solidFill>
                  <a:srgbClr val="000000"/>
                </a:solidFill>
                <a:ea typeface="微软雅黑" panose="020B0503020204020204" charset="-122"/>
                <a:cs typeface="Helvetica" panose="020B0604020202020204" pitchFamily="34" charset="0"/>
              </a:rPr>
              <a:t>差异</a:t>
            </a:r>
            <a:r>
              <a:rPr lang="zh-CN" altLang="en-US" sz="1600" dirty="0">
                <a:solidFill>
                  <a:srgbClr val="000000"/>
                </a:solidFill>
                <a:ea typeface="微软雅黑" panose="020B0503020204020204" charset="-122"/>
                <a:cs typeface="Helvetica" panose="020B0604020202020204" pitchFamily="34" charset="0"/>
              </a:rPr>
              <a:t>分析，以</a:t>
            </a:r>
            <a:r>
              <a:rPr lang="zh-CN" altLang="zh-CN" sz="1600" dirty="0">
                <a:solidFill>
                  <a:srgbClr val="000000"/>
                </a:solidFill>
                <a:ea typeface="微软雅黑" panose="020B0503020204020204" charset="-122"/>
                <a:cs typeface="Helvetica" panose="020B0604020202020204" pitchFamily="34" charset="0"/>
              </a:rPr>
              <a:t>及</a:t>
            </a:r>
            <a:r>
              <a:rPr lang="zh-CN" altLang="en-US" sz="1600" dirty="0">
                <a:solidFill>
                  <a:srgbClr val="000000"/>
                </a:solidFill>
                <a:ea typeface="微软雅黑" panose="020B0503020204020204" charset="-122"/>
                <a:cs typeface="Helvetica" panose="020B0604020202020204" pitchFamily="34" charset="0"/>
              </a:rPr>
              <a:t>对</a:t>
            </a:r>
            <a:r>
              <a:rPr lang="zh-CN" altLang="zh-CN" sz="1600" dirty="0">
                <a:solidFill>
                  <a:srgbClr val="000000"/>
                </a:solidFill>
                <a:ea typeface="微软雅黑" panose="020B0503020204020204" charset="-122"/>
                <a:cs typeface="Helvetica" panose="020B0604020202020204" pitchFamily="34" charset="0"/>
              </a:rPr>
              <a:t>差异产生原因进行分析。</a:t>
            </a:r>
            <a:endParaRPr lang="zh-CN" altLang="en-US" sz="1600" dirty="0">
              <a:solidFill>
                <a:srgbClr val="000000"/>
              </a:solidFill>
              <a:ea typeface="微软雅黑" panose="020B0503020204020204" charset="-122"/>
              <a:cs typeface="Helvetica" panose="020B0604020202020204" pitchFamily="34" charset="0"/>
            </a:endParaRPr>
          </a:p>
        </p:txBody>
      </p:sp>
      <p:sp>
        <p:nvSpPr>
          <p:cNvPr id="18" name="矩形 17"/>
          <p:cNvSpPr/>
          <p:nvPr/>
        </p:nvSpPr>
        <p:spPr>
          <a:xfrm>
            <a:off x="1169824" y="5013176"/>
            <a:ext cx="4062080" cy="830997"/>
          </a:xfrm>
          <a:prstGeom prst="rect">
            <a:avLst/>
          </a:prstGeom>
        </p:spPr>
        <p:txBody>
          <a:bodyPr wrap="square">
            <a:spAutoFit/>
          </a:bodyPr>
          <a:lstStyle/>
          <a:p>
            <a:r>
              <a:rPr lang="zh-CN" altLang="en-US" sz="1600" dirty="0">
                <a:solidFill>
                  <a:srgbClr val="000000"/>
                </a:solidFill>
                <a:ea typeface="微软雅黑" panose="020B0503020204020204" charset="-122"/>
                <a:cs typeface="Helvetica" panose="020B0604020202020204" pitchFamily="34" charset="0"/>
              </a:rPr>
              <a:t>实现固定资产预算与固定资产合同，以及固定资产付款的流程控制</a:t>
            </a:r>
            <a:r>
              <a:rPr lang="zh-CN" altLang="zh-CN" sz="1600" dirty="0">
                <a:solidFill>
                  <a:srgbClr val="000000"/>
                </a:solidFill>
                <a:ea typeface="微软雅黑" panose="020B0503020204020204" charset="-122"/>
                <a:cs typeface="Helvetica" panose="020B0604020202020204" pitchFamily="34" charset="0"/>
              </a:rPr>
              <a:t>。</a:t>
            </a:r>
            <a:endParaRPr lang="en-US" altLang="zh-CN" sz="1600" dirty="0">
              <a:solidFill>
                <a:srgbClr val="000000"/>
              </a:solidFill>
              <a:ea typeface="微软雅黑" panose="020B0503020204020204" charset="-122"/>
              <a:cs typeface="Helvetica" panose="020B0604020202020204" pitchFamily="34" charset="0"/>
            </a:endParaRPr>
          </a:p>
          <a:p>
            <a:r>
              <a:rPr lang="zh-CN" altLang="en-US" sz="1600" dirty="0">
                <a:solidFill>
                  <a:srgbClr val="000000"/>
                </a:solidFill>
                <a:ea typeface="微软雅黑" panose="020B0503020204020204" charset="-122"/>
                <a:cs typeface="Helvetica" panose="020B0604020202020204" pitchFamily="34" charset="0"/>
              </a:rPr>
              <a:t>实现收款及付款</a:t>
            </a:r>
            <a:r>
              <a:rPr lang="en-US" altLang="zh-CN" sz="1600" dirty="0">
                <a:solidFill>
                  <a:srgbClr val="000000"/>
                </a:solidFill>
                <a:ea typeface="微软雅黑" panose="020B0503020204020204" charset="-122"/>
                <a:cs typeface="Helvetica" panose="020B0604020202020204" pitchFamily="34" charset="0"/>
              </a:rPr>
              <a:t>OA</a:t>
            </a:r>
            <a:r>
              <a:rPr lang="zh-CN" altLang="en-US" sz="1600" dirty="0">
                <a:solidFill>
                  <a:srgbClr val="000000"/>
                </a:solidFill>
                <a:ea typeface="微软雅黑" panose="020B0503020204020204" charset="-122"/>
                <a:cs typeface="Helvetica" panose="020B0604020202020204" pitchFamily="34" charset="0"/>
              </a:rPr>
              <a:t>流程与</a:t>
            </a:r>
            <a:r>
              <a:rPr lang="en-US" altLang="zh-CN" sz="1600" dirty="0">
                <a:solidFill>
                  <a:srgbClr val="000000"/>
                </a:solidFill>
                <a:ea typeface="微软雅黑" panose="020B0503020204020204" charset="-122"/>
                <a:cs typeface="Helvetica" panose="020B0604020202020204" pitchFamily="34" charset="0"/>
              </a:rPr>
              <a:t>ERP</a:t>
            </a:r>
            <a:r>
              <a:rPr lang="zh-CN" altLang="en-US" sz="1600" dirty="0">
                <a:solidFill>
                  <a:srgbClr val="000000"/>
                </a:solidFill>
                <a:ea typeface="微软雅黑" panose="020B0503020204020204" charset="-122"/>
                <a:cs typeface="Helvetica" panose="020B0604020202020204" pitchFamily="34" charset="0"/>
              </a:rPr>
              <a:t>集成。</a:t>
            </a:r>
          </a:p>
        </p:txBody>
      </p:sp>
      <p:pic>
        <p:nvPicPr>
          <p:cNvPr id="10" name="Picture 4"/>
          <p:cNvPicPr>
            <a:picLocks noChangeAspect="1" noChangeArrowheads="1"/>
          </p:cNvPicPr>
          <p:nvPr/>
        </p:nvPicPr>
        <p:blipFill>
          <a:blip r:embed="rId2"/>
          <a:srcRect/>
          <a:stretch>
            <a:fillRect/>
          </a:stretch>
        </p:blipFill>
        <p:spPr bwMode="auto">
          <a:xfrm>
            <a:off x="5660938" y="1403121"/>
            <a:ext cx="5877555" cy="272961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1"/>
          <p:cNvPicPr/>
          <p:nvPr/>
        </p:nvPicPr>
        <p:blipFill>
          <a:blip r:embed="rId3"/>
          <a:srcRect/>
          <a:stretch>
            <a:fillRect/>
          </a:stretch>
        </p:blipFill>
        <p:spPr bwMode="auto">
          <a:xfrm>
            <a:off x="5674961" y="4308929"/>
            <a:ext cx="5872970" cy="2485711"/>
          </a:xfrm>
          <a:prstGeom prst="rect">
            <a:avLst/>
          </a:prstGeom>
          <a:noFill/>
          <a:ln>
            <a:noFill/>
          </a:ln>
          <a:effectLst>
            <a:prstShdw prst="shdw17" dist="17961" dir="2700000">
              <a:schemeClr val="accent1">
                <a:gamma/>
                <a:shade val="60000"/>
                <a:invGamma/>
              </a:schemeClr>
            </a:prst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整体业务流程介绍</a:t>
            </a:r>
          </a:p>
        </p:txBody>
      </p:sp>
      <p:sp>
        <p:nvSpPr>
          <p:cNvPr id="3" name="文本占位符 2"/>
          <p:cNvSpPr>
            <a:spLocks noGrp="1"/>
          </p:cNvSpPr>
          <p:nvPr>
            <p:ph type="body" sz="quarter" idx="18"/>
          </p:nvPr>
        </p:nvSpPr>
        <p:spPr/>
        <p:txBody>
          <a:bodyPr/>
          <a:lstStyle/>
          <a:p>
            <a:r>
              <a:rPr lang="en-US" altLang="zh-CN"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整体业务流程介绍</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使用流程图的方式展示业务的流转，分职能、分阶段，如可以应使用颜色或虚实线展示操作的系统。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示例：整体业务流程介绍</a:t>
            </a:r>
          </a:p>
        </p:txBody>
      </p:sp>
      <p:graphicFrame>
        <p:nvGraphicFramePr>
          <p:cNvPr id="5" name="对象 -2147482623"/>
          <p:cNvGraphicFramePr>
            <a:graphicFrameLocks noChangeAspect="1"/>
          </p:cNvGraphicFramePr>
          <p:nvPr/>
        </p:nvGraphicFramePr>
        <p:xfrm>
          <a:off x="1499235" y="1132205"/>
          <a:ext cx="8275320" cy="5469890"/>
        </p:xfrm>
        <a:graphic>
          <a:graphicData uri="http://schemas.openxmlformats.org/presentationml/2006/ole">
            <mc:AlternateContent xmlns:mc="http://schemas.openxmlformats.org/markup-compatibility/2006">
              <mc:Choice xmlns:v="urn:schemas-microsoft-com:vml" Requires="v">
                <p:oleObj spid="_x0000_s3086" r:id="rId3" imgW="11228705" imgH="8054340" progId="Visio.Drawing.15">
                  <p:embed/>
                </p:oleObj>
              </mc:Choice>
              <mc:Fallback>
                <p:oleObj r:id="rId3" imgW="11228705" imgH="8054340" progId="Visio.Drawing.15">
                  <p:embed/>
                  <p:pic>
                    <p:nvPicPr>
                      <p:cNvPr id="0" name="图片 3075"/>
                      <p:cNvPicPr/>
                      <p:nvPr/>
                    </p:nvPicPr>
                    <p:blipFill>
                      <a:blip r:embed="rId4"/>
                      <a:stretch>
                        <a:fillRect/>
                      </a:stretch>
                    </p:blipFill>
                    <p:spPr>
                      <a:xfrm>
                        <a:off x="1499235" y="1132205"/>
                        <a:ext cx="8275320" cy="5469890"/>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系统通用功能培训</a:t>
            </a:r>
          </a:p>
        </p:txBody>
      </p:sp>
      <p:sp>
        <p:nvSpPr>
          <p:cNvPr id="3" name="文本占位符 2"/>
          <p:cNvSpPr>
            <a:spLocks noGrp="1"/>
          </p:cNvSpPr>
          <p:nvPr>
            <p:ph type="body" sz="quarter" idx="18"/>
          </p:nvPr>
        </p:nvSpPr>
        <p:spPr/>
        <p:txBody>
          <a:bodyPr/>
          <a:lstStyle/>
          <a:p>
            <a:r>
              <a:rPr lang="en-US" altLang="zh-CN"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系统通用功能培训</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通用的功能，可以是列表字段自定义展示、设置过滤方案；可以是基础资料的配置，也可以是一个模块的系统参数配置等非日常业务开展常需操作的内容；可以图文说明系统登录路径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示例：系统登录</a:t>
            </a:r>
          </a:p>
        </p:txBody>
      </p:sp>
      <p:sp>
        <p:nvSpPr>
          <p:cNvPr id="6" name="矩形 5"/>
          <p:cNvSpPr/>
          <p:nvPr/>
        </p:nvSpPr>
        <p:spPr>
          <a:xfrm>
            <a:off x="274955" y="1558290"/>
            <a:ext cx="4209415" cy="2618740"/>
          </a:xfrm>
          <a:prstGeom prst="rect">
            <a:avLst/>
          </a:prstGeom>
        </p:spPr>
        <p:txBody>
          <a:bodyPr wrap="square">
            <a:spAutoFit/>
          </a:bodyPr>
          <a:lstStyle/>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网页入口：</a:t>
            </a:r>
            <a:endPar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浏览器地址栏中输入系统地址访问（建议使用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Chrome</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浏览器）：</a:t>
            </a: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测试环境：</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https://suijin.test.kdcloud.com/</a:t>
            </a: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正式环境：</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https://suijin.kdcloud.com/</a:t>
            </a:r>
          </a:p>
        </p:txBody>
      </p:sp>
      <p:pic>
        <p:nvPicPr>
          <p:cNvPr id="7" name="图片 6"/>
          <p:cNvPicPr>
            <a:picLocks noChangeAspect="1"/>
          </p:cNvPicPr>
          <p:nvPr>
            <p:custDataLst>
              <p:tags r:id="rId1"/>
            </p:custDataLst>
          </p:nvPr>
        </p:nvPicPr>
        <p:blipFill>
          <a:blip r:embed="rId3"/>
          <a:stretch>
            <a:fillRect/>
          </a:stretch>
        </p:blipFill>
        <p:spPr>
          <a:xfrm>
            <a:off x="4695190" y="1065530"/>
            <a:ext cx="7294880" cy="38715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示例：系统登录</a:t>
            </a:r>
          </a:p>
        </p:txBody>
      </p:sp>
      <p:sp>
        <p:nvSpPr>
          <p:cNvPr id="6" name="矩形 5"/>
          <p:cNvSpPr/>
          <p:nvPr/>
        </p:nvSpPr>
        <p:spPr>
          <a:xfrm>
            <a:off x="338455" y="1953260"/>
            <a:ext cx="4336415" cy="2268855"/>
          </a:xfrm>
          <a:prstGeom prst="rect">
            <a:avLst/>
          </a:prstGeom>
        </p:spPr>
        <p:txBody>
          <a:bodyPr wrap="square">
            <a:spAutoFit/>
          </a:bodyPr>
          <a:lstStyle/>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云之家入口：</a:t>
            </a:r>
          </a:p>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云之家入口：</a:t>
            </a: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在云之家桌面端或网页端首页点击全部应用</a:t>
            </a: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在企业自建应用中点击“金蝶云星瀚”</a:t>
            </a:r>
          </a:p>
        </p:txBody>
      </p:sp>
      <p:pic>
        <p:nvPicPr>
          <p:cNvPr id="2" name="图片 1"/>
          <p:cNvPicPr>
            <a:picLocks noChangeAspect="1"/>
          </p:cNvPicPr>
          <p:nvPr/>
        </p:nvPicPr>
        <p:blipFill>
          <a:blip r:embed="rId2"/>
          <a:stretch>
            <a:fillRect/>
          </a:stretch>
        </p:blipFill>
        <p:spPr>
          <a:xfrm>
            <a:off x="4674576" y="1024016"/>
            <a:ext cx="7299001" cy="48683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示例：通用功能</a:t>
            </a:r>
          </a:p>
        </p:txBody>
      </p:sp>
      <p:sp>
        <p:nvSpPr>
          <p:cNvPr id="6" name="矩形 5"/>
          <p:cNvSpPr/>
          <p:nvPr/>
        </p:nvSpPr>
        <p:spPr>
          <a:xfrm>
            <a:off x="279400" y="1755140"/>
            <a:ext cx="4544695" cy="3347720"/>
          </a:xfrm>
          <a:prstGeom prst="rect">
            <a:avLst/>
          </a:prstGeom>
        </p:spPr>
        <p:txBody>
          <a:bodyPr wrap="square">
            <a:spAutoFit/>
          </a:bodyPr>
          <a:lstStyle/>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产品类型：</a:t>
            </a:r>
          </a:p>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用于定义项目中的产品类型，是后续项目成本测算中产品测算的基础，在项目建立时项目与产品关联</a:t>
            </a: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产品类型在项目建立时引用，可关联项目、分期、楼栋信息，在成本测算时建安成本根据产品测算价格产品类型支持维护多级，新增下级时需选中上级新增</a:t>
            </a:r>
          </a:p>
        </p:txBody>
      </p:sp>
      <p:pic>
        <p:nvPicPr>
          <p:cNvPr id="7" name="图片 6"/>
          <p:cNvPicPr>
            <a:picLocks noChangeAspect="1"/>
          </p:cNvPicPr>
          <p:nvPr/>
        </p:nvPicPr>
        <p:blipFill>
          <a:blip r:embed="rId2"/>
          <a:stretch>
            <a:fillRect/>
          </a:stretch>
        </p:blipFill>
        <p:spPr>
          <a:xfrm>
            <a:off x="5061585" y="1247140"/>
            <a:ext cx="6640830" cy="42557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分场景业务流程培训</a:t>
            </a:r>
          </a:p>
        </p:txBody>
      </p:sp>
      <p:sp>
        <p:nvSpPr>
          <p:cNvPr id="3" name="文本占位符 2"/>
          <p:cNvSpPr>
            <a:spLocks noGrp="1"/>
          </p:cNvSpPr>
          <p:nvPr>
            <p:ph type="body" sz="quarter" idx="18"/>
          </p:nvPr>
        </p:nvSpPr>
        <p:spPr/>
        <p:txBody>
          <a:bodyPr/>
          <a:lstStyle/>
          <a:p>
            <a:r>
              <a:rPr lang="en-US" altLang="zh-CN" dirty="0"/>
              <a:t> </a:t>
            </a:r>
            <a:r>
              <a:rPr kumimoji="1" lang="en-US" altLang="zh-CN">
                <a:sym typeface="+mn-ea"/>
              </a:rPr>
              <a:t>2-1.</a:t>
            </a:r>
            <a:r>
              <a:rPr kumimoji="1" lang="zh-CN" altLang="en-US">
                <a:sym typeface="+mn-ea"/>
              </a:rPr>
              <a:t>业务场景介绍 </a:t>
            </a:r>
            <a:endParaRPr kumimoji="1" lang="en-US" altLang="zh-CN">
              <a:sym typeface="+mn-ea"/>
            </a:endParaRPr>
          </a:p>
          <a:p>
            <a:r>
              <a:rPr kumimoji="1" lang="en-US" altLang="zh-CN">
                <a:sym typeface="+mn-ea"/>
              </a:rPr>
              <a:t> 2-2.</a:t>
            </a:r>
            <a:r>
              <a:rPr kumimoji="1" lang="zh-CN" altLang="en-US">
                <a:sym typeface="+mn-ea"/>
              </a:rPr>
              <a:t>业务流程图  </a:t>
            </a:r>
            <a:endParaRPr kumimoji="1" lang="en-US" altLang="zh-CN">
              <a:sym typeface="+mn-ea"/>
            </a:endParaRPr>
          </a:p>
          <a:p>
            <a:r>
              <a:rPr kumimoji="1" lang="en-US" altLang="zh-CN">
                <a:sym typeface="+mn-ea"/>
              </a:rPr>
              <a:t> 2-3.</a:t>
            </a:r>
            <a:r>
              <a:rPr kumimoji="1" lang="zh-CN" altLang="en-US">
                <a:sym typeface="+mn-ea"/>
              </a:rPr>
              <a:t>系统操作培训 </a:t>
            </a:r>
            <a:endParaRPr kumimoji="1" lang="zh-CN" altLang="en-US"/>
          </a:p>
          <a:p>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分场景业务流程培训</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业务场景介绍：图文形式说明业务场景，若一句话可说明则可与业务流程图页合并</a:t>
            </a:r>
          </a:p>
          <a:p>
            <a:pPr marL="0" indent="0">
              <a:buNone/>
            </a:pPr>
            <a:r>
              <a:rPr dirty="0"/>
              <a:t>      业务流程图：场景</a:t>
            </a:r>
            <a:r>
              <a:rPr lang="en-US" altLang="zh-CN" dirty="0"/>
              <a:t>X</a:t>
            </a:r>
            <a:r>
              <a:rPr dirty="0"/>
              <a:t>业务流程图展示，分部门、分阶段、区分操作系统</a:t>
            </a:r>
          </a:p>
          <a:p>
            <a:pPr marL="0" indent="0">
              <a:buNone/>
            </a:pPr>
            <a:r>
              <a:rPr dirty="0"/>
              <a:t>      系统操作培训：图文形式说明每步操作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示例：采购退货业务流程图</a:t>
            </a:r>
            <a:r>
              <a:rPr kumimoji="1" lang="zh-CN" altLang="en-US" dirty="0">
                <a:sym typeface="+mn-ea"/>
              </a:rPr>
              <a:t>  </a:t>
            </a:r>
            <a:endParaRPr kumimoji="1" lang="zh-CN" altLang="en-US" dirty="0"/>
          </a:p>
        </p:txBody>
      </p:sp>
      <p:graphicFrame>
        <p:nvGraphicFramePr>
          <p:cNvPr id="2" name="对象 -2147482606"/>
          <p:cNvGraphicFramePr>
            <a:graphicFrameLocks noChangeAspect="1"/>
          </p:cNvGraphicFramePr>
          <p:nvPr/>
        </p:nvGraphicFramePr>
        <p:xfrm>
          <a:off x="3168015" y="601345"/>
          <a:ext cx="6259195" cy="6201410"/>
        </p:xfrm>
        <a:graphic>
          <a:graphicData uri="http://schemas.openxmlformats.org/presentationml/2006/ole">
            <mc:AlternateContent xmlns:mc="http://schemas.openxmlformats.org/markup-compatibility/2006">
              <mc:Choice xmlns:v="urn:schemas-microsoft-com:vml" Requires="v">
                <p:oleObj spid="_x0000_s4105" r:id="rId3" imgW="7959090" imgH="11484610" progId="Visio.Drawing.15">
                  <p:embed/>
                </p:oleObj>
              </mc:Choice>
              <mc:Fallback>
                <p:oleObj r:id="rId3" imgW="7959090" imgH="11484610" progId="Visio.Drawing.15">
                  <p:embed/>
                  <p:pic>
                    <p:nvPicPr>
                      <p:cNvPr id="0" name="图片 5"/>
                      <p:cNvPicPr/>
                      <p:nvPr/>
                    </p:nvPicPr>
                    <p:blipFill>
                      <a:blip r:embed="rId4"/>
                      <a:stretch>
                        <a:fillRect/>
                      </a:stretch>
                    </p:blipFill>
                    <p:spPr>
                      <a:xfrm>
                        <a:off x="3168015" y="601345"/>
                        <a:ext cx="6259195" cy="6201410"/>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示例：采购退货</a:t>
            </a:r>
            <a:r>
              <a:rPr kumimoji="1" lang="zh-CN" altLang="en-US">
                <a:sym typeface="+mn-ea"/>
              </a:rPr>
              <a:t>系统操作培训</a:t>
            </a:r>
            <a:r>
              <a:rPr kumimoji="1" lang="zh-CN" altLang="en-US" dirty="0">
                <a:sym typeface="+mn-ea"/>
              </a:rPr>
              <a:t> </a:t>
            </a:r>
            <a:br>
              <a:rPr kumimoji="1" lang="zh-CN" altLang="en-US" dirty="0"/>
            </a:br>
            <a:r>
              <a:rPr kumimoji="1" lang="zh-CN" altLang="en-US" dirty="0">
                <a:sym typeface="+mn-ea"/>
              </a:rPr>
              <a:t> </a:t>
            </a:r>
            <a:endParaRPr kumimoji="1" lang="zh-CN" altLang="en-US" dirty="0"/>
          </a:p>
        </p:txBody>
      </p:sp>
      <p:pic>
        <p:nvPicPr>
          <p:cNvPr id="2" name="图片 1"/>
          <p:cNvPicPr>
            <a:picLocks noChangeAspect="1"/>
          </p:cNvPicPr>
          <p:nvPr/>
        </p:nvPicPr>
        <p:blipFill>
          <a:blip r:embed="rId2"/>
          <a:stretch>
            <a:fillRect/>
          </a:stretch>
        </p:blipFill>
        <p:spPr>
          <a:xfrm>
            <a:off x="3707547" y="967740"/>
            <a:ext cx="7528777" cy="4704080"/>
          </a:xfrm>
          <a:prstGeom prst="rect">
            <a:avLst/>
          </a:prstGeom>
          <a:noFill/>
          <a:ln w="9525">
            <a:noFill/>
          </a:ln>
        </p:spPr>
      </p:pic>
      <p:sp>
        <p:nvSpPr>
          <p:cNvPr id="5" name="文本占位符 2"/>
          <p:cNvSpPr>
            <a:spLocks noGrp="1"/>
          </p:cNvSpPr>
          <p:nvPr/>
        </p:nvSpPr>
        <p:spPr>
          <a:xfrm>
            <a:off x="398094" y="1547301"/>
            <a:ext cx="2782428" cy="2309081"/>
          </a:xfrm>
          <a:prstGeom prst="rect">
            <a:avLst/>
          </a:prstGeom>
          <a:noFill/>
          <a:ln w="9525">
            <a:noFill/>
            <a:miter lim="800000"/>
          </a:ln>
        </p:spPr>
        <p:txBody>
          <a:bodyPr vert="horz" wrap="square" lIns="0" tIns="0" rIns="0" bIns="0" numCol="1" anchor="t" anchorCtr="0" compatLnSpc="1"/>
          <a:lstStyle>
            <a:lvl1pPr marL="0" indent="0" algn="l" defTabSz="457200" rtl="0" eaLnBrk="1" latinLnBrk="0" hangingPunct="1">
              <a:spcBef>
                <a:spcPct val="20000"/>
              </a:spcBef>
              <a:buFont typeface="Arial" panose="020B0604020202090204"/>
              <a:buNone/>
              <a:defRPr sz="2400" b="1" i="0" kern="1200">
                <a:solidFill>
                  <a:srgbClr val="837A80"/>
                </a:solidFill>
                <a:latin typeface="微软雅黑" panose="020B0503020204020204" charset="-122"/>
                <a:ea typeface="微软雅黑" panose="020B0503020204020204" charset="-122"/>
                <a:cs typeface="微软雅黑" panose="020B0503020204020204" charset="-122"/>
              </a:defRPr>
            </a:lvl1pPr>
            <a:lvl2pPr marL="457200" indent="0" algn="l" defTabSz="457200" rtl="0" eaLnBrk="1" latinLnBrk="0" hangingPunct="1">
              <a:spcBef>
                <a:spcPct val="20000"/>
              </a:spcBef>
              <a:buFont typeface="Arial" panose="020B0604020202090204"/>
              <a:buNone/>
              <a:defRPr sz="1800" b="1" i="0" kern="1200">
                <a:solidFill>
                  <a:srgbClr val="837A80"/>
                </a:solidFill>
                <a:latin typeface="微软雅黑" panose="020B0503020204020204" charset="-122"/>
                <a:ea typeface="微软雅黑" panose="020B0503020204020204" charset="-122"/>
                <a:cs typeface="微软雅黑" panose="020B0503020204020204" charset="-122"/>
              </a:defRPr>
            </a:lvl2pPr>
            <a:lvl3pPr marL="9144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3pPr>
            <a:lvl4pPr marL="13716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4pPr>
            <a:lvl5pPr marL="18288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r>
              <a:rPr sz="1800" b="0" dirty="0">
                <a:solidFill>
                  <a:schemeClr val="tx1"/>
                </a:solidFill>
              </a:rPr>
              <a:t>第</a:t>
            </a:r>
            <a:r>
              <a:rPr lang="en-US" sz="1800" b="0" dirty="0">
                <a:solidFill>
                  <a:schemeClr val="tx1"/>
                </a:solidFill>
              </a:rPr>
              <a:t>1</a:t>
            </a:r>
            <a:r>
              <a:rPr sz="1800" b="0" dirty="0">
                <a:solidFill>
                  <a:schemeClr val="tx1"/>
                </a:solidFill>
              </a:rPr>
              <a:t>步：采购补充协议由采购合同关联生成，打开采购合同列表，选择单据状态为已审核并且生效状态为已生效的采购合同点击关联生成补充协议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示例：采购退货</a:t>
            </a:r>
            <a:r>
              <a:rPr kumimoji="1" lang="zh-CN" altLang="en-US">
                <a:sym typeface="+mn-ea"/>
              </a:rPr>
              <a:t>系统操作培训</a:t>
            </a:r>
            <a:r>
              <a:rPr kumimoji="1" lang="zh-CN" altLang="en-US" dirty="0">
                <a:sym typeface="+mn-ea"/>
              </a:rPr>
              <a:t> </a:t>
            </a:r>
            <a:br>
              <a:rPr kumimoji="1" lang="zh-CN" altLang="en-US" dirty="0"/>
            </a:br>
            <a:r>
              <a:rPr kumimoji="1" lang="zh-CN" altLang="en-US" dirty="0">
                <a:sym typeface="+mn-ea"/>
              </a:rPr>
              <a:t> </a:t>
            </a:r>
            <a:endParaRPr kumimoji="1" lang="zh-CN" altLang="en-US" dirty="0"/>
          </a:p>
        </p:txBody>
      </p:sp>
      <p:sp>
        <p:nvSpPr>
          <p:cNvPr id="5" name="文本占位符 2"/>
          <p:cNvSpPr>
            <a:spLocks noGrp="1"/>
          </p:cNvSpPr>
          <p:nvPr/>
        </p:nvSpPr>
        <p:spPr>
          <a:xfrm>
            <a:off x="556868" y="1838055"/>
            <a:ext cx="2593837" cy="1007055"/>
          </a:xfrm>
          <a:prstGeom prst="rect">
            <a:avLst/>
          </a:prstGeom>
          <a:noFill/>
          <a:ln w="9525">
            <a:noFill/>
            <a:miter lim="800000"/>
          </a:ln>
        </p:spPr>
        <p:txBody>
          <a:bodyPr vert="horz" wrap="square" lIns="0" tIns="0" rIns="0" bIns="0" numCol="1" anchor="t" anchorCtr="0" compatLnSpc="1"/>
          <a:lstStyle>
            <a:lvl1pPr marL="0" indent="0" algn="l" defTabSz="457200" rtl="0" eaLnBrk="1" latinLnBrk="0" hangingPunct="1">
              <a:spcBef>
                <a:spcPct val="20000"/>
              </a:spcBef>
              <a:buFont typeface="Arial" panose="020B0604020202090204"/>
              <a:buNone/>
              <a:defRPr sz="2400" b="1" i="0" kern="1200">
                <a:solidFill>
                  <a:srgbClr val="837A80"/>
                </a:solidFill>
                <a:latin typeface="微软雅黑" panose="020B0503020204020204" charset="-122"/>
                <a:ea typeface="微软雅黑" panose="020B0503020204020204" charset="-122"/>
                <a:cs typeface="微软雅黑" panose="020B0503020204020204" charset="-122"/>
              </a:defRPr>
            </a:lvl1pPr>
            <a:lvl2pPr marL="457200" indent="0" algn="l" defTabSz="457200" rtl="0" eaLnBrk="1" latinLnBrk="0" hangingPunct="1">
              <a:spcBef>
                <a:spcPct val="20000"/>
              </a:spcBef>
              <a:buFont typeface="Arial" panose="020B0604020202090204"/>
              <a:buNone/>
              <a:defRPr sz="1800" b="1" i="0" kern="1200">
                <a:solidFill>
                  <a:srgbClr val="837A80"/>
                </a:solidFill>
                <a:latin typeface="微软雅黑" panose="020B0503020204020204" charset="-122"/>
                <a:ea typeface="微软雅黑" panose="020B0503020204020204" charset="-122"/>
                <a:cs typeface="微软雅黑" panose="020B0503020204020204" charset="-122"/>
              </a:defRPr>
            </a:lvl2pPr>
            <a:lvl3pPr marL="9144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3pPr>
            <a:lvl4pPr marL="13716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4pPr>
            <a:lvl5pPr marL="18288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r>
              <a:rPr sz="1800" b="0" dirty="0">
                <a:solidFill>
                  <a:schemeClr val="tx1"/>
                </a:solidFill>
              </a:rPr>
              <a:t>第</a:t>
            </a:r>
            <a:r>
              <a:rPr lang="en-US" sz="1800" b="0" dirty="0">
                <a:solidFill>
                  <a:schemeClr val="tx1"/>
                </a:solidFill>
              </a:rPr>
              <a:t>2</a:t>
            </a:r>
            <a:r>
              <a:rPr sz="1800" b="0" dirty="0">
                <a:solidFill>
                  <a:schemeClr val="tx1"/>
                </a:solidFill>
              </a:rPr>
              <a:t>步：填写补充协议信息，需要注意价格日期及协议条款</a:t>
            </a:r>
          </a:p>
        </p:txBody>
      </p:sp>
      <p:pic>
        <p:nvPicPr>
          <p:cNvPr id="2" name="图片 1"/>
          <p:cNvPicPr>
            <a:picLocks noChangeAspect="1"/>
          </p:cNvPicPr>
          <p:nvPr/>
        </p:nvPicPr>
        <p:blipFill>
          <a:blip r:embed="rId2"/>
          <a:stretch>
            <a:fillRect/>
          </a:stretch>
        </p:blipFill>
        <p:spPr>
          <a:xfrm>
            <a:off x="3627784" y="861060"/>
            <a:ext cx="7922866" cy="486854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200" dirty="0"/>
              <a:t>Q&amp;A</a:t>
            </a:r>
          </a:p>
        </p:txBody>
      </p:sp>
      <p:sp>
        <p:nvSpPr>
          <p:cNvPr id="3" name="文本占位符 2"/>
          <p:cNvSpPr>
            <a:spLocks noGrp="1"/>
          </p:cNvSpPr>
          <p:nvPr>
            <p:ph type="body" sz="quarter" idx="18"/>
          </p:nvPr>
        </p:nvSpPr>
        <p:spPr/>
        <p:txBody>
          <a:bodyPr/>
          <a:lstStyle/>
          <a:p>
            <a:r>
              <a:rPr lang="en-US" altLang="zh-CN"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en-US" altLang="zh-CN" dirty="0">
                <a:sym typeface="+mn-ea"/>
              </a:rPr>
              <a:t>Q&amp;A</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常见问题列示与解答、现场提问与沟通</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425.773228346457,&quot;width&quot;:12108.092913385826}"/>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812</Words>
  <Application>Microsoft Office PowerPoint</Application>
  <PresentationFormat>宽屏</PresentationFormat>
  <Paragraphs>161</Paragraphs>
  <Slides>25</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9" baseType="lpstr">
      <vt:lpstr>Heiti SC Light</vt:lpstr>
      <vt:lpstr>Helvetica Light</vt:lpstr>
      <vt:lpstr>Helvetica Neue</vt:lpstr>
      <vt:lpstr>Helvetica Neue Medium</vt:lpstr>
      <vt:lpstr>Microsoft YaHei Bold</vt:lpstr>
      <vt:lpstr>等线</vt:lpstr>
      <vt:lpstr>微软雅黑</vt:lpstr>
      <vt:lpstr>微软雅黑 Light</vt:lpstr>
      <vt:lpstr>Arial</vt:lpstr>
      <vt:lpstr>Calibri</vt:lpstr>
      <vt:lpstr>Helvetica</vt:lpstr>
      <vt:lpstr>Wingdings</vt:lpstr>
      <vt:lpstr>1_Office 主题​​</vt:lpstr>
      <vt:lpstr>Visio.Drawing.15</vt:lpstr>
      <vt:lpstr>最终用户培训</vt:lpstr>
      <vt:lpstr>目 录</vt:lpstr>
      <vt:lpstr>项目背景及整体方案</vt:lpstr>
      <vt:lpstr>项目背景 </vt:lpstr>
      <vt:lpstr>示例：项目背景 </vt:lpstr>
      <vt:lpstr>示例：项目整体方案</vt:lpstr>
      <vt:lpstr>示例：项目整体方案</vt:lpstr>
      <vt:lpstr>示例：项目整体方案</vt:lpstr>
      <vt:lpstr>整体业务流程介绍</vt:lpstr>
      <vt:lpstr>整体业务流程介绍</vt:lpstr>
      <vt:lpstr>示例：整体业务流程介绍</vt:lpstr>
      <vt:lpstr>系统通用功能培训</vt:lpstr>
      <vt:lpstr>系统通用功能培训</vt:lpstr>
      <vt:lpstr>示例：系统登录</vt:lpstr>
      <vt:lpstr>示例：系统登录</vt:lpstr>
      <vt:lpstr>示例：通用功能</vt:lpstr>
      <vt:lpstr>分场景业务流程培训</vt:lpstr>
      <vt:lpstr>分场景业务流程培训</vt:lpstr>
      <vt:lpstr>示例：采购退货业务流程图  </vt:lpstr>
      <vt:lpstr>示例：采购退货系统操作培训   </vt:lpstr>
      <vt:lpstr>示例：采购退货系统操作培训   </vt:lpstr>
      <vt:lpstr>Q&amp;A</vt:lpstr>
      <vt:lpstr>Q&amp;A</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516</cp:revision>
  <dcterms:created xsi:type="dcterms:W3CDTF">2022-10-17T07:47:37Z</dcterms:created>
  <dcterms:modified xsi:type="dcterms:W3CDTF">2022-10-18T07:38:26Z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2052-3.0.0.4828</vt:lpwstr>
  </property>
</Properties>
</file>