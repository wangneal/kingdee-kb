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notesMasterIdLst>
    <p:notesMasterId r:id="rId31"/>
  </p:notesMasterIdLst>
  <p:handoutMasterIdLst>
    <p:handoutMasterId r:id="rId32"/>
  </p:handoutMasterIdLst>
  <p:sldIdLst>
    <p:sldId id="1726328117" r:id="rId2"/>
    <p:sldId id="1726328028" r:id="rId3"/>
    <p:sldId id="1726328029" r:id="rId4"/>
    <p:sldId id="1726327933" r:id="rId5"/>
    <p:sldId id="1726328114" r:id="rId6"/>
    <p:sldId id="1726328112" r:id="rId7"/>
    <p:sldId id="7628" r:id="rId8"/>
    <p:sldId id="7629" r:id="rId9"/>
    <p:sldId id="1726328032" r:id="rId10"/>
    <p:sldId id="7630" r:id="rId11"/>
    <p:sldId id="7592" r:id="rId12"/>
    <p:sldId id="7631" r:id="rId13"/>
    <p:sldId id="7594" r:id="rId14"/>
    <p:sldId id="7597" r:id="rId15"/>
    <p:sldId id="7598" r:id="rId16"/>
    <p:sldId id="7599" r:id="rId17"/>
    <p:sldId id="1726328034" r:id="rId18"/>
    <p:sldId id="7613" r:id="rId19"/>
    <p:sldId id="1726328036" r:id="rId20"/>
    <p:sldId id="7621" r:id="rId21"/>
    <p:sldId id="7654" r:id="rId22"/>
    <p:sldId id="7653" r:id="rId23"/>
    <p:sldId id="1726328063" r:id="rId24"/>
    <p:sldId id="1726328115" r:id="rId25"/>
    <p:sldId id="7668" r:id="rId26"/>
    <p:sldId id="7669" r:id="rId27"/>
    <p:sldId id="7670" r:id="rId28"/>
    <p:sldId id="1726328118" r:id="rId29"/>
    <p:sldId id="1726327939"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726328117"/>
            <p14:sldId id="1726328028"/>
            <p14:sldId id="1726328029"/>
            <p14:sldId id="1726327933"/>
            <p14:sldId id="1726328114"/>
            <p14:sldId id="1726328112"/>
            <p14:sldId id="7628"/>
            <p14:sldId id="7629"/>
            <p14:sldId id="1726328032"/>
            <p14:sldId id="7630"/>
            <p14:sldId id="7592"/>
            <p14:sldId id="7631"/>
            <p14:sldId id="7594"/>
            <p14:sldId id="7597"/>
            <p14:sldId id="7598"/>
            <p14:sldId id="7599"/>
            <p14:sldId id="1726328034"/>
            <p14:sldId id="7613"/>
            <p14:sldId id="1726328036"/>
            <p14:sldId id="7621"/>
            <p14:sldId id="7654"/>
            <p14:sldId id="7653"/>
            <p14:sldId id="1726328063"/>
            <p14:sldId id="1726328115"/>
            <p14:sldId id="7668"/>
            <p14:sldId id="7669"/>
            <p14:sldId id="7670"/>
            <p14:sldId id="1726328118"/>
            <p14:sldId id="172632793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DFF"/>
    <a:srgbClr val="DFE8FB"/>
    <a:srgbClr val="2970EB"/>
    <a:srgbClr val="2A70EB"/>
    <a:srgbClr val="A16EFF"/>
    <a:srgbClr val="08C8C8"/>
    <a:srgbClr val="22AAFE"/>
    <a:srgbClr val="2287F5"/>
    <a:srgbClr val="00BEEE"/>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p:cViewPr varScale="1">
        <p:scale>
          <a:sx n="64" d="100"/>
          <a:sy n="64" d="100"/>
        </p:scale>
        <p:origin x="940" y="44"/>
      </p:cViewPr>
      <p:guideLst>
        <p:guide orient="horz" pos="2160"/>
        <p:guide pos="3840"/>
        <p:guide pos="302"/>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2022/9/23</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2022/9/23</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图像占位符 1"/>
          <p:cNvSpPr>
            <a:spLocks noGrp="1" noRot="1" noChangeAspect="1" noChangeArrowheads="1"/>
          </p:cNvSpPr>
          <p:nvPr>
            <p:ph type="sldImg" idx="4294967295"/>
          </p:nvPr>
        </p:nvSpPr>
        <p:spPr>
          <a:ln>
            <a:miter lim="800000"/>
          </a:ln>
        </p:spPr>
      </p:sp>
      <p:sp>
        <p:nvSpPr>
          <p:cNvPr id="68610" name="备注占位符 2"/>
          <p:cNvSpPr>
            <a:spLocks noGrp="1" noChangeArrowheads="1"/>
          </p:cNvSpPr>
          <p:nvPr>
            <p:ph type="body" idx="4294967295"/>
          </p:nvPr>
        </p:nvSpPr>
        <p:spPr/>
        <p:txBody>
          <a:bodyPr/>
          <a:lstStyle/>
          <a:p>
            <a:endParaRPr lang="zh-CN" altLang="en-US"/>
          </a:p>
        </p:txBody>
      </p:sp>
      <p:sp>
        <p:nvSpPr>
          <p:cNvPr id="68611" name="灯片编号占位符 3"/>
          <p:cNvSpPr>
            <a:spLocks noGrp="1" noChangeArrowheads="1"/>
          </p:cNvSpPr>
          <p:nvPr>
            <p:ph type="sldNum" sz="quarter" idx="5"/>
          </p:nvPr>
        </p:nvSpPr>
        <p:spPr bwMode="auto">
          <a:noFill/>
          <a:ln>
            <a:miter lim="800000"/>
          </a:ln>
        </p:spPr>
        <p:txBody>
          <a:bodyPr/>
          <a:lstStyle/>
          <a:p>
            <a:fld id="{6F805A1A-EF7F-47B0-B08A-B258ACFBB0DD}" type="slidenum">
              <a:rPr lang="zh-CN" altLang="en-US"/>
              <a:t>18</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宏观上：新技术发展为智慧城市提供了良好的发展条件和土壤；现实上：急需智能化、信息化的手段来帮助企业或政府减少管理成本、提升管理效率</a:t>
            </a:r>
          </a:p>
        </p:txBody>
      </p:sp>
      <p:sp>
        <p:nvSpPr>
          <p:cNvPr id="4" name="灯片编号占位符 3"/>
          <p:cNvSpPr>
            <a:spLocks noGrp="1"/>
          </p:cNvSpPr>
          <p:nvPr>
            <p:ph type="sldNum" sz="quarter" idx="10"/>
          </p:nvPr>
        </p:nvSpPr>
        <p:spPr/>
        <p:txBody>
          <a:bodyPr/>
          <a:lstStyle/>
          <a:p>
            <a:fld id="{FB31F724-51D9-486B-9BFF-C542D0E12BC5}"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①</a:t>
            </a:r>
            <a:r>
              <a:rPr lang="zh-CN" altLang="en-US" sz="900" b="0" i="0" dirty="0">
                <a:solidFill>
                  <a:schemeClr val="accent1">
                    <a:lumMod val="75000"/>
                  </a:schemeClr>
                </a:solidFill>
                <a:latin typeface="Microsoft YaHei" panose="020B0503020204020204" pitchFamily="34" charset="-122"/>
                <a:ea typeface="Microsoft YaHei" panose="020B0503020204020204" pitchFamily="34" charset="-122"/>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93795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B27BDD3-BA6F-61B2-1AE3-2627D8D62753}"/>
              </a:ext>
            </a:extLst>
          </p:cNvPr>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a:extLst>
              <a:ext uri="{FF2B5EF4-FFF2-40B4-BE49-F238E27FC236}">
                <a16:creationId xmlns:a16="http://schemas.microsoft.com/office/drawing/2014/main" id="{AD19EED1-AAAC-A1FE-9BAE-B9C20CF9B2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a:extLst>
              <a:ext uri="{FF2B5EF4-FFF2-40B4-BE49-F238E27FC236}">
                <a16:creationId xmlns:a16="http://schemas.microsoft.com/office/drawing/2014/main" id="{0976E708-6CF7-6847-2394-20918CB0D4AB}"/>
              </a:ext>
            </a:extLst>
          </p:cNvPr>
          <p:cNvSpPr txBox="1"/>
          <p:nvPr userDrawn="1"/>
        </p:nvSpPr>
        <p:spPr>
          <a:xfrm>
            <a:off x="10174753"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marL="0" marR="0" lvl="0" indent="0" algn="l" defTabSz="914400" rtl="0" eaLnBrk="1" fontAlgn="auto" latinLnBrk="0" hangingPunct="1">
              <a:lnSpc>
                <a:spcPts val="1333"/>
              </a:lnSpc>
              <a:spcBef>
                <a:spcPts val="0"/>
              </a:spcBef>
              <a:spcAft>
                <a:spcPts val="0"/>
              </a:spcAft>
              <a:buClrTx/>
              <a:buSzTx/>
              <a:buFontTx/>
              <a:buNone/>
              <a:tabLst/>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extLst>
      <p:ext uri="{BB962C8B-B14F-4D97-AF65-F5344CB8AC3E}">
        <p14:creationId xmlns:p14="http://schemas.microsoft.com/office/powerpoint/2010/main" val="31689395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a:extLst>
              <a:ext uri="{FF2B5EF4-FFF2-40B4-BE49-F238E27FC236}">
                <a16:creationId xmlns:a16="http://schemas.microsoft.com/office/drawing/2014/main" id="{F61968CA-8D86-F945-9EB3-F3D29E61C940}"/>
              </a:ext>
            </a:extLst>
          </p:cNvPr>
          <p:cNvSpPr txBox="1"/>
          <p:nvPr userDrawn="1"/>
        </p:nvSpPr>
        <p:spPr>
          <a:xfrm>
            <a:off x="10174753"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marL="0" marR="0" lvl="0" indent="0" algn="l" defTabSz="914400" rtl="0" eaLnBrk="1" fontAlgn="auto" latinLnBrk="0" hangingPunct="1">
              <a:lnSpc>
                <a:spcPts val="1333"/>
              </a:lnSpc>
              <a:spcBef>
                <a:spcPts val="0"/>
              </a:spcBef>
              <a:spcAft>
                <a:spcPts val="0"/>
              </a:spcAft>
              <a:buClrTx/>
              <a:buSzTx/>
              <a:buFontTx/>
              <a:buNone/>
              <a:tabLst/>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extLst>
      <p:ext uri="{BB962C8B-B14F-4D97-AF65-F5344CB8AC3E}">
        <p14:creationId xmlns:p14="http://schemas.microsoft.com/office/powerpoint/2010/main" val="3694233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a:extLst>
              <a:ext uri="{FF2B5EF4-FFF2-40B4-BE49-F238E27FC236}">
                <a16:creationId xmlns:a16="http://schemas.microsoft.com/office/drawing/2014/main" id="{99936485-FE25-6D43-9E35-A85C40AFD73C}"/>
              </a:ext>
            </a:extLst>
          </p:cNvPr>
          <p:cNvSpPr txBox="1"/>
          <p:nvPr userDrawn="1"/>
        </p:nvSpPr>
        <p:spPr>
          <a:xfrm>
            <a:off x="10174753"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marL="0" marR="0" lvl="0" indent="0" algn="l" defTabSz="914400" rtl="0" eaLnBrk="1" fontAlgn="auto" latinLnBrk="0" hangingPunct="1">
              <a:lnSpc>
                <a:spcPts val="1333"/>
              </a:lnSpc>
              <a:spcBef>
                <a:spcPts val="0"/>
              </a:spcBef>
              <a:spcAft>
                <a:spcPts val="0"/>
              </a:spcAft>
              <a:buClrTx/>
              <a:buSzTx/>
              <a:buFontTx/>
              <a:buNone/>
              <a:tabLst/>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extLst>
      <p:ext uri="{BB962C8B-B14F-4D97-AF65-F5344CB8AC3E}">
        <p14:creationId xmlns:p14="http://schemas.microsoft.com/office/powerpoint/2010/main" val="29511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a:extLst>
              <a:ext uri="{FF2B5EF4-FFF2-40B4-BE49-F238E27FC236}">
                <a16:creationId xmlns:a16="http://schemas.microsoft.com/office/drawing/2014/main" id="{359698A5-5417-9D32-F40C-999FA21CD55E}"/>
              </a:ext>
            </a:extLst>
          </p:cNvPr>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0" name="矩形 9">
            <a:extLst>
              <a:ext uri="{FF2B5EF4-FFF2-40B4-BE49-F238E27FC236}">
                <a16:creationId xmlns:a16="http://schemas.microsoft.com/office/drawing/2014/main" id="{772A5AA7-64BB-7E93-DA0D-B6C45B8FD098}"/>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66612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8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a:extLst>
              <a:ext uri="{FF2B5EF4-FFF2-40B4-BE49-F238E27FC236}">
                <a16:creationId xmlns:a16="http://schemas.microsoft.com/office/drawing/2014/main" id="{F109FB53-771C-F189-F61D-48511CADBF69}"/>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3BBD89FF-FA37-0AF3-B68F-463DC689CE8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51C29D90-EDE8-D8E0-91DB-02C2FCA69B94}"/>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7663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a:extLst>
              <a:ext uri="{FF2B5EF4-FFF2-40B4-BE49-F238E27FC236}">
                <a16:creationId xmlns:a16="http://schemas.microsoft.com/office/drawing/2014/main" id="{97956506-139E-D5F6-9823-AE28F6377940}"/>
              </a:ext>
            </a:extLst>
          </p:cNvPr>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939B6773-94A2-8D5C-BD3E-C6F20D649E86}"/>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F93E295B-5738-7A72-D1BB-964962FC748D}"/>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4201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a:extLst>
              <a:ext uri="{FF2B5EF4-FFF2-40B4-BE49-F238E27FC236}">
                <a16:creationId xmlns:a16="http://schemas.microsoft.com/office/drawing/2014/main" id="{58FC437B-5AF3-80CA-048B-54A08081287D}"/>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FD2F612C-7B0B-50BF-905A-506E892598B0}"/>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75CFA9B9-66DC-AEB6-A847-42A0C5CD9B8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9828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a:extLst>
              <a:ext uri="{FF2B5EF4-FFF2-40B4-BE49-F238E27FC236}">
                <a16:creationId xmlns:a16="http://schemas.microsoft.com/office/drawing/2014/main" id="{808AC489-1559-3A62-2339-621E0A0C06D1}"/>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a:extLst>
              <a:ext uri="{FF2B5EF4-FFF2-40B4-BE49-F238E27FC236}">
                <a16:creationId xmlns:a16="http://schemas.microsoft.com/office/drawing/2014/main" id="{1A2190C7-E2D4-B6B0-A739-2B6997732C23}"/>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DC9398BE-B640-C727-E15D-3C470F22D4AA}"/>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73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a:extLst>
              <a:ext uri="{FF2B5EF4-FFF2-40B4-BE49-F238E27FC236}">
                <a16:creationId xmlns:a16="http://schemas.microsoft.com/office/drawing/2014/main" id="{1C24873E-AC96-10A3-6A7F-5616E3263452}"/>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2790DCCA-BE24-D1EA-892E-05367AA32B1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B18FE9BA-FF4A-268B-0AA8-C6146E8EDA7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0928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a:extLst>
              <a:ext uri="{FF2B5EF4-FFF2-40B4-BE49-F238E27FC236}">
                <a16:creationId xmlns:a16="http://schemas.microsoft.com/office/drawing/2014/main" id="{B8761F26-48D4-3837-686D-6B104DC7ACA8}"/>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68A34454-048E-5637-A32B-77670A0734BC}"/>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86F437F8-81DA-5382-380C-F5255E3B70AF}"/>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80783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a:extLst>
              <a:ext uri="{FF2B5EF4-FFF2-40B4-BE49-F238E27FC236}">
                <a16:creationId xmlns:a16="http://schemas.microsoft.com/office/drawing/2014/main" id="{B853A798-207D-94B0-5A34-9382B21550D6}"/>
              </a:ext>
            </a:extLst>
          </p:cNvPr>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Microsoft YaHei" panose="020B0503020204020204" pitchFamily="34" charset="-122"/>
            </a:endParaRPr>
          </a:p>
        </p:txBody>
      </p:sp>
      <p:pic>
        <p:nvPicPr>
          <p:cNvPr id="20" name="图片 19">
            <a:extLst>
              <a:ext uri="{FF2B5EF4-FFF2-40B4-BE49-F238E27FC236}">
                <a16:creationId xmlns:a16="http://schemas.microsoft.com/office/drawing/2014/main" id="{20C8B9F2-2F70-E82A-EB35-C9C417327A6A}"/>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a:extLst>
              <a:ext uri="{FF2B5EF4-FFF2-40B4-BE49-F238E27FC236}">
                <a16:creationId xmlns:a16="http://schemas.microsoft.com/office/drawing/2014/main" id="{0E9B2F5C-CE29-1522-BC42-BBA2EFDD20E4}"/>
              </a:ext>
            </a:extLst>
          </p:cNvPr>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22" name="图片占位符 7">
            <a:extLst>
              <a:ext uri="{FF2B5EF4-FFF2-40B4-BE49-F238E27FC236}">
                <a16:creationId xmlns:a16="http://schemas.microsoft.com/office/drawing/2014/main" id="{D0C90E13-0A90-DF0B-F944-3AA666A21A71}"/>
              </a:ext>
            </a:extLst>
          </p:cNvPr>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a:extLst>
              <a:ext uri="{FF2B5EF4-FFF2-40B4-BE49-F238E27FC236}">
                <a16:creationId xmlns:a16="http://schemas.microsoft.com/office/drawing/2014/main" id="{5289F285-FA71-AC9B-7CE8-6240E302E91E}"/>
              </a:ext>
            </a:extLst>
          </p:cNvPr>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a:extLst>
              <a:ext uri="{FF2B5EF4-FFF2-40B4-BE49-F238E27FC236}">
                <a16:creationId xmlns:a16="http://schemas.microsoft.com/office/drawing/2014/main" id="{76C577F7-6189-8999-F62E-428A6825E6F7}"/>
              </a:ext>
            </a:extLst>
          </p:cNvPr>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a:extLst>
              <a:ext uri="{FF2B5EF4-FFF2-40B4-BE49-F238E27FC236}">
                <a16:creationId xmlns:a16="http://schemas.microsoft.com/office/drawing/2014/main" id="{73C38C5A-3BAF-DC36-C8E3-DED6D7D78231}"/>
              </a:ext>
            </a:extLst>
          </p:cNvPr>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1" lang="zh-CN" altLang="en-US" dirty="0"/>
              <a:t>此段文字旨在显示正确的字号和段落的位置，例文可替换</a:t>
            </a:r>
          </a:p>
          <a:p>
            <a:pPr lvl="0"/>
            <a:endParaRPr kumimoji="1" lang="zh-CN" altLang="en-US" dirty="0"/>
          </a:p>
        </p:txBody>
      </p:sp>
    </p:spTree>
    <p:extLst>
      <p:ext uri="{BB962C8B-B14F-4D97-AF65-F5344CB8AC3E}">
        <p14:creationId xmlns:p14="http://schemas.microsoft.com/office/powerpoint/2010/main" val="145956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a:extLst>
              <a:ext uri="{FF2B5EF4-FFF2-40B4-BE49-F238E27FC236}">
                <a16:creationId xmlns:a16="http://schemas.microsoft.com/office/drawing/2014/main" id="{A773CA4B-B3FE-9D19-989E-BA44C8DF7D12}"/>
              </a:ext>
            </a:extLst>
          </p:cNvPr>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本文件内容为 </a:t>
            </a:r>
            <a:r>
              <a:rPr lang="zh-CN" altLang="zh-CN" sz="1800" b="1" i="0" dirty="0">
                <a:solidFill>
                  <a:srgbClr val="FFC000"/>
                </a:solidFill>
                <a:latin typeface="Microsoft YaHei" panose="020B0503020204020204" pitchFamily="34" charset="-122"/>
                <a:ea typeface="Microsoft YaHei" panose="020B0503020204020204" pitchFamily="34" charset="-122"/>
              </a:rPr>
              <a:t>①</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zh-CN" sz="1800" b="1" i="0" dirty="0">
                <a:solidFill>
                  <a:srgbClr val="FFC000"/>
                </a:solidFill>
                <a:latin typeface="Microsoft YaHei" panose="020B0503020204020204" pitchFamily="34" charset="-122"/>
                <a:ea typeface="Microsoft YaHei" panose="020B0503020204020204" pitchFamily="34" charset="-122"/>
              </a:rPr>
              <a:t>绝密信息 严禁泄露</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en-US" sz="1800" b="0" i="0" dirty="0">
                <a:solidFill>
                  <a:schemeClr val="bg1"/>
                </a:solidFill>
                <a:latin typeface="Microsoft YaHei" panose="020B0503020204020204" pitchFamily="34" charset="-122"/>
                <a:ea typeface="Microsoft YaHei" panose="020B0503020204020204" pitchFamily="34" charset="-122"/>
              </a:rPr>
              <a:t>：禁止未授权的内部、第三方人员使用与访问</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非专项必要的业务与项目负责人，收到此内容请立即删除</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严禁在未经过主管领导审批，发送给无关业务团队与人员</a:t>
            </a: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9" name="标题 2">
            <a:extLst>
              <a:ext uri="{FF2B5EF4-FFF2-40B4-BE49-F238E27FC236}">
                <a16:creationId xmlns:a16="http://schemas.microsoft.com/office/drawing/2014/main" id="{18F456E8-00AB-C41E-941D-4F7AE594C544}"/>
              </a:ext>
            </a:extLst>
          </p:cNvPr>
          <p:cNvSpPr txBox="1">
            <a:spLocks/>
          </p:cNvSpPr>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503020204020204" pitchFamily="34" charset="-122"/>
                <a:ea typeface="Microsoft YaHei" panose="020B0503020204020204" pitchFamily="3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10" name="内容占位符 1">
            <a:extLst>
              <a:ext uri="{FF2B5EF4-FFF2-40B4-BE49-F238E27FC236}">
                <a16:creationId xmlns:a16="http://schemas.microsoft.com/office/drawing/2014/main" id="{2B9D87DE-8AC1-3465-C97D-D71A60AE27C3}"/>
              </a:ext>
            </a:extLst>
          </p:cNvPr>
          <p:cNvSpPr txBox="1">
            <a:spLocks/>
          </p:cNvSpPr>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版权所有</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©1993-2022 </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本文档提到的金蝶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EBC®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、金蝶云苍穹</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、金蝶云星瀚</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、金蝶云星空</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、金蝶云星辰</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KIS®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K/3®</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EAS®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、友商网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err="1">
                <a:solidFill>
                  <a:schemeClr val="bg1">
                    <a:alpha val="50000"/>
                  </a:schemeClr>
                </a:solidFill>
                <a:effectLst/>
                <a:latin typeface="Microsoft YaHei" panose="020B0503020204020204" pitchFamily="34" charset="-122"/>
                <a:ea typeface="Microsoft YaHei" panose="020B0503020204020204" pitchFamily="34" charset="-122"/>
                <a:cs typeface="+mn-cs"/>
              </a:rPr>
              <a:t>Apusic</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Microsoft YaHei" panose="020B0503020204020204" pitchFamily="34" charset="-122"/>
                <a:ea typeface="Microsoft YaHei" panose="020B0503020204020204" pitchFamily="34" charset="-122"/>
                <a:cs typeface="+mn-cs"/>
              </a:rPr>
              <a:t>DataSubjectRequest@kingdee.com</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），我们将在</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15</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个工作日内处理。</a:t>
            </a:r>
            <a:endPar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注：</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①绝密信息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②机密信息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③秘密信息 严禁泄露 </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67006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667523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Comparison">
    <p:bg>
      <p:bgPr>
        <a:solidFill>
          <a:srgbClr val="1771EA"/>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t="-12439" r="37297" b="-1"/>
          <a:stretch>
            <a:fillRect/>
          </a:stretch>
        </p:blipFill>
        <p:spPr>
          <a:xfrm>
            <a:off x="10435782" y="191912"/>
            <a:ext cx="1360404" cy="507405"/>
          </a:xfrm>
          <a:prstGeom prst="rect">
            <a:avLst/>
          </a:prstGeom>
        </p:spPr>
      </p:pic>
      <p:sp>
        <p:nvSpPr>
          <p:cNvPr id="5" name="Text Box 5"/>
          <p:cNvSpPr txBox="1">
            <a:spLocks noChangeArrowheads="1"/>
          </p:cNvSpPr>
          <p:nvPr/>
        </p:nvSpPr>
        <p:spPr bwMode="auto">
          <a:xfrm>
            <a:off x="11576584" y="6561044"/>
            <a:ext cx="615416" cy="164212"/>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0210" fontAlgn="base">
              <a:spcBef>
                <a:spcPct val="50000"/>
              </a:spcBef>
              <a:spcAft>
                <a:spcPct val="0"/>
              </a:spcAft>
              <a:defRPr/>
            </a:pPr>
            <a:fld id="{046AD7C7-DE3F-5E43-A3A8-CA80750AE375}" type="slidenum">
              <a:rPr kumimoji="0" lang="en-US" altLang="zh-CN" sz="1065" kern="0" smtClean="0">
                <a:solidFill>
                  <a:prstClr val="white"/>
                </a:solidFill>
                <a:latin typeface="Arial" panose="020B0604020202090204"/>
                <a:cs typeface="Arial" panose="020B0604020202090204"/>
                <a:sym typeface="Helvetica Neue" panose="02000503000000020004"/>
              </a:rPr>
              <a:t>‹#›</a:t>
            </a:fld>
            <a:endParaRPr kumimoji="0" lang="en-US" altLang="zh-CN" sz="1065" kern="0" dirty="0">
              <a:solidFill>
                <a:prstClr val="white"/>
              </a:solidFill>
              <a:latin typeface="Arial" panose="020B0604020202090204"/>
              <a:cs typeface="Arial" panose="020B0604020202090204"/>
              <a:sym typeface="Helvetica Neue" panose="02000503000000020004"/>
            </a:endParaRPr>
          </a:p>
        </p:txBody>
      </p:sp>
      <p:sp>
        <p:nvSpPr>
          <p:cNvPr id="6" name="Text Box 2"/>
          <p:cNvSpPr txBox="1"/>
          <p:nvPr/>
        </p:nvSpPr>
        <p:spPr>
          <a:xfrm>
            <a:off x="9251148" y="6538682"/>
            <a:ext cx="2163235" cy="184668"/>
          </a:xfrm>
          <a:prstGeom prst="rect">
            <a:avLst/>
          </a:prstGeom>
          <a:ln w="12700">
            <a:miter lim="400000"/>
          </a:ln>
        </p:spPr>
        <p:txBody>
          <a:bodyPr lIns="8891" tIns="8891" rIns="8891" bIns="8891" anchor="ctr">
            <a:spAutoFit/>
          </a:bodyPr>
          <a:lstStyle/>
          <a:p>
            <a:pPr algn="r" defTabSz="608330">
              <a:lnSpc>
                <a:spcPts val="1335"/>
              </a:lnSpc>
              <a:defRPr sz="700">
                <a:solidFill>
                  <a:srgbClr val="FFFFFF">
                    <a:alpha val="50000"/>
                  </a:srgbClr>
                </a:solidFill>
                <a:latin typeface="微软雅黑"/>
                <a:ea typeface="微软雅黑"/>
                <a:cs typeface="微软雅黑"/>
                <a:sym typeface="微软雅黑"/>
              </a:defRPr>
            </a:pPr>
            <a:r>
              <a:rPr sz="935" dirty="0">
                <a:solidFill>
                  <a:prstClr val="white"/>
                </a:solidFill>
                <a:latin typeface="微软雅黑"/>
                <a:ea typeface="微软雅黑"/>
                <a:cs typeface="微软雅黑"/>
                <a:sym typeface="微软雅黑"/>
              </a:rPr>
              <a:t>① </a:t>
            </a:r>
            <a:r>
              <a:rPr sz="935" dirty="0" err="1">
                <a:solidFill>
                  <a:prstClr val="white"/>
                </a:solidFill>
                <a:latin typeface="微软雅黑"/>
                <a:ea typeface="微软雅黑"/>
                <a:cs typeface="微软雅黑"/>
                <a:sym typeface="微软雅黑"/>
              </a:rPr>
              <a:t>绝密信息</a:t>
            </a:r>
            <a:r>
              <a:rPr sz="935" dirty="0">
                <a:solidFill>
                  <a:prstClr val="white"/>
                </a:solidFill>
                <a:latin typeface="微软雅黑"/>
                <a:ea typeface="微软雅黑"/>
                <a:cs typeface="微软雅黑"/>
                <a:sym typeface="微软雅黑"/>
              </a:rPr>
              <a:t> </a:t>
            </a:r>
            <a:r>
              <a:rPr sz="935" dirty="0" err="1">
                <a:solidFill>
                  <a:prstClr val="white"/>
                </a:solidFill>
                <a:latin typeface="微软雅黑"/>
                <a:ea typeface="微软雅黑"/>
                <a:cs typeface="微软雅黑"/>
                <a:sym typeface="微软雅黑"/>
              </a:rPr>
              <a:t>严禁泄露</a:t>
            </a:r>
            <a:endParaRPr sz="935" dirty="0">
              <a:solidFill>
                <a:prstClr val="white"/>
              </a:solidFill>
              <a:latin typeface="微软雅黑"/>
              <a:ea typeface="微软雅黑"/>
              <a:cs typeface="微软雅黑"/>
              <a:sym typeface="微软雅黑"/>
            </a:endParaRPr>
          </a:p>
        </p:txBody>
      </p:sp>
      <p:sp>
        <p:nvSpPr>
          <p:cNvPr id="8" name="Rectangle 2"/>
          <p:cNvSpPr>
            <a:spLocks noGrp="1" noChangeArrowheads="1"/>
          </p:cNvSpPr>
          <p:nvPr>
            <p:ph type="title" hasCustomPrompt="1"/>
          </p:nvPr>
        </p:nvSpPr>
        <p:spPr bwMode="auto">
          <a:xfrm>
            <a:off x="605165" y="296488"/>
            <a:ext cx="11195255" cy="700955"/>
          </a:xfrm>
          <a:prstGeom prst="rect">
            <a:avLst/>
          </a:prstGeom>
          <a:noFill/>
          <a:ln w="9525">
            <a:noFill/>
            <a:miter lim="800000"/>
          </a:ln>
        </p:spPr>
        <p:txBody>
          <a:bodyPr vert="horz" wrap="square" lIns="0" tIns="0" rIns="0" bIns="0" numCol="1" anchor="t" anchorCtr="0" compatLnSpc="1"/>
          <a:lstStyle>
            <a:lvl1pPr>
              <a:defRPr sz="2135">
                <a:solidFill>
                  <a:schemeClr val="bg1"/>
                </a:solidFill>
              </a:defRPr>
            </a:lvl1pPr>
          </a:lstStyle>
          <a:p>
            <a:r>
              <a:rPr lang="zh-CN" altLang="en-US" sz="3200" b="1" dirty="0"/>
              <a:t>小标题</a:t>
            </a:r>
            <a:r>
              <a:rPr lang="en-US" altLang="zh-CN" sz="4800" b="0" dirty="0"/>
              <a:t/>
            </a:r>
            <a:br>
              <a:rPr lang="en-US" altLang="zh-CN" sz="4800" b="0" dirty="0"/>
            </a:br>
            <a:r>
              <a:rPr kumimoji="1" lang="zh-CN" altLang="en-US" sz="5865" dirty="0">
                <a:solidFill>
                  <a:srgbClr val="FFC000"/>
                </a:solidFill>
              </a:rPr>
              <a:t>单击此处</a:t>
            </a:r>
            <a:br>
              <a:rPr kumimoji="1" lang="zh-CN" altLang="en-US" sz="5865" dirty="0">
                <a:solidFill>
                  <a:srgbClr val="FFC000"/>
                </a:solidFill>
              </a:rPr>
            </a:br>
            <a:r>
              <a:rPr kumimoji="1" lang="zh-CN" altLang="en-US" sz="5865" dirty="0">
                <a:solidFill>
                  <a:srgbClr val="FFC000"/>
                </a:solidFill>
              </a:rPr>
              <a:t>可更改模板标题</a:t>
            </a:r>
            <a:br>
              <a:rPr kumimoji="1" lang="zh-CN" altLang="en-US" sz="5865" dirty="0">
                <a:solidFill>
                  <a:srgbClr val="FFC000"/>
                </a:solidFill>
              </a:rPr>
            </a:br>
            <a:r>
              <a:rPr kumimoji="1" lang="zh-CN" altLang="en-US" sz="5865" dirty="0">
                <a:solidFill>
                  <a:srgbClr val="FFC000"/>
                </a:solidFill>
              </a:rPr>
              <a:t>中的文字</a:t>
            </a:r>
          </a:p>
        </p:txBody>
      </p:sp>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t="-12439" r="37297" b="-1"/>
          <a:stretch>
            <a:fillRect/>
          </a:stretch>
        </p:blipFill>
        <p:spPr>
          <a:xfrm>
            <a:off x="10435782" y="191912"/>
            <a:ext cx="1360404" cy="507405"/>
          </a:xfrm>
          <a:prstGeom prst="rect">
            <a:avLst/>
          </a:prstGeom>
        </p:spPr>
      </p:pic>
      <p:sp>
        <p:nvSpPr>
          <p:cNvPr id="9" name="Text Box 5"/>
          <p:cNvSpPr txBox="1">
            <a:spLocks noChangeArrowheads="1"/>
          </p:cNvSpPr>
          <p:nvPr/>
        </p:nvSpPr>
        <p:spPr bwMode="auto">
          <a:xfrm>
            <a:off x="11576584" y="6561044"/>
            <a:ext cx="615416" cy="164212"/>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0210" fontAlgn="base">
              <a:spcBef>
                <a:spcPct val="50000"/>
              </a:spcBef>
              <a:spcAft>
                <a:spcPct val="0"/>
              </a:spcAft>
              <a:defRPr/>
            </a:pPr>
            <a:fld id="{046AD7C7-DE3F-5E43-A3A8-CA80750AE375}" type="slidenum">
              <a:rPr kumimoji="0" lang="en-US" altLang="zh-CN" sz="1065" kern="0" smtClean="0">
                <a:solidFill>
                  <a:prstClr val="white"/>
                </a:solidFill>
                <a:latin typeface="Arial" panose="020B0604020202090204"/>
                <a:cs typeface="Arial" panose="020B0604020202090204"/>
                <a:sym typeface="Helvetica Neue" panose="02000503000000020004"/>
              </a:rPr>
              <a:t>‹#›</a:t>
            </a:fld>
            <a:endParaRPr kumimoji="0" lang="en-US" altLang="zh-CN" sz="1065" kern="0" dirty="0">
              <a:solidFill>
                <a:prstClr val="white"/>
              </a:solidFill>
              <a:latin typeface="Arial" panose="020B0604020202090204"/>
              <a:cs typeface="Arial" panose="020B0604020202090204"/>
              <a:sym typeface="Helvetica Neue" panose="02000503000000020004"/>
            </a:endParaRPr>
          </a:p>
        </p:txBody>
      </p:sp>
      <p:sp>
        <p:nvSpPr>
          <p:cNvPr id="10" name="Text Box 2"/>
          <p:cNvSpPr txBox="1"/>
          <p:nvPr/>
        </p:nvSpPr>
        <p:spPr>
          <a:xfrm>
            <a:off x="9251148" y="6538682"/>
            <a:ext cx="2163235" cy="184668"/>
          </a:xfrm>
          <a:prstGeom prst="rect">
            <a:avLst/>
          </a:prstGeom>
          <a:ln w="12700">
            <a:miter lim="400000"/>
          </a:ln>
        </p:spPr>
        <p:txBody>
          <a:bodyPr lIns="8891" tIns="8891" rIns="8891" bIns="8891" anchor="ctr">
            <a:spAutoFit/>
          </a:bodyPr>
          <a:lstStyle/>
          <a:p>
            <a:pPr algn="r" defTabSz="608330">
              <a:lnSpc>
                <a:spcPts val="1335"/>
              </a:lnSpc>
              <a:defRPr sz="700">
                <a:solidFill>
                  <a:srgbClr val="FFFFFF">
                    <a:alpha val="50000"/>
                  </a:srgbClr>
                </a:solidFill>
                <a:latin typeface="微软雅黑"/>
                <a:ea typeface="微软雅黑"/>
                <a:cs typeface="微软雅黑"/>
                <a:sym typeface="微软雅黑"/>
              </a:defRPr>
            </a:pPr>
            <a:r>
              <a:rPr sz="935" dirty="0">
                <a:solidFill>
                  <a:prstClr val="white"/>
                </a:solidFill>
                <a:latin typeface="微软雅黑"/>
                <a:ea typeface="微软雅黑"/>
                <a:cs typeface="微软雅黑"/>
                <a:sym typeface="微软雅黑"/>
              </a:rPr>
              <a:t>① </a:t>
            </a:r>
            <a:r>
              <a:rPr sz="935" dirty="0" err="1">
                <a:solidFill>
                  <a:prstClr val="white"/>
                </a:solidFill>
                <a:latin typeface="微软雅黑"/>
                <a:ea typeface="微软雅黑"/>
                <a:cs typeface="微软雅黑"/>
                <a:sym typeface="微软雅黑"/>
              </a:rPr>
              <a:t>绝密信息</a:t>
            </a:r>
            <a:r>
              <a:rPr sz="935" dirty="0">
                <a:solidFill>
                  <a:prstClr val="white"/>
                </a:solidFill>
                <a:latin typeface="微软雅黑"/>
                <a:ea typeface="微软雅黑"/>
                <a:cs typeface="微软雅黑"/>
                <a:sym typeface="微软雅黑"/>
              </a:rPr>
              <a:t> </a:t>
            </a:r>
            <a:r>
              <a:rPr sz="935" dirty="0" err="1">
                <a:solidFill>
                  <a:prstClr val="white"/>
                </a:solidFill>
                <a:latin typeface="微软雅黑"/>
                <a:ea typeface="微软雅黑"/>
                <a:cs typeface="微软雅黑"/>
                <a:sym typeface="微软雅黑"/>
              </a:rPr>
              <a:t>严禁泄露</a:t>
            </a:r>
            <a:endParaRPr sz="935" dirty="0">
              <a:solidFill>
                <a:prstClr val="white"/>
              </a:solidFill>
              <a:latin typeface="微软雅黑"/>
              <a:ea typeface="微软雅黑"/>
              <a:cs typeface="微软雅黑"/>
              <a:sym typeface="微软雅黑"/>
            </a:endParaRPr>
          </a:p>
        </p:txBody>
      </p:sp>
    </p:spTree>
    <p:extLst>
      <p:ext uri="{BB962C8B-B14F-4D97-AF65-F5344CB8AC3E}">
        <p14:creationId xmlns:p14="http://schemas.microsoft.com/office/powerpoint/2010/main" val="1336726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xmln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524715692"/>
      </p:ext>
    </p:extLst>
  </p:cSld>
  <p:clrMap bg1="lt1" tx1="dk1" bg2="lt2" tx2="dk2" accent1="accent1" accent2="accent2" accent3="accent3" accent4="accent4" accent5="accent5" accent6="accent6" hlink="hlink" folHlink="folHlink"/>
  <p:sldLayoutIdLst>
    <p:sldLayoutId id="2147483706" r:id="rId1"/>
    <p:sldLayoutId id="2147483738"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40" r:id="rId11"/>
    <p:sldLayoutId id="2147483716" r:id="rId12"/>
    <p:sldLayoutId id="2147483739" r:id="rId13"/>
    <p:sldLayoutId id="2147483717" r:id="rId14"/>
    <p:sldLayoutId id="2147483741"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A9BE6C69-1AF1-2E8E-E25F-59A7C3E6C1F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3266"/>
            <a:ext cx="12192000" cy="6863804"/>
          </a:xfrm>
          <a:prstGeom prst="rect">
            <a:avLst/>
          </a:prstGeom>
          <a:blipFill>
            <a:blip r:embed="rId3"/>
            <a:tile tx="0" ty="0" sx="100000" sy="100000" flip="none" algn="tl"/>
          </a:blipFill>
        </p:spPr>
      </p:pic>
      <p:sp>
        <p:nvSpPr>
          <p:cNvPr id="6" name="Text Placeholder 4">
            <a:extLst>
              <a:ext uri="{FF2B5EF4-FFF2-40B4-BE49-F238E27FC236}">
                <a16:creationId xmlns:a16="http://schemas.microsoft.com/office/drawing/2014/main" id="{75A2D184-75BA-0DE4-F091-53CEAD482A8B}"/>
              </a:ext>
            </a:extLst>
          </p:cNvPr>
          <p:cNvSpPr txBox="1"/>
          <p:nvPr/>
        </p:nvSpPr>
        <p:spPr>
          <a:xfrm>
            <a:off x="8016241" y="4963160"/>
            <a:ext cx="2997200" cy="51585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lvl1pPr>
              <a:spcBef>
                <a:spcPts val="200"/>
              </a:spcBef>
              <a:defRPr sz="1000">
                <a:solidFill>
                  <a:srgbClr val="FFFFFF"/>
                </a:solidFill>
                <a:latin typeface="Microsoft YaHei"/>
                <a:ea typeface="Microsoft YaHei"/>
                <a:cs typeface="Microsoft YaHei"/>
                <a:sym typeface="Microsoft YaHei"/>
              </a:defRPr>
            </a:lvl1pPr>
          </a:lstStyle>
          <a:p>
            <a:pPr defTabSz="609523" hangingPunct="0">
              <a:lnSpc>
                <a:spcPct val="150000"/>
              </a:lnSpc>
            </a:pPr>
            <a:r>
              <a:rPr lang="zh-CN" altLang="en-US" sz="18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cs typeface="+mn-cs"/>
                <a:sym typeface=""/>
              </a:rPr>
              <a:t>金蝶软件（中国）有限公司</a:t>
            </a:r>
          </a:p>
        </p:txBody>
      </p:sp>
      <p:sp>
        <p:nvSpPr>
          <p:cNvPr id="7" name="Rectangle 21">
            <a:extLst>
              <a:ext uri="{FF2B5EF4-FFF2-40B4-BE49-F238E27FC236}">
                <a16:creationId xmlns:a16="http://schemas.microsoft.com/office/drawing/2014/main" id="{24DACA92-BC5F-0276-9A9C-6CD76960832D}"/>
              </a:ext>
            </a:extLst>
          </p:cNvPr>
          <p:cNvSpPr>
            <a:spLocks noChangeArrowheads="1"/>
          </p:cNvSpPr>
          <p:nvPr/>
        </p:nvSpPr>
        <p:spPr bwMode="auto">
          <a:xfrm>
            <a:off x="8234216" y="5461000"/>
            <a:ext cx="2522240" cy="515851"/>
          </a:xfrm>
          <a:prstGeom prst="rect">
            <a:avLst/>
          </a:prstGeom>
          <a:noFill/>
          <a:ln w="9525">
            <a:noFill/>
            <a:miter lim="800000"/>
          </a:ln>
        </p:spPr>
        <p:txBody>
          <a:bodyPr/>
          <a:lstStyle/>
          <a:p>
            <a:pPr marL="457189" indent="-457189" eaLnBrk="0" hangingPunct="0">
              <a:spcBef>
                <a:spcPct val="20000"/>
              </a:spcBef>
              <a:buClr>
                <a:srgbClr val="003399"/>
              </a:buClr>
              <a:buSzPct val="80000"/>
            </a:pPr>
            <a:fld id="{6057054C-BAD9-47E3-AE07-783BBE500545}" type="datetime2">
              <a:rPr lang="zh-CN" altLang="en-US" b="1">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rPr>
              <a:pPr marL="457189" indent="-457189" eaLnBrk="0" hangingPunct="0">
                <a:spcBef>
                  <a:spcPct val="20000"/>
                </a:spcBef>
                <a:buClr>
                  <a:srgbClr val="003399"/>
                </a:buClr>
                <a:buSzPct val="80000"/>
              </a:pPr>
              <a:t>2022年9月23日</a:t>
            </a:fld>
            <a:endParaRPr lang="zh-CN" altLang="en-US" sz="20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endParaRPr>
          </a:p>
        </p:txBody>
      </p:sp>
      <p:sp>
        <p:nvSpPr>
          <p:cNvPr id="8" name="Object 304">
            <a:extLst>
              <a:ext uri="{FF2B5EF4-FFF2-40B4-BE49-F238E27FC236}">
                <a16:creationId xmlns:a16="http://schemas.microsoft.com/office/drawing/2014/main" id="{D326C794-3D9F-C611-0177-61AA90A0C2C8}"/>
              </a:ext>
            </a:extLst>
          </p:cNvPr>
          <p:cNvSpPr txBox="1"/>
          <p:nvPr/>
        </p:nvSpPr>
        <p:spPr>
          <a:xfrm>
            <a:off x="579120" y="1935281"/>
            <a:ext cx="11318240" cy="2687519"/>
          </a:xfrm>
          <a:prstGeom prst="rect">
            <a:avLst/>
          </a:prstGeom>
        </p:spPr>
        <p:txBody>
          <a:bodyPr vert="horz" rtlCol="0" anchor="t" anchorCtr="0">
            <a:noAutofit/>
          </a:bodyPr>
          <a:lstStyle/>
          <a:p>
            <a:pPr algn="ctr" defTabSz="457043"/>
            <a:r>
              <a:rPr lang="zh-CN" altLang="en-US" sz="54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sym typeface=""/>
              </a:rPr>
              <a:t>非常感谢</a:t>
            </a:r>
            <a:r>
              <a:rPr lang="en-US" altLang="zh-CN" sz="54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sym typeface=""/>
              </a:rPr>
              <a:t>XXX</a:t>
            </a:r>
            <a:r>
              <a:rPr lang="zh-CN" altLang="en-US" sz="54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sym typeface=""/>
              </a:rPr>
              <a:t>集团</a:t>
            </a:r>
            <a:endParaRPr lang="en-US" altLang="zh-CN" sz="54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sym typeface=""/>
            </a:endParaRPr>
          </a:p>
          <a:p>
            <a:pPr algn="ctr" defTabSz="457043"/>
            <a:r>
              <a:rPr lang="zh-CN" altLang="en-US" sz="54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sym typeface=""/>
              </a:rPr>
              <a:t>各位领导和同事对金蝶的信任和支持！</a:t>
            </a:r>
            <a:endParaRPr lang="en-US" altLang="zh-CN" sz="54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sym typeface=""/>
            </a:endParaRPr>
          </a:p>
        </p:txBody>
      </p:sp>
      <p:sp>
        <p:nvSpPr>
          <p:cNvPr id="11" name="íSľïdê">
            <a:extLst>
              <a:ext uri="{FF2B5EF4-FFF2-40B4-BE49-F238E27FC236}">
                <a16:creationId xmlns:a16="http://schemas.microsoft.com/office/drawing/2014/main" id="{BA35AB38-C040-5556-8465-4DBAA9CA83EF}"/>
              </a:ext>
            </a:extLst>
          </p:cNvPr>
          <p:cNvSpPr txBox="1"/>
          <p:nvPr/>
        </p:nvSpPr>
        <p:spPr>
          <a:xfrm>
            <a:off x="264160" y="96657"/>
            <a:ext cx="3129280" cy="728339"/>
          </a:xfrm>
          <a:prstGeom prst="rect">
            <a:avLst/>
          </a:prstGeom>
          <a:noFill/>
        </p:spPr>
        <p:txBody>
          <a:bodyPr wrap="none" lIns="67500" tIns="35100" rIns="67500" bIns="35100" anchor="b" anchorCtr="0">
            <a:noAutofit/>
          </a:bodyPr>
          <a:lstStyle>
            <a:defPPr>
              <a:defRPr lang="zh-CN"/>
            </a:defPPr>
            <a:lvl1pPr fontAlgn="auto">
              <a:spcAft>
                <a:spcPts val="0"/>
              </a:spcAft>
              <a:defRPr kumimoji="0" sz="1600" b="1">
                <a:solidFill>
                  <a:schemeClr val="bg1"/>
                </a:solidFill>
                <a:latin typeface="Arial"/>
                <a:ea typeface="微软雅黑"/>
              </a:defRPr>
            </a:lvl1pPr>
          </a:lstStyle>
          <a:p>
            <a:r>
              <a:rPr lang="zh-CN" altLang="en-US" sz="4000" dirty="0">
                <a:latin typeface="黑体" panose="02010609060101010101" pitchFamily="49" charset="-122"/>
                <a:ea typeface="黑体" panose="02010609060101010101" pitchFamily="49" charset="-122"/>
                <a:sym typeface=""/>
              </a:rPr>
              <a:t>客户</a:t>
            </a:r>
            <a:r>
              <a:rPr lang="en-US" altLang="zh-CN" sz="4000" dirty="0">
                <a:latin typeface="黑体" panose="02010609060101010101" pitchFamily="49" charset="-122"/>
                <a:ea typeface="黑体" panose="02010609060101010101" pitchFamily="49" charset="-122"/>
                <a:sym typeface=""/>
              </a:rPr>
              <a:t>LOGO</a:t>
            </a:r>
            <a:r>
              <a:rPr lang="zh-CN" altLang="en-US" sz="4000" dirty="0">
                <a:latin typeface="黑体" panose="02010609060101010101" pitchFamily="49" charset="-122"/>
                <a:ea typeface="黑体" panose="02010609060101010101" pitchFamily="49" charset="-122"/>
                <a:sym typeface=""/>
              </a:rPr>
              <a:t>贴图</a:t>
            </a:r>
            <a:endParaRPr lang="en-US" altLang="zh-CN" sz="4000" dirty="0">
              <a:latin typeface="黑体" panose="02010609060101010101" pitchFamily="49" charset="-122"/>
              <a:ea typeface="黑体" panose="02010609060101010101" pitchFamily="49" charset="-122"/>
              <a:sym typeface=""/>
            </a:endParaRPr>
          </a:p>
        </p:txBody>
      </p:sp>
      <p:pic>
        <p:nvPicPr>
          <p:cNvPr id="14" name="图片 13">
            <a:extLst>
              <a:ext uri="{FF2B5EF4-FFF2-40B4-BE49-F238E27FC236}">
                <a16:creationId xmlns:a16="http://schemas.microsoft.com/office/drawing/2014/main" id="{4C9EE6E4-89EB-1809-214E-180049E3A5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07249" y="157618"/>
            <a:ext cx="2082967" cy="934383"/>
          </a:xfrm>
          <a:prstGeom prst="rect">
            <a:avLst/>
          </a:prstGeom>
        </p:spPr>
      </p:pic>
    </p:spTree>
    <p:extLst>
      <p:ext uri="{BB962C8B-B14F-4D97-AF65-F5344CB8AC3E}">
        <p14:creationId xmlns:p14="http://schemas.microsoft.com/office/powerpoint/2010/main" val="27612262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6DD73-E2B1-2550-E9E7-9AF78070DFDD}"/>
              </a:ext>
            </a:extLst>
          </p:cNvPr>
          <p:cNvSpPr>
            <a:spLocks noGrp="1"/>
          </p:cNvSpPr>
          <p:nvPr>
            <p:ph type="title"/>
          </p:nvPr>
        </p:nvSpPr>
        <p:spPr/>
        <p:txBody>
          <a:bodyPr>
            <a:normAutofit/>
          </a:bodyPr>
          <a:lstStyle/>
          <a:p>
            <a:pPr algn="ctr" defTabSz="1625519" fontAlgn="base">
              <a:spcAft>
                <a:spcPct val="0"/>
              </a:spcAft>
              <a:defRPr/>
            </a:pPr>
            <a:r>
              <a:rPr lang="en-US" altLang="zh-CN" dirty="0">
                <a:solidFill>
                  <a:srgbClr val="FFFFFF"/>
                </a:solidFill>
                <a:latin typeface=""/>
                <a:ea typeface="微软雅黑" panose="020B0503020204020204" pitchFamily="34" charset="-122"/>
                <a:cs typeface="+mn-ea"/>
                <a:sym typeface=""/>
              </a:rPr>
              <a:t>XXX</a:t>
            </a:r>
            <a:r>
              <a:rPr lang="zh-CN" altLang="en-US" dirty="0">
                <a:solidFill>
                  <a:srgbClr val="FFFFFF"/>
                </a:solidFill>
                <a:latin typeface=""/>
                <a:ea typeface="微软雅黑" panose="020B0503020204020204" pitchFamily="34" charset="-122"/>
                <a:cs typeface="+mn-ea"/>
                <a:sym typeface=""/>
              </a:rPr>
              <a:t>项目</a:t>
            </a:r>
            <a:r>
              <a:rPr lang="zh-CN" altLang="en-US" sz="5400" dirty="0">
                <a:solidFill>
                  <a:srgbClr val="FFFFFF"/>
                </a:solidFill>
                <a:latin typeface=""/>
                <a:ea typeface="微软雅黑" panose="020B0503020204020204" pitchFamily="34" charset="-122"/>
                <a:cs typeface="+mn-ea"/>
                <a:sym typeface=""/>
              </a:rPr>
              <a:t>验收汇报会</a:t>
            </a:r>
            <a:endParaRPr kumimoji="1" lang="zh-CN" altLang="en-US" dirty="0"/>
          </a:p>
        </p:txBody>
      </p:sp>
      <p:sp>
        <p:nvSpPr>
          <p:cNvPr id="4" name="内容占位符 3">
            <a:extLst>
              <a:ext uri="{FF2B5EF4-FFF2-40B4-BE49-F238E27FC236}">
                <a16:creationId xmlns:a16="http://schemas.microsoft.com/office/drawing/2014/main" id="{808DB0A7-C6D0-935D-ACB8-13514CBD412C}"/>
              </a:ext>
            </a:extLst>
          </p:cNvPr>
          <p:cNvSpPr>
            <a:spLocks noGrp="1"/>
          </p:cNvSpPr>
          <p:nvPr>
            <p:ph sz="quarter" idx="13"/>
          </p:nvPr>
        </p:nvSpPr>
        <p:spPr/>
        <p:txBody>
          <a:bodyPr/>
          <a:lstStyle/>
          <a:p>
            <a:r>
              <a:rPr kumimoji="1" lang="en-US" altLang="zh-CN" dirty="0"/>
              <a:t>XXX</a:t>
            </a:r>
            <a:r>
              <a:rPr kumimoji="1" lang="zh-CN" altLang="en-US" dirty="0"/>
              <a:t>项目组</a:t>
            </a:r>
          </a:p>
        </p:txBody>
      </p:sp>
      <p:sp>
        <p:nvSpPr>
          <p:cNvPr id="5" name="内容占位符 4">
            <a:extLst>
              <a:ext uri="{FF2B5EF4-FFF2-40B4-BE49-F238E27FC236}">
                <a16:creationId xmlns:a16="http://schemas.microsoft.com/office/drawing/2014/main" id="{4ADF0AE7-BD71-E982-EFD5-63AC5F0DA860}"/>
              </a:ext>
            </a:extLst>
          </p:cNvPr>
          <p:cNvSpPr>
            <a:spLocks noGrp="1"/>
          </p:cNvSpPr>
          <p:nvPr>
            <p:ph sz="quarter" idx="14"/>
          </p:nvPr>
        </p:nvSpPr>
        <p:spPr>
          <a:xfrm>
            <a:off x="832714" y="5667554"/>
            <a:ext cx="2750820" cy="432700"/>
          </a:xfrm>
        </p:spPr>
        <p:txBody>
          <a:bodyPr/>
          <a:lstStyle/>
          <a:p>
            <a:fld id="{6057054C-BAD9-47E3-AE07-783BBE500545}" type="datetime2">
              <a:rPr lang="zh-CN" altLang="en-US" sz="1800" b="1" smtClean="0">
                <a:latin typeface="微软雅黑" panose="020B0503020204020204" pitchFamily="34" charset="-122"/>
                <a:ea typeface="微软雅黑" panose="020B0503020204020204" pitchFamily="34" charset="-122"/>
              </a:rPr>
              <a:pPr/>
              <a:t>2022年9月23日</a:t>
            </a:fld>
            <a:endParaRPr kumimoji="1" lang="zh-CN" altLang="en-US" sz="1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98295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8F00CF-CFD1-0751-A8EB-FF9961445707}"/>
              </a:ext>
            </a:extLst>
          </p:cNvPr>
          <p:cNvSpPr>
            <a:spLocks noGrp="1"/>
          </p:cNvSpPr>
          <p:nvPr>
            <p:ph type="body" sz="quarter" idx="13"/>
          </p:nvPr>
        </p:nvSpPr>
        <p:spPr>
          <a:xfrm>
            <a:off x="2105195" y="2149362"/>
            <a:ext cx="1052336" cy="751494"/>
          </a:xfrm>
        </p:spPr>
        <p:txBody>
          <a:bodyPr/>
          <a:lstStyle/>
          <a:p>
            <a:r>
              <a:rPr kumimoji="1" lang="en-US" altLang="zh-CN" dirty="0"/>
              <a:t>02</a:t>
            </a:r>
            <a:endParaRPr kumimoji="1" lang="zh-CN" altLang="en-US" dirty="0"/>
          </a:p>
        </p:txBody>
      </p:sp>
      <p:sp>
        <p:nvSpPr>
          <p:cNvPr id="3" name="文本占位符 2">
            <a:extLst>
              <a:ext uri="{FF2B5EF4-FFF2-40B4-BE49-F238E27FC236}">
                <a16:creationId xmlns:a16="http://schemas.microsoft.com/office/drawing/2014/main" id="{A739CF3D-F6D2-0263-897C-74CF099AF2EB}"/>
              </a:ext>
            </a:extLst>
          </p:cNvPr>
          <p:cNvSpPr>
            <a:spLocks noGrp="1"/>
          </p:cNvSpPr>
          <p:nvPr>
            <p:ph type="body" sz="quarter" idx="14"/>
          </p:nvPr>
        </p:nvSpPr>
        <p:spPr>
          <a:xfrm>
            <a:off x="2105195" y="3229509"/>
            <a:ext cx="1052336" cy="673771"/>
          </a:xfrm>
        </p:spPr>
        <p:txBody>
          <a:bodyPr/>
          <a:lstStyle/>
          <a:p>
            <a:r>
              <a:rPr kumimoji="1" lang="en-US" altLang="zh-CN" dirty="0"/>
              <a:t>03</a:t>
            </a:r>
            <a:endParaRPr kumimoji="1" lang="zh-CN" altLang="en-US" dirty="0"/>
          </a:p>
        </p:txBody>
      </p:sp>
      <p:sp>
        <p:nvSpPr>
          <p:cNvPr id="4" name="文本占位符 3">
            <a:extLst>
              <a:ext uri="{FF2B5EF4-FFF2-40B4-BE49-F238E27FC236}">
                <a16:creationId xmlns:a16="http://schemas.microsoft.com/office/drawing/2014/main" id="{40D7765B-4090-10B9-1329-24F62C6CB1E7}"/>
              </a:ext>
            </a:extLst>
          </p:cNvPr>
          <p:cNvSpPr>
            <a:spLocks noGrp="1"/>
          </p:cNvSpPr>
          <p:nvPr>
            <p:ph type="body" sz="quarter" idx="15"/>
          </p:nvPr>
        </p:nvSpPr>
        <p:spPr>
          <a:xfrm>
            <a:off x="3568247" y="1283723"/>
            <a:ext cx="6602906" cy="379030"/>
          </a:xfrm>
        </p:spPr>
        <p:txBody>
          <a:bodyPr/>
          <a:lstStyle/>
          <a:p>
            <a:r>
              <a:rPr kumimoji="1" lang="zh-CN" altLang="en-US" dirty="0"/>
              <a:t>项目总体概况   </a:t>
            </a:r>
          </a:p>
        </p:txBody>
      </p:sp>
      <p:sp>
        <p:nvSpPr>
          <p:cNvPr id="8" name="文本占位符 7">
            <a:extLst>
              <a:ext uri="{FF2B5EF4-FFF2-40B4-BE49-F238E27FC236}">
                <a16:creationId xmlns:a16="http://schemas.microsoft.com/office/drawing/2014/main" id="{163BBB24-2564-F8A5-9459-6755C8382EF3}"/>
              </a:ext>
            </a:extLst>
          </p:cNvPr>
          <p:cNvSpPr>
            <a:spLocks noGrp="1"/>
          </p:cNvSpPr>
          <p:nvPr>
            <p:ph type="body" sz="quarter" idx="21"/>
          </p:nvPr>
        </p:nvSpPr>
        <p:spPr>
          <a:xfrm>
            <a:off x="2105195" y="4296746"/>
            <a:ext cx="1052336" cy="673771"/>
          </a:xfrm>
        </p:spPr>
        <p:txBody>
          <a:bodyPr/>
          <a:lstStyle/>
          <a:p>
            <a:r>
              <a:rPr kumimoji="1" lang="en-US" altLang="zh-CN" dirty="0"/>
              <a:t>04</a:t>
            </a:r>
            <a:endParaRPr kumimoji="1" lang="zh-CN" altLang="en-US" dirty="0"/>
          </a:p>
        </p:txBody>
      </p:sp>
      <p:sp>
        <p:nvSpPr>
          <p:cNvPr id="14" name="文本占位符 13">
            <a:extLst>
              <a:ext uri="{FF2B5EF4-FFF2-40B4-BE49-F238E27FC236}">
                <a16:creationId xmlns:a16="http://schemas.microsoft.com/office/drawing/2014/main" id="{3D4B8A63-3E0F-73AC-E623-4AF09BCC00BA}"/>
              </a:ext>
            </a:extLst>
          </p:cNvPr>
          <p:cNvSpPr>
            <a:spLocks noGrp="1"/>
          </p:cNvSpPr>
          <p:nvPr>
            <p:ph type="body" sz="quarter" idx="28"/>
          </p:nvPr>
        </p:nvSpPr>
        <p:spPr/>
        <p:txBody>
          <a:bodyPr/>
          <a:lstStyle/>
          <a:p>
            <a:r>
              <a:rPr kumimoji="1" lang="zh-CN" altLang="en-US" dirty="0"/>
              <a:t> </a:t>
            </a:r>
          </a:p>
        </p:txBody>
      </p:sp>
      <p:sp>
        <p:nvSpPr>
          <p:cNvPr id="15" name="文本占位符 14">
            <a:extLst>
              <a:ext uri="{FF2B5EF4-FFF2-40B4-BE49-F238E27FC236}">
                <a16:creationId xmlns:a16="http://schemas.microsoft.com/office/drawing/2014/main" id="{988FAE3E-2302-607C-ACD3-CA1101150A56}"/>
              </a:ext>
            </a:extLst>
          </p:cNvPr>
          <p:cNvSpPr>
            <a:spLocks noGrp="1"/>
          </p:cNvSpPr>
          <p:nvPr>
            <p:ph type="body" sz="quarter" idx="29"/>
          </p:nvPr>
        </p:nvSpPr>
        <p:spPr>
          <a:xfrm>
            <a:off x="3568247" y="2362262"/>
            <a:ext cx="6602906" cy="410834"/>
          </a:xfrm>
        </p:spPr>
        <p:txBody>
          <a:bodyPr/>
          <a:lstStyle/>
          <a:p>
            <a:r>
              <a:rPr kumimoji="1" lang="zh-CN" altLang="en-US" dirty="0"/>
              <a:t>项目实现情况</a:t>
            </a:r>
          </a:p>
        </p:txBody>
      </p:sp>
      <p:sp>
        <p:nvSpPr>
          <p:cNvPr id="16" name="文本占位符 15">
            <a:extLst>
              <a:ext uri="{FF2B5EF4-FFF2-40B4-BE49-F238E27FC236}">
                <a16:creationId xmlns:a16="http://schemas.microsoft.com/office/drawing/2014/main" id="{E78D31F7-B2B8-BBFB-A42D-57E01A2970E2}"/>
              </a:ext>
            </a:extLst>
          </p:cNvPr>
          <p:cNvSpPr>
            <a:spLocks noGrp="1"/>
          </p:cNvSpPr>
          <p:nvPr>
            <p:ph type="body" sz="quarter" idx="30"/>
          </p:nvPr>
        </p:nvSpPr>
        <p:spPr>
          <a:xfrm>
            <a:off x="3568247" y="3439947"/>
            <a:ext cx="6602906" cy="410834"/>
          </a:xfrm>
        </p:spPr>
        <p:txBody>
          <a:bodyPr/>
          <a:lstStyle/>
          <a:p>
            <a:r>
              <a:rPr kumimoji="1" lang="zh-CN" altLang="en-US" dirty="0"/>
              <a:t>项目应用亮点</a:t>
            </a:r>
          </a:p>
        </p:txBody>
      </p:sp>
      <p:sp>
        <p:nvSpPr>
          <p:cNvPr id="17" name="文本占位符 16">
            <a:extLst>
              <a:ext uri="{FF2B5EF4-FFF2-40B4-BE49-F238E27FC236}">
                <a16:creationId xmlns:a16="http://schemas.microsoft.com/office/drawing/2014/main" id="{EBB1667E-610D-4D10-8CD0-F2D2741EBDB4}"/>
              </a:ext>
            </a:extLst>
          </p:cNvPr>
          <p:cNvSpPr>
            <a:spLocks noGrp="1"/>
          </p:cNvSpPr>
          <p:nvPr>
            <p:ph type="body" sz="quarter" idx="31"/>
          </p:nvPr>
        </p:nvSpPr>
        <p:spPr>
          <a:xfrm>
            <a:off x="3568247" y="4501304"/>
            <a:ext cx="6602906" cy="410834"/>
          </a:xfrm>
        </p:spPr>
        <p:txBody>
          <a:bodyPr/>
          <a:lstStyle/>
          <a:p>
            <a:r>
              <a:rPr kumimoji="1" lang="zh-CN" altLang="en-US" dirty="0"/>
              <a:t>项目业务价值</a:t>
            </a:r>
          </a:p>
        </p:txBody>
      </p:sp>
      <p:sp>
        <p:nvSpPr>
          <p:cNvPr id="18" name="标题 17">
            <a:extLst>
              <a:ext uri="{FF2B5EF4-FFF2-40B4-BE49-F238E27FC236}">
                <a16:creationId xmlns:a16="http://schemas.microsoft.com/office/drawing/2014/main" id="{BD74895B-0E66-78F8-5510-1092EBDE1F27}"/>
              </a:ext>
            </a:extLst>
          </p:cNvPr>
          <p:cNvSpPr>
            <a:spLocks noGrp="1"/>
          </p:cNvSpPr>
          <p:nvPr>
            <p:ph type="title"/>
          </p:nvPr>
        </p:nvSpPr>
        <p:spPr/>
        <p:txBody>
          <a:bodyPr/>
          <a:lstStyle/>
          <a:p>
            <a:r>
              <a:rPr kumimoji="1" lang="zh-CN" altLang="en-US" dirty="0"/>
              <a:t>目 录</a:t>
            </a:r>
          </a:p>
        </p:txBody>
      </p:sp>
      <p:sp>
        <p:nvSpPr>
          <p:cNvPr id="19" name="文本占位符 18">
            <a:extLst>
              <a:ext uri="{FF2B5EF4-FFF2-40B4-BE49-F238E27FC236}">
                <a16:creationId xmlns:a16="http://schemas.microsoft.com/office/drawing/2014/main" id="{2DC6E9CD-63A7-9871-3E6A-C6F54492A7B0}"/>
              </a:ext>
            </a:extLst>
          </p:cNvPr>
          <p:cNvSpPr>
            <a:spLocks noGrp="1"/>
          </p:cNvSpPr>
          <p:nvPr>
            <p:ph type="body" sz="quarter" idx="32"/>
          </p:nvPr>
        </p:nvSpPr>
        <p:spPr>
          <a:xfrm>
            <a:off x="2088866" y="990034"/>
            <a:ext cx="1052336" cy="830674"/>
          </a:xfrm>
        </p:spPr>
        <p:txBody>
          <a:bodyPr/>
          <a:lstStyle/>
          <a:p>
            <a:r>
              <a:rPr kumimoji="1" lang="en-US" altLang="zh-CN" dirty="0"/>
              <a:t>01</a:t>
            </a:r>
            <a:endParaRPr kumimoji="1" lang="zh-CN" altLang="en-US" dirty="0"/>
          </a:p>
        </p:txBody>
      </p:sp>
      <p:sp>
        <p:nvSpPr>
          <p:cNvPr id="20" name="文本占位符 7">
            <a:extLst>
              <a:ext uri="{FF2B5EF4-FFF2-40B4-BE49-F238E27FC236}">
                <a16:creationId xmlns:a16="http://schemas.microsoft.com/office/drawing/2014/main" id="{322BB079-40ED-F291-8E26-5197DCC4B051}"/>
              </a:ext>
            </a:extLst>
          </p:cNvPr>
          <p:cNvSpPr txBox="1">
            <a:spLocks/>
          </p:cNvSpPr>
          <p:nvPr/>
        </p:nvSpPr>
        <p:spPr>
          <a:xfrm>
            <a:off x="2115355" y="5241626"/>
            <a:ext cx="1052336" cy="67377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54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t>05</a:t>
            </a:r>
            <a:endParaRPr kumimoji="1" lang="zh-CN" altLang="en-US" dirty="0"/>
          </a:p>
        </p:txBody>
      </p:sp>
      <p:sp>
        <p:nvSpPr>
          <p:cNvPr id="21" name="文本占位符 16">
            <a:extLst>
              <a:ext uri="{FF2B5EF4-FFF2-40B4-BE49-F238E27FC236}">
                <a16:creationId xmlns:a16="http://schemas.microsoft.com/office/drawing/2014/main" id="{E7B4C189-1927-E710-4D6D-108A85607526}"/>
              </a:ext>
            </a:extLst>
          </p:cNvPr>
          <p:cNvSpPr txBox="1">
            <a:spLocks/>
          </p:cNvSpPr>
          <p:nvPr/>
        </p:nvSpPr>
        <p:spPr>
          <a:xfrm>
            <a:off x="3578407" y="5446184"/>
            <a:ext cx="6602906" cy="41083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t>感谢与展望</a:t>
            </a:r>
          </a:p>
        </p:txBody>
      </p:sp>
    </p:spTree>
    <p:extLst>
      <p:ext uri="{BB962C8B-B14F-4D97-AF65-F5344CB8AC3E}">
        <p14:creationId xmlns:p14="http://schemas.microsoft.com/office/powerpoint/2010/main" val="25957175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C66C-21A5-6F49-188E-ECB5769279E3}"/>
              </a:ext>
            </a:extLst>
          </p:cNvPr>
          <p:cNvSpPr>
            <a:spLocks noGrp="1"/>
          </p:cNvSpPr>
          <p:nvPr>
            <p:ph type="title"/>
          </p:nvPr>
        </p:nvSpPr>
        <p:spPr>
          <a:xfrm>
            <a:off x="472054" y="2705628"/>
            <a:ext cx="9939958" cy="609812"/>
          </a:xfrm>
        </p:spPr>
        <p:txBody>
          <a:bodyPr/>
          <a:lstStyle/>
          <a:p>
            <a:r>
              <a:rPr lang="zh-CN" altLang="en-US" dirty="0"/>
              <a:t>项目总体概况</a:t>
            </a:r>
            <a:endParaRPr lang="en-CN" dirty="0"/>
          </a:p>
        </p:txBody>
      </p:sp>
    </p:spTree>
    <p:extLst>
      <p:ext uri="{BB962C8B-B14F-4D97-AF65-F5344CB8AC3E}">
        <p14:creationId xmlns:p14="http://schemas.microsoft.com/office/powerpoint/2010/main" val="30225235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项目业务架构规划</a:t>
            </a:r>
            <a:br>
              <a:rPr kumimoji="1" lang="zh-CN" altLang="en-US" dirty="0"/>
            </a:br>
            <a:endParaRPr kumimoji="1" lang="zh-CN" altLang="en-US" dirty="0"/>
          </a:p>
        </p:txBody>
      </p:sp>
      <p:sp>
        <p:nvSpPr>
          <p:cNvPr id="7" name="文本框 6">
            <a:extLst>
              <a:ext uri="{FF2B5EF4-FFF2-40B4-BE49-F238E27FC236}">
                <a16:creationId xmlns:a16="http://schemas.microsoft.com/office/drawing/2014/main" id="{C5232B61-BC11-A4A7-694E-2C3B7EFFDD90}"/>
              </a:ext>
            </a:extLst>
          </p:cNvPr>
          <p:cNvSpPr txBox="1"/>
          <p:nvPr/>
        </p:nvSpPr>
        <p:spPr>
          <a:xfrm>
            <a:off x="4406899" y="3244334"/>
            <a:ext cx="3883025" cy="369332"/>
          </a:xfrm>
          <a:prstGeom prst="rect">
            <a:avLst/>
          </a:prstGeom>
          <a:noFill/>
        </p:spPr>
        <p:txBody>
          <a:bodyPr wrap="square">
            <a:spAutoFit/>
          </a:bodyPr>
          <a:lstStyle/>
          <a:p>
            <a:pPr algn="ctr"/>
            <a:r>
              <a:rPr lang="zh-CN" altLang="en-US" b="1" kern="0" dirty="0">
                <a:solidFill>
                  <a:schemeClr val="tx1"/>
                </a:solidFill>
                <a:latin typeface="微软雅黑" panose="020B0503020204020204" pitchFamily="34" charset="-122"/>
                <a:ea typeface="微软雅黑" panose="020B0503020204020204" pitchFamily="34" charset="-122"/>
              </a:rPr>
              <a:t>本页张贴项目业务规划图</a:t>
            </a:r>
          </a:p>
        </p:txBody>
      </p:sp>
    </p:spTree>
    <p:extLst>
      <p:ext uri="{BB962C8B-B14F-4D97-AF65-F5344CB8AC3E}">
        <p14:creationId xmlns:p14="http://schemas.microsoft.com/office/powerpoint/2010/main" val="161874702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业务痛点分析</a:t>
            </a:r>
            <a:br>
              <a:rPr kumimoji="1" lang="zh-CN" altLang="en-US" dirty="0"/>
            </a:br>
            <a:endParaRPr kumimoji="1" lang="zh-CN" altLang="en-US" dirty="0"/>
          </a:p>
        </p:txBody>
      </p:sp>
      <p:sp>
        <p:nvSpPr>
          <p:cNvPr id="5" name="文本框 4">
            <a:extLst>
              <a:ext uri="{FF2B5EF4-FFF2-40B4-BE49-F238E27FC236}">
                <a16:creationId xmlns:a16="http://schemas.microsoft.com/office/drawing/2014/main" id="{84E630FC-510A-E27F-E756-FE87A06121C2}"/>
              </a:ext>
            </a:extLst>
          </p:cNvPr>
          <p:cNvSpPr txBox="1"/>
          <p:nvPr/>
        </p:nvSpPr>
        <p:spPr>
          <a:xfrm>
            <a:off x="4406899" y="3244334"/>
            <a:ext cx="3883025" cy="369332"/>
          </a:xfrm>
          <a:prstGeom prst="rect">
            <a:avLst/>
          </a:prstGeom>
          <a:noFill/>
        </p:spPr>
        <p:txBody>
          <a:bodyPr wrap="square">
            <a:spAutoFit/>
          </a:bodyPr>
          <a:lstStyle/>
          <a:p>
            <a:pPr algn="ctr"/>
            <a:r>
              <a:rPr lang="zh-CN" altLang="en-US" b="1" kern="0" dirty="0">
                <a:solidFill>
                  <a:schemeClr val="tx1"/>
                </a:solidFill>
                <a:latin typeface="微软雅黑" panose="020B0503020204020204" pitchFamily="34" charset="-122"/>
                <a:ea typeface="微软雅黑" panose="020B0503020204020204" pitchFamily="34" charset="-122"/>
              </a:rPr>
              <a:t>本页分析客户的业务痛点</a:t>
            </a:r>
          </a:p>
        </p:txBody>
      </p:sp>
    </p:spTree>
    <p:extLst>
      <p:ext uri="{BB962C8B-B14F-4D97-AF65-F5344CB8AC3E}">
        <p14:creationId xmlns:p14="http://schemas.microsoft.com/office/powerpoint/2010/main" val="11207844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项目业务目标</a:t>
            </a:r>
          </a:p>
        </p:txBody>
      </p:sp>
      <p:sp>
        <p:nvSpPr>
          <p:cNvPr id="4" name="文本框 3">
            <a:extLst>
              <a:ext uri="{FF2B5EF4-FFF2-40B4-BE49-F238E27FC236}">
                <a16:creationId xmlns:a16="http://schemas.microsoft.com/office/drawing/2014/main" id="{481DB8FA-8EB4-7B74-99F5-0ED401CEEF78}"/>
              </a:ext>
            </a:extLst>
          </p:cNvPr>
          <p:cNvSpPr txBox="1"/>
          <p:nvPr/>
        </p:nvSpPr>
        <p:spPr>
          <a:xfrm>
            <a:off x="4406899" y="3244334"/>
            <a:ext cx="3883025" cy="369332"/>
          </a:xfrm>
          <a:prstGeom prst="rect">
            <a:avLst/>
          </a:prstGeom>
          <a:noFill/>
        </p:spPr>
        <p:txBody>
          <a:bodyPr wrap="square">
            <a:spAutoFit/>
          </a:bodyPr>
          <a:lstStyle/>
          <a:p>
            <a:pPr algn="ctr"/>
            <a:r>
              <a:rPr lang="zh-CN" altLang="en-US" b="1" kern="0" dirty="0">
                <a:solidFill>
                  <a:schemeClr val="tx1"/>
                </a:solidFill>
                <a:latin typeface="微软雅黑" panose="020B0503020204020204" pitchFamily="34" charset="-122"/>
                <a:ea typeface="微软雅黑" panose="020B0503020204020204" pitchFamily="34" charset="-122"/>
              </a:rPr>
              <a:t>本页列举业务目标</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项目交付范围</a:t>
            </a:r>
          </a:p>
        </p:txBody>
      </p:sp>
      <p:sp>
        <p:nvSpPr>
          <p:cNvPr id="4" name="文本框 3">
            <a:extLst>
              <a:ext uri="{FF2B5EF4-FFF2-40B4-BE49-F238E27FC236}">
                <a16:creationId xmlns:a16="http://schemas.microsoft.com/office/drawing/2014/main" id="{D4B530FA-5B64-6D3D-DFEE-BF998C6F20A7}"/>
              </a:ext>
            </a:extLst>
          </p:cNvPr>
          <p:cNvSpPr txBox="1"/>
          <p:nvPr/>
        </p:nvSpPr>
        <p:spPr>
          <a:xfrm>
            <a:off x="4406899" y="3244334"/>
            <a:ext cx="3883025" cy="369332"/>
          </a:xfrm>
          <a:prstGeom prst="rect">
            <a:avLst/>
          </a:prstGeom>
          <a:noFill/>
        </p:spPr>
        <p:txBody>
          <a:bodyPr wrap="square">
            <a:spAutoFit/>
          </a:bodyPr>
          <a:lstStyle/>
          <a:p>
            <a:pPr algn="ctr"/>
            <a:r>
              <a:rPr lang="zh-CN" altLang="en-US" b="1" kern="0" dirty="0">
                <a:solidFill>
                  <a:schemeClr val="tx1"/>
                </a:solidFill>
                <a:latin typeface="微软雅黑" panose="020B0503020204020204" pitchFamily="34" charset="-122"/>
                <a:ea typeface="微软雅黑" panose="020B0503020204020204" pitchFamily="34" charset="-122"/>
              </a:rPr>
              <a:t>本页列举</a:t>
            </a:r>
            <a:r>
              <a:rPr lang="en-US" altLang="zh-CN" b="1" kern="0" dirty="0">
                <a:solidFill>
                  <a:schemeClr val="tx1"/>
                </a:solidFill>
                <a:latin typeface="微软雅黑" panose="020B0503020204020204" pitchFamily="34" charset="-122"/>
                <a:ea typeface="微软雅黑" panose="020B0503020204020204" pitchFamily="34" charset="-122"/>
              </a:rPr>
              <a:t>SOW</a:t>
            </a:r>
            <a:r>
              <a:rPr lang="zh-CN" altLang="en-US" b="1" kern="0" dirty="0">
                <a:solidFill>
                  <a:schemeClr val="tx1"/>
                </a:solidFill>
                <a:latin typeface="微软雅黑" panose="020B0503020204020204" pitchFamily="34" charset="-122"/>
                <a:ea typeface="微软雅黑" panose="020B0503020204020204" pitchFamily="34" charset="-122"/>
              </a:rPr>
              <a:t>范围</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142A68-A769-032E-FDFF-951BB7B19356}"/>
              </a:ext>
            </a:extLst>
          </p:cNvPr>
          <p:cNvSpPr>
            <a:spLocks noGrp="1"/>
          </p:cNvSpPr>
          <p:nvPr>
            <p:ph type="title"/>
          </p:nvPr>
        </p:nvSpPr>
        <p:spPr/>
        <p:txBody>
          <a:bodyPr/>
          <a:lstStyle/>
          <a:p>
            <a:r>
              <a:rPr lang="zh-CN" altLang="en-US" dirty="0"/>
              <a:t>项目实现情况</a:t>
            </a:r>
            <a:endParaRPr kumimoji="1" lang="zh-CN" altLang="en-US" dirty="0"/>
          </a:p>
        </p:txBody>
      </p:sp>
    </p:spTree>
    <p:extLst>
      <p:ext uri="{BB962C8B-B14F-4D97-AF65-F5344CB8AC3E}">
        <p14:creationId xmlns:p14="http://schemas.microsoft.com/office/powerpoint/2010/main" val="27945287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蓝图方案</a:t>
            </a:r>
            <a:endParaRPr lang="zh-CN" altLang="en-US" sz="2400" dirty="0">
              <a:solidFill>
                <a:srgbClr val="FF0000"/>
              </a:solidFill>
            </a:endParaRPr>
          </a:p>
        </p:txBody>
      </p:sp>
      <p:sp>
        <p:nvSpPr>
          <p:cNvPr id="4" name="文本框 3">
            <a:extLst>
              <a:ext uri="{FF2B5EF4-FFF2-40B4-BE49-F238E27FC236}">
                <a16:creationId xmlns:a16="http://schemas.microsoft.com/office/drawing/2014/main" id="{D5868F5A-FEF2-CA1E-A8A3-9A71EF8C27FC}"/>
              </a:ext>
            </a:extLst>
          </p:cNvPr>
          <p:cNvSpPr txBox="1"/>
          <p:nvPr/>
        </p:nvSpPr>
        <p:spPr>
          <a:xfrm>
            <a:off x="4483100" y="3244334"/>
            <a:ext cx="3441700" cy="369332"/>
          </a:xfrm>
          <a:prstGeom prst="rect">
            <a:avLst/>
          </a:prstGeom>
          <a:noFill/>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本页张贴已实现的方案架构图</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项目</a:t>
            </a:r>
            <a:r>
              <a:rPr lang="zh-CN" altLang="en-US" sz="2400" dirty="0">
                <a:solidFill>
                  <a:schemeClr val="tx1"/>
                </a:solidFill>
              </a:rPr>
              <a:t>进程</a:t>
            </a:r>
            <a:r>
              <a:rPr lang="en-US" altLang="zh-CN" sz="1600" dirty="0">
                <a:solidFill>
                  <a:schemeClr val="tx1"/>
                </a:solidFill>
              </a:rPr>
              <a:t>——</a:t>
            </a:r>
            <a:r>
              <a:rPr lang="zh-CN" altLang="en-US" sz="1600" dirty="0">
                <a:solidFill>
                  <a:schemeClr val="tx1"/>
                </a:solidFill>
              </a:rPr>
              <a:t>按照项目大概日期</a:t>
            </a:r>
          </a:p>
        </p:txBody>
      </p:sp>
      <p:sp>
        <p:nvSpPr>
          <p:cNvPr id="5" name="文本框 4">
            <a:extLst>
              <a:ext uri="{FF2B5EF4-FFF2-40B4-BE49-F238E27FC236}">
                <a16:creationId xmlns:a16="http://schemas.microsoft.com/office/drawing/2014/main" id="{6EE5351C-D272-DA0F-C288-BE35048FE548}"/>
              </a:ext>
            </a:extLst>
          </p:cNvPr>
          <p:cNvSpPr txBox="1"/>
          <p:nvPr/>
        </p:nvSpPr>
        <p:spPr>
          <a:xfrm>
            <a:off x="4300220" y="3244334"/>
            <a:ext cx="2395220" cy="369332"/>
          </a:xfrm>
          <a:prstGeom prst="rect">
            <a:avLst/>
          </a:prstGeom>
          <a:noFill/>
        </p:spPr>
        <p:txBody>
          <a:bodyPr wrap="square">
            <a:spAutoFit/>
          </a:bodyPr>
          <a:lstStyle/>
          <a:p>
            <a:r>
              <a:rPr lang="zh-CN" altLang="en-US" sz="1800" b="1" dirty="0">
                <a:latin typeface="微软雅黑" panose="020B0503020204020204" pitchFamily="34" charset="-122"/>
                <a:ea typeface="微软雅黑" panose="020B0503020204020204" pitchFamily="34" charset="-122"/>
              </a:rPr>
              <a:t>本页展示进度计划</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solidFill>
                  <a:schemeClr val="tx1"/>
                </a:solidFill>
              </a:rPr>
              <a:t>项目成果</a:t>
            </a:r>
            <a:r>
              <a:rPr lang="en-US" altLang="zh-CN" sz="1600" dirty="0">
                <a:solidFill>
                  <a:schemeClr val="tx1"/>
                </a:solidFill>
              </a:rPr>
              <a:t>——</a:t>
            </a:r>
            <a:r>
              <a:rPr lang="zh-CN" altLang="en-US" sz="1600" dirty="0">
                <a:solidFill>
                  <a:schemeClr val="tx1"/>
                </a:solidFill>
              </a:rPr>
              <a:t>参考系统实现效果</a:t>
            </a:r>
          </a:p>
        </p:txBody>
      </p:sp>
      <p:sp>
        <p:nvSpPr>
          <p:cNvPr id="4" name="文本框 3">
            <a:extLst>
              <a:ext uri="{FF2B5EF4-FFF2-40B4-BE49-F238E27FC236}">
                <a16:creationId xmlns:a16="http://schemas.microsoft.com/office/drawing/2014/main" id="{83500AB0-8FD9-7EF9-DD14-9579FA7DC704}"/>
              </a:ext>
            </a:extLst>
          </p:cNvPr>
          <p:cNvSpPr txBox="1"/>
          <p:nvPr/>
        </p:nvSpPr>
        <p:spPr>
          <a:xfrm>
            <a:off x="4777740" y="3244333"/>
            <a:ext cx="241554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本页展示系统效果图</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solidFill>
                  <a:schemeClr val="tx1"/>
                </a:solidFill>
              </a:rPr>
              <a:t>困难与措施</a:t>
            </a:r>
            <a:endParaRPr lang="zh-CN" altLang="en-US" sz="2400" dirty="0">
              <a:solidFill>
                <a:srgbClr val="FF0000"/>
              </a:solidFill>
            </a:endParaRPr>
          </a:p>
        </p:txBody>
      </p:sp>
      <p:sp>
        <p:nvSpPr>
          <p:cNvPr id="4" name="文本框 3">
            <a:extLst>
              <a:ext uri="{FF2B5EF4-FFF2-40B4-BE49-F238E27FC236}">
                <a16:creationId xmlns:a16="http://schemas.microsoft.com/office/drawing/2014/main" id="{1A902F09-FE94-E2A9-9D30-8CBFAC4667EF}"/>
              </a:ext>
            </a:extLst>
          </p:cNvPr>
          <p:cNvSpPr txBox="1"/>
          <p:nvPr/>
        </p:nvSpPr>
        <p:spPr>
          <a:xfrm>
            <a:off x="4229100" y="3244334"/>
            <a:ext cx="323850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本页总结项目的困难和应对措施</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积极因素</a:t>
            </a:r>
          </a:p>
        </p:txBody>
      </p:sp>
      <p:sp>
        <p:nvSpPr>
          <p:cNvPr id="4" name="文本框 3">
            <a:extLst>
              <a:ext uri="{FF2B5EF4-FFF2-40B4-BE49-F238E27FC236}">
                <a16:creationId xmlns:a16="http://schemas.microsoft.com/office/drawing/2014/main" id="{F9519C4C-F183-5A41-B1B8-6829CD2F558A}"/>
              </a:ext>
            </a:extLst>
          </p:cNvPr>
          <p:cNvSpPr txBox="1"/>
          <p:nvPr/>
        </p:nvSpPr>
        <p:spPr>
          <a:xfrm>
            <a:off x="3365500" y="3244333"/>
            <a:ext cx="465074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本页罗列项目积极因素，用于烘托项目成果氛围</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经验总结</a:t>
            </a:r>
          </a:p>
        </p:txBody>
      </p:sp>
      <p:sp>
        <p:nvSpPr>
          <p:cNvPr id="5" name="文本框 4">
            <a:extLst>
              <a:ext uri="{FF2B5EF4-FFF2-40B4-BE49-F238E27FC236}">
                <a16:creationId xmlns:a16="http://schemas.microsoft.com/office/drawing/2014/main" id="{5BCA9A55-3A78-E1FB-8546-C73B3DBE371F}"/>
              </a:ext>
            </a:extLst>
          </p:cNvPr>
          <p:cNvSpPr txBox="1"/>
          <p:nvPr/>
        </p:nvSpPr>
        <p:spPr>
          <a:xfrm>
            <a:off x="4472940" y="3244334"/>
            <a:ext cx="349250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本页张贴项目经验总结展示内容</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幸福曲线</a:t>
            </a:r>
          </a:p>
        </p:txBody>
      </p:sp>
      <p:sp>
        <p:nvSpPr>
          <p:cNvPr id="4" name="文本框 3">
            <a:extLst>
              <a:ext uri="{FF2B5EF4-FFF2-40B4-BE49-F238E27FC236}">
                <a16:creationId xmlns:a16="http://schemas.microsoft.com/office/drawing/2014/main" id="{39884E18-520C-92C9-0FA0-3AD4E98A5407}"/>
              </a:ext>
            </a:extLst>
          </p:cNvPr>
          <p:cNvSpPr txBox="1"/>
          <p:nvPr/>
        </p:nvSpPr>
        <p:spPr>
          <a:xfrm>
            <a:off x="3172460" y="3244334"/>
            <a:ext cx="643890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试着画一下本项目的幸福曲线发展，参考项目管理的幸福曲线</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CF6AB-C28C-52A2-1F5F-400B9FC10A95}"/>
              </a:ext>
            </a:extLst>
          </p:cNvPr>
          <p:cNvSpPr>
            <a:spLocks noGrp="1"/>
          </p:cNvSpPr>
          <p:nvPr>
            <p:ph type="title"/>
          </p:nvPr>
        </p:nvSpPr>
        <p:spPr/>
        <p:txBody>
          <a:bodyPr/>
          <a:lstStyle/>
          <a:p>
            <a:r>
              <a:rPr kumimoji="1" lang="zh-CN" altLang="en-US" dirty="0"/>
              <a:t>项目应用亮点</a:t>
            </a:r>
          </a:p>
        </p:txBody>
      </p:sp>
    </p:spTree>
    <p:extLst>
      <p:ext uri="{BB962C8B-B14F-4D97-AF65-F5344CB8AC3E}">
        <p14:creationId xmlns:p14="http://schemas.microsoft.com/office/powerpoint/2010/main" val="2634758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p:nvPr>
        </p:nvSpPr>
        <p:spPr/>
        <p:txBody>
          <a:bodyPr/>
          <a:lstStyle/>
          <a:p>
            <a:pPr algn="l"/>
            <a:r>
              <a:rPr lang="zh-CN" altLang="en-US" sz="2400" dirty="0"/>
              <a:t>应用亮点1</a:t>
            </a:r>
            <a:r>
              <a:rPr lang="en-US" altLang="zh-CN" sz="2400" dirty="0"/>
              <a:t>——XXX</a:t>
            </a:r>
            <a:r>
              <a:rPr lang="zh-CN" altLang="en-US" dirty="0"/>
              <a:t>内容</a:t>
            </a:r>
            <a:endParaRPr lang="zh-CN" altLang="en-US" sz="2400" dirty="0"/>
          </a:p>
        </p:txBody>
      </p:sp>
      <p:sp>
        <p:nvSpPr>
          <p:cNvPr id="3" name="文本框 2">
            <a:extLst>
              <a:ext uri="{FF2B5EF4-FFF2-40B4-BE49-F238E27FC236}">
                <a16:creationId xmlns:a16="http://schemas.microsoft.com/office/drawing/2014/main" id="{EFFD882D-14A3-4F97-E57A-C74197BDA57D}"/>
              </a:ext>
            </a:extLst>
          </p:cNvPr>
          <p:cNvSpPr txBox="1"/>
          <p:nvPr/>
        </p:nvSpPr>
        <p:spPr>
          <a:xfrm>
            <a:off x="2959100" y="3244334"/>
            <a:ext cx="530098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总结应用亮点，内容，不限本页，多扩展挖掘系统亮点</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5C0B65-0A57-01A1-D14D-0B0A2390A970}"/>
              </a:ext>
            </a:extLst>
          </p:cNvPr>
          <p:cNvSpPr>
            <a:spLocks noGrp="1"/>
          </p:cNvSpPr>
          <p:nvPr>
            <p:ph type="title"/>
          </p:nvPr>
        </p:nvSpPr>
        <p:spPr/>
        <p:txBody>
          <a:bodyPr/>
          <a:lstStyle/>
          <a:p>
            <a:r>
              <a:rPr kumimoji="1" lang="zh-CN" altLang="en-US" dirty="0"/>
              <a:t>项目业务价值</a:t>
            </a:r>
          </a:p>
        </p:txBody>
      </p:sp>
    </p:spTree>
    <p:extLst>
      <p:ext uri="{BB962C8B-B14F-4D97-AF65-F5344CB8AC3E}">
        <p14:creationId xmlns:p14="http://schemas.microsoft.com/office/powerpoint/2010/main" val="10428038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mn-ea"/>
              </a:rPr>
              <a:t>价值提升</a:t>
            </a:r>
            <a:r>
              <a:rPr lang="en-US" altLang="zh-CN" dirty="0">
                <a:sym typeface="+mn-ea"/>
              </a:rPr>
              <a:t>——</a:t>
            </a:r>
            <a:r>
              <a:rPr lang="zh-CN" altLang="en-US" dirty="0">
                <a:sym typeface="+mn-ea"/>
              </a:rPr>
              <a:t>双方团队能力提升</a:t>
            </a:r>
          </a:p>
        </p:txBody>
      </p:sp>
      <p:sp>
        <p:nvSpPr>
          <p:cNvPr id="24" name="TextBox 173">
            <a:extLst>
              <a:ext uri="{FF2B5EF4-FFF2-40B4-BE49-F238E27FC236}">
                <a16:creationId xmlns:a16="http://schemas.microsoft.com/office/drawing/2014/main" id="{8CA12C43-C9BA-DC90-AC66-2B9DEF6E102E}"/>
              </a:ext>
            </a:extLst>
          </p:cNvPr>
          <p:cNvSpPr txBox="1">
            <a:spLocks noChangeArrowheads="1"/>
          </p:cNvSpPr>
          <p:nvPr/>
        </p:nvSpPr>
        <p:spPr bwMode="auto">
          <a:xfrm>
            <a:off x="1131702" y="1361530"/>
            <a:ext cx="9766300"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p>
            <a:pPr algn="ctr"/>
            <a:r>
              <a:rPr lang="zh-CN" altLang="en-US" sz="1600" b="1" dirty="0">
                <a:latin typeface="微软雅黑" panose="020B0503020204020204" pitchFamily="34" charset="-122"/>
                <a:ea typeface="微软雅黑" panose="020B0503020204020204" pitchFamily="34" charset="-122"/>
                <a:sym typeface="+mn-ea"/>
              </a:rPr>
              <a:t>客户方的团队能力收获</a:t>
            </a:r>
            <a:r>
              <a:rPr lang="en-US" altLang="zh-CN" sz="1600" b="1" dirty="0">
                <a:latin typeface="微软雅黑" panose="020B0503020204020204" pitchFamily="34" charset="-122"/>
                <a:ea typeface="微软雅黑" panose="020B0503020204020204" pitchFamily="34" charset="-122"/>
                <a:sym typeface="+mn-ea"/>
              </a:rPr>
              <a:t>&amp;</a:t>
            </a:r>
            <a:r>
              <a:rPr lang="zh-CN" altLang="en-US" sz="1600" b="1" dirty="0">
                <a:latin typeface="微软雅黑" panose="020B0503020204020204" pitchFamily="34" charset="-122"/>
                <a:ea typeface="微软雅黑" panose="020B0503020204020204" pitchFamily="34" charset="-122"/>
                <a:sym typeface="+mn-ea"/>
              </a:rPr>
              <a:t>我方团队的能力提升，主要挖掘双方共赢的内容</a:t>
            </a:r>
          </a:p>
        </p:txBody>
      </p:sp>
      <p:graphicFrame>
        <p:nvGraphicFramePr>
          <p:cNvPr id="26" name="表格 8">
            <a:extLst>
              <a:ext uri="{FF2B5EF4-FFF2-40B4-BE49-F238E27FC236}">
                <a16:creationId xmlns:a16="http://schemas.microsoft.com/office/drawing/2014/main" id="{4362F28B-384A-6930-C722-D78EC998F105}"/>
              </a:ext>
            </a:extLst>
          </p:cNvPr>
          <p:cNvGraphicFramePr>
            <a:graphicFrameLocks noGrp="1"/>
          </p:cNvGraphicFramePr>
          <p:nvPr>
            <p:extLst>
              <p:ext uri="{D42A27DB-BD31-4B8C-83A1-F6EECF244321}">
                <p14:modId xmlns:p14="http://schemas.microsoft.com/office/powerpoint/2010/main" val="1275019943"/>
              </p:ext>
            </p:extLst>
          </p:nvPr>
        </p:nvGraphicFramePr>
        <p:xfrm>
          <a:off x="914400" y="2042556"/>
          <a:ext cx="10200904" cy="3586350"/>
        </p:xfrm>
        <a:graphic>
          <a:graphicData uri="http://schemas.openxmlformats.org/drawingml/2006/table">
            <a:tbl>
              <a:tblPr firstRow="1" bandRow="1">
                <a:tableStyleId>{5C22544A-7EE6-4342-B048-85BDC9FD1C3A}</a:tableStyleId>
              </a:tblPr>
              <a:tblGrid>
                <a:gridCol w="2550226">
                  <a:extLst>
                    <a:ext uri="{9D8B030D-6E8A-4147-A177-3AD203B41FA5}">
                      <a16:colId xmlns:a16="http://schemas.microsoft.com/office/drawing/2014/main" val="2899433540"/>
                    </a:ext>
                  </a:extLst>
                </a:gridCol>
                <a:gridCol w="2550226">
                  <a:extLst>
                    <a:ext uri="{9D8B030D-6E8A-4147-A177-3AD203B41FA5}">
                      <a16:colId xmlns:a16="http://schemas.microsoft.com/office/drawing/2014/main" val="2378041641"/>
                    </a:ext>
                  </a:extLst>
                </a:gridCol>
                <a:gridCol w="2550226">
                  <a:extLst>
                    <a:ext uri="{9D8B030D-6E8A-4147-A177-3AD203B41FA5}">
                      <a16:colId xmlns:a16="http://schemas.microsoft.com/office/drawing/2014/main" val="598281607"/>
                    </a:ext>
                  </a:extLst>
                </a:gridCol>
                <a:gridCol w="2550226">
                  <a:extLst>
                    <a:ext uri="{9D8B030D-6E8A-4147-A177-3AD203B41FA5}">
                      <a16:colId xmlns:a16="http://schemas.microsoft.com/office/drawing/2014/main" val="3666954625"/>
                    </a:ext>
                  </a:extLst>
                </a:gridCol>
              </a:tblGrid>
              <a:tr h="720734">
                <a:tc>
                  <a:txBody>
                    <a:bodyPr/>
                    <a:lstStyle/>
                    <a:p>
                      <a:endParaRPr lang="zh-CN" altLang="en-US" b="0" i="0" dirty="0">
                        <a:latin typeface="Microsoft YaHei" panose="020B0503020204020204" pitchFamily="34" charset="-122"/>
                        <a:ea typeface="Microsoft YaHei" panose="020B0503020204020204" pitchFamily="34" charset="-122"/>
                      </a:endParaRPr>
                    </a:p>
                  </a:txBody>
                  <a:tcPr>
                    <a:gradFill>
                      <a:gsLst>
                        <a:gs pos="100000">
                          <a:srgbClr val="22AAFE">
                            <a:lumMod val="99987"/>
                            <a:lumOff val="13"/>
                          </a:srgbClr>
                        </a:gs>
                        <a:gs pos="0">
                          <a:srgbClr val="3065FA"/>
                        </a:gs>
                      </a:gsLst>
                      <a:lin ang="0" scaled="0"/>
                    </a:gra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gradFill>
                      <a:gsLst>
                        <a:gs pos="0">
                          <a:srgbClr val="3065FA"/>
                        </a:gs>
                        <a:gs pos="100000">
                          <a:srgbClr val="22AAFE"/>
                        </a:gs>
                      </a:gsLst>
                      <a:lin ang="0" scaled="0"/>
                    </a:gra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gradFill>
                      <a:gsLst>
                        <a:gs pos="0">
                          <a:srgbClr val="3065FA"/>
                        </a:gs>
                        <a:gs pos="100000">
                          <a:srgbClr val="22AAFE"/>
                        </a:gs>
                      </a:gsLst>
                      <a:lin ang="0" scaled="0"/>
                    </a:gra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gradFill>
                      <a:gsLst>
                        <a:gs pos="0">
                          <a:srgbClr val="3065FA"/>
                        </a:gs>
                        <a:gs pos="100000">
                          <a:srgbClr val="22AAFE"/>
                        </a:gs>
                      </a:gsLst>
                      <a:lin ang="0" scaled="0"/>
                    </a:gradFill>
                  </a:tcPr>
                </a:tc>
                <a:extLst>
                  <a:ext uri="{0D108BD9-81ED-4DB2-BD59-A6C34878D82A}">
                    <a16:rowId xmlns:a16="http://schemas.microsoft.com/office/drawing/2014/main" val="3398696414"/>
                  </a:ext>
                </a:extLst>
              </a:tr>
              <a:tr h="716404">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extLst>
                  <a:ext uri="{0D108BD9-81ED-4DB2-BD59-A6C34878D82A}">
                    <a16:rowId xmlns:a16="http://schemas.microsoft.com/office/drawing/2014/main" val="1459023585"/>
                  </a:ext>
                </a:extLst>
              </a:tr>
              <a:tr h="716404">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extLst>
                  <a:ext uri="{0D108BD9-81ED-4DB2-BD59-A6C34878D82A}">
                    <a16:rowId xmlns:a16="http://schemas.microsoft.com/office/drawing/2014/main" val="3432816586"/>
                  </a:ext>
                </a:extLst>
              </a:tr>
              <a:tr h="716404">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extLst>
                  <a:ext uri="{0D108BD9-81ED-4DB2-BD59-A6C34878D82A}">
                    <a16:rowId xmlns:a16="http://schemas.microsoft.com/office/drawing/2014/main" val="473810143"/>
                  </a:ext>
                </a:extLst>
              </a:tr>
              <a:tr h="716404">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tc>
                  <a:txBody>
                    <a:bodyPr/>
                    <a:lstStyle/>
                    <a:p>
                      <a:endParaRPr lang="zh-CN" altLang="en-US" b="0" i="0" dirty="0">
                        <a:latin typeface="Microsoft YaHei" panose="020B0503020204020204" pitchFamily="34" charset="-122"/>
                        <a:ea typeface="Microsoft YaHei" panose="020B0503020204020204" pitchFamily="34" charset="-122"/>
                      </a:endParaRPr>
                    </a:p>
                  </a:txBody>
                  <a:tcPr>
                    <a:solidFill>
                      <a:srgbClr val="E5EDFC"/>
                    </a:solidFill>
                  </a:tcPr>
                </a:tc>
                <a:extLst>
                  <a:ext uri="{0D108BD9-81ED-4DB2-BD59-A6C34878D82A}">
                    <a16:rowId xmlns:a16="http://schemas.microsoft.com/office/drawing/2014/main" val="3515733176"/>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业务价值</a:t>
            </a:r>
            <a:r>
              <a:rPr lang="en-US" altLang="zh-CN" dirty="0"/>
              <a:t>1——</a:t>
            </a:r>
            <a:r>
              <a:rPr lang="zh-CN" altLang="en-US" dirty="0"/>
              <a:t>总览</a:t>
            </a:r>
          </a:p>
        </p:txBody>
      </p:sp>
      <p:sp>
        <p:nvSpPr>
          <p:cNvPr id="5" name="文本框 4">
            <a:extLst>
              <a:ext uri="{FF2B5EF4-FFF2-40B4-BE49-F238E27FC236}">
                <a16:creationId xmlns:a16="http://schemas.microsoft.com/office/drawing/2014/main" id="{DFE6F524-991F-0AEC-49D3-191ED4DDFD01}"/>
              </a:ext>
            </a:extLst>
          </p:cNvPr>
          <p:cNvSpPr txBox="1"/>
          <p:nvPr/>
        </p:nvSpPr>
        <p:spPr>
          <a:xfrm>
            <a:off x="1973580" y="3244334"/>
            <a:ext cx="681228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提炼业务价值，例如营收、时间、节省成本等指标展示，一目了然</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业务价值</a:t>
            </a:r>
            <a:r>
              <a:rPr lang="en-US" altLang="zh-CN" sz="2400" dirty="0"/>
              <a:t>2</a:t>
            </a:r>
            <a:r>
              <a:rPr lang="en-US" altLang="zh-CN" sz="1800" dirty="0"/>
              <a:t>——</a:t>
            </a:r>
            <a:r>
              <a:rPr lang="zh-CN" altLang="en-US" sz="1800" dirty="0"/>
              <a:t>价值分项展示</a:t>
            </a:r>
          </a:p>
        </p:txBody>
      </p:sp>
      <p:sp>
        <p:nvSpPr>
          <p:cNvPr id="4" name="文本框 3">
            <a:extLst>
              <a:ext uri="{FF2B5EF4-FFF2-40B4-BE49-F238E27FC236}">
                <a16:creationId xmlns:a16="http://schemas.microsoft.com/office/drawing/2014/main" id="{CD1F26C2-E29C-8310-EC19-C3EE4287500A}"/>
              </a:ext>
            </a:extLst>
          </p:cNvPr>
          <p:cNvSpPr txBox="1"/>
          <p:nvPr/>
        </p:nvSpPr>
        <p:spPr>
          <a:xfrm>
            <a:off x="1973580" y="3244334"/>
            <a:ext cx="681228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提炼业务价值，例如营收、时间、节省成本等指标展示，一目了然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B57DA8-FCF6-A657-DE18-5EDA83EAA67A}"/>
              </a:ext>
            </a:extLst>
          </p:cNvPr>
          <p:cNvSpPr>
            <a:spLocks noGrp="1"/>
          </p:cNvSpPr>
          <p:nvPr>
            <p:ph type="title"/>
          </p:nvPr>
        </p:nvSpPr>
        <p:spPr/>
        <p:txBody>
          <a:bodyPr/>
          <a:lstStyle/>
          <a:p>
            <a:r>
              <a:rPr kumimoji="1" lang="zh-CN" altLang="en-US" dirty="0"/>
              <a:t>感谢与展望</a:t>
            </a:r>
          </a:p>
        </p:txBody>
      </p:sp>
    </p:spTree>
    <p:extLst>
      <p:ext uri="{BB962C8B-B14F-4D97-AF65-F5344CB8AC3E}">
        <p14:creationId xmlns:p14="http://schemas.microsoft.com/office/powerpoint/2010/main" val="17073504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sym typeface="+mn-ea"/>
              </a:rPr>
              <a:t>项目回顾</a:t>
            </a:r>
            <a:r>
              <a:rPr lang="en-US" altLang="zh-CN" sz="1800" dirty="0">
                <a:sym typeface="+mn-ea"/>
              </a:rPr>
              <a:t>——</a:t>
            </a:r>
            <a:r>
              <a:rPr lang="zh-CN" altLang="en-US" sz="1800" dirty="0">
                <a:sym typeface="+mn-ea"/>
              </a:rPr>
              <a:t>精彩的瞬间</a:t>
            </a:r>
            <a:endParaRPr lang="zh-CN" altLang="en-US" sz="1800" dirty="0"/>
          </a:p>
        </p:txBody>
      </p:sp>
      <p:sp>
        <p:nvSpPr>
          <p:cNvPr id="26" name="TextBox 173">
            <a:extLst>
              <a:ext uri="{FF2B5EF4-FFF2-40B4-BE49-F238E27FC236}">
                <a16:creationId xmlns:a16="http://schemas.microsoft.com/office/drawing/2014/main" id="{DB4F9063-D053-2BC0-29C4-6EBEBCCA6C92}"/>
              </a:ext>
            </a:extLst>
          </p:cNvPr>
          <p:cNvSpPr txBox="1">
            <a:spLocks noChangeArrowheads="1"/>
          </p:cNvSpPr>
          <p:nvPr/>
        </p:nvSpPr>
        <p:spPr bwMode="auto">
          <a:xfrm>
            <a:off x="1993900" y="2174331"/>
            <a:ext cx="8280400"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p>
            <a:pPr algn="ctr"/>
            <a:r>
              <a:rPr lang="zh-CN" altLang="en-US" sz="1600" b="1" dirty="0">
                <a:latin typeface="微软雅黑" panose="020B0503020204020204" pitchFamily="34" charset="-122"/>
                <a:ea typeface="微软雅黑" panose="020B0503020204020204" pitchFamily="34" charset="-122"/>
                <a:sym typeface="+mn-ea"/>
              </a:rPr>
              <a:t>张贴项目启动到验收各阶段照片集锦排版</a:t>
            </a:r>
          </a:p>
        </p:txBody>
      </p:sp>
    </p:spTree>
    <p:extLst>
      <p:ext uri="{BB962C8B-B14F-4D97-AF65-F5344CB8AC3E}">
        <p14:creationId xmlns:p14="http://schemas.microsoft.com/office/powerpoint/2010/main" val="39857129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项目验收交接工作</a:t>
            </a:r>
            <a:r>
              <a:rPr lang="zh-CN" altLang="en-US" sz="2400" dirty="0">
                <a:solidFill>
                  <a:schemeClr val="tx1"/>
                </a:solidFill>
              </a:rPr>
              <a:t>计划</a:t>
            </a:r>
            <a:r>
              <a:rPr lang="en-US" altLang="zh-CN" sz="1800" dirty="0">
                <a:solidFill>
                  <a:schemeClr val="tx1"/>
                </a:solidFill>
              </a:rPr>
              <a:t>——</a:t>
            </a:r>
            <a:r>
              <a:rPr lang="zh-CN" altLang="en-US" sz="1800" dirty="0">
                <a:solidFill>
                  <a:schemeClr val="tx1"/>
                </a:solidFill>
              </a:rPr>
              <a:t>服务团队跟上</a:t>
            </a:r>
            <a:endParaRPr lang="zh-CN" altLang="en-US" sz="2400" dirty="0">
              <a:solidFill>
                <a:schemeClr val="tx1"/>
              </a:solidFill>
            </a:endParaRPr>
          </a:p>
        </p:txBody>
      </p:sp>
      <p:graphicFrame>
        <p:nvGraphicFramePr>
          <p:cNvPr id="6" name="表格 5">
            <a:extLst>
              <a:ext uri="{FF2B5EF4-FFF2-40B4-BE49-F238E27FC236}">
                <a16:creationId xmlns:a16="http://schemas.microsoft.com/office/drawing/2014/main" id="{9DFC504A-5DC3-420A-BD50-1AB129EA0EF7}"/>
              </a:ext>
            </a:extLst>
          </p:cNvPr>
          <p:cNvGraphicFramePr/>
          <p:nvPr>
            <p:custDataLst>
              <p:tags r:id="rId1"/>
            </p:custDataLst>
            <p:extLst>
              <p:ext uri="{D42A27DB-BD31-4B8C-83A1-F6EECF244321}">
                <p14:modId xmlns:p14="http://schemas.microsoft.com/office/powerpoint/2010/main" val="1923256184"/>
              </p:ext>
            </p:extLst>
          </p:nvPr>
        </p:nvGraphicFramePr>
        <p:xfrm>
          <a:off x="386070" y="1301115"/>
          <a:ext cx="11200765" cy="4464685"/>
        </p:xfrm>
        <a:graphic>
          <a:graphicData uri="http://schemas.openxmlformats.org/drawingml/2006/table">
            <a:tbl>
              <a:tblPr firstRow="1" bandRow="1">
                <a:tableStyleId>{7DF18680-E054-41AD-8BC1-D1AEF772440D}</a:tableStyleId>
              </a:tblPr>
              <a:tblGrid>
                <a:gridCol w="1928495">
                  <a:extLst>
                    <a:ext uri="{9D8B030D-6E8A-4147-A177-3AD203B41FA5}">
                      <a16:colId xmlns:a16="http://schemas.microsoft.com/office/drawing/2014/main" val="20000"/>
                    </a:ext>
                  </a:extLst>
                </a:gridCol>
                <a:gridCol w="3364865">
                  <a:extLst>
                    <a:ext uri="{9D8B030D-6E8A-4147-A177-3AD203B41FA5}">
                      <a16:colId xmlns:a16="http://schemas.microsoft.com/office/drawing/2014/main" val="20001"/>
                    </a:ext>
                  </a:extLst>
                </a:gridCol>
                <a:gridCol w="2375535">
                  <a:extLst>
                    <a:ext uri="{9D8B030D-6E8A-4147-A177-3AD203B41FA5}">
                      <a16:colId xmlns:a16="http://schemas.microsoft.com/office/drawing/2014/main" val="20002"/>
                    </a:ext>
                  </a:extLst>
                </a:gridCol>
                <a:gridCol w="3531870">
                  <a:extLst>
                    <a:ext uri="{9D8B030D-6E8A-4147-A177-3AD203B41FA5}">
                      <a16:colId xmlns:a16="http://schemas.microsoft.com/office/drawing/2014/main" val="20003"/>
                    </a:ext>
                  </a:extLst>
                </a:gridCol>
              </a:tblGrid>
              <a:tr h="655955">
                <a:tc>
                  <a:txBody>
                    <a:bodyPr/>
                    <a:lstStyle/>
                    <a:p>
                      <a:pPr indent="0" algn="ctr">
                        <a:buNone/>
                      </a:pPr>
                      <a:r>
                        <a:rPr lang="zh-CN" sz="1600" b="1" dirty="0">
                          <a:solidFill>
                            <a:srgbClr val="FFFFFF"/>
                          </a:solidFill>
                          <a:latin typeface="微软雅黑" panose="020B0503020204020204" pitchFamily="34" charset="-122"/>
                          <a:ea typeface="微软雅黑" panose="020B0503020204020204" pitchFamily="34" charset="-122"/>
                        </a:rPr>
                        <a:t>日期</a:t>
                      </a:r>
                      <a:endParaRPr lang="zh-CN" altLang="en-US" sz="1600" b="1" dirty="0">
                        <a:solidFill>
                          <a:srgbClr val="FFFFFF"/>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600" b="1" dirty="0">
                          <a:solidFill>
                            <a:srgbClr val="FFFFFF"/>
                          </a:solidFill>
                          <a:latin typeface="微软雅黑" panose="020B0503020204020204" pitchFamily="34" charset="-122"/>
                          <a:ea typeface="微软雅黑" panose="020B0503020204020204" pitchFamily="34" charset="-122"/>
                        </a:rPr>
                        <a:t>工作内容</a:t>
                      </a:r>
                      <a:endParaRPr lang="zh-CN" altLang="en-US" sz="1600" b="1" dirty="0">
                        <a:solidFill>
                          <a:srgbClr val="FFFFFF"/>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600" b="1">
                          <a:solidFill>
                            <a:srgbClr val="FFFFFF"/>
                          </a:solidFill>
                          <a:latin typeface="微软雅黑" panose="020B0503020204020204" pitchFamily="34" charset="-122"/>
                          <a:ea typeface="微软雅黑" panose="020B0503020204020204" pitchFamily="34" charset="-122"/>
                        </a:rPr>
                        <a:t>参与部门</a:t>
                      </a:r>
                      <a:endParaRPr lang="zh-CN" altLang="en-US" sz="1600" b="1">
                        <a:solidFill>
                          <a:srgbClr val="FFFFFF"/>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600" b="1">
                          <a:solidFill>
                            <a:srgbClr val="FFFFFF"/>
                          </a:solidFill>
                          <a:latin typeface="微软雅黑" panose="020B0503020204020204" pitchFamily="34" charset="-122"/>
                          <a:ea typeface="微软雅黑" panose="020B0503020204020204" pitchFamily="34" charset="-122"/>
                        </a:rPr>
                        <a:t>备注</a:t>
                      </a:r>
                      <a:endParaRPr lang="zh-CN" altLang="en-US" sz="1600" b="1">
                        <a:solidFill>
                          <a:srgbClr val="FFFFFF"/>
                        </a:solidFill>
                        <a:latin typeface="微软雅黑" panose="020B0503020204020204" pitchFamily="34" charset="-122"/>
                        <a:ea typeface="微软雅黑" panose="020B0503020204020204" pitchFamily="34" charset="-122"/>
                      </a:endParaRPr>
                    </a:p>
                  </a:txBody>
                  <a:tcPr marL="12700" marR="12700" marT="12700" anchor="ctr"/>
                </a:tc>
                <a:extLst>
                  <a:ext uri="{0D108BD9-81ED-4DB2-BD59-A6C34878D82A}">
                    <a16:rowId xmlns:a16="http://schemas.microsoft.com/office/drawing/2014/main" val="10000"/>
                  </a:ext>
                </a:extLst>
              </a:tr>
              <a:tr h="1145540">
                <a:tc>
                  <a:txBody>
                    <a:bodyPr/>
                    <a:lstStyle/>
                    <a:p>
                      <a:pPr indent="0" algn="ctr">
                        <a:buNone/>
                      </a:pPr>
                      <a:r>
                        <a:rPr lang="en-US" sz="1600" b="0" dirty="0" err="1">
                          <a:solidFill>
                            <a:srgbClr val="000000"/>
                          </a:solidFill>
                          <a:latin typeface="微软雅黑" panose="020B0503020204020204" pitchFamily="34" charset="-122"/>
                          <a:ea typeface="微软雅黑" panose="020B0503020204020204" pitchFamily="34" charset="-122"/>
                        </a:rPr>
                        <a:t>XX月XX日-XX月XX日</a:t>
                      </a:r>
                      <a:endParaRPr lang="en-US"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charset="-122"/>
                      </a:endParaRPr>
                    </a:p>
                  </a:txBody>
                  <a:tcPr marL="12700" marR="12700" marT="12700" anchor="ctr"/>
                </a:tc>
                <a:tc>
                  <a:txBody>
                    <a:bodyPr/>
                    <a:lstStyle/>
                    <a:p>
                      <a:pPr indent="0" algn="ctr">
                        <a:buNone/>
                      </a:pPr>
                      <a:r>
                        <a:rPr lang="en-US" sz="1600" b="0" kern="1200" dirty="0">
                          <a:solidFill>
                            <a:srgbClr val="000000"/>
                          </a:solidFill>
                          <a:latin typeface="微软雅黑" panose="020B0503020204020204" pitchFamily="34" charset="-122"/>
                          <a:ea typeface="微软雅黑" panose="020B0503020204020204" pitchFamily="34" charset="-122"/>
                          <a:cs typeface="+mn-cs"/>
                        </a:rPr>
                        <a:t>1.项目文档整理</a:t>
                      </a:r>
                    </a:p>
                    <a:p>
                      <a:pPr indent="0" algn="ctr">
                        <a:buNone/>
                      </a:pPr>
                      <a:r>
                        <a:rPr lang="en-US" sz="1600" b="0" kern="1200" dirty="0">
                          <a:solidFill>
                            <a:srgbClr val="000000"/>
                          </a:solidFill>
                          <a:latin typeface="微软雅黑" panose="020B0503020204020204" pitchFamily="34" charset="-122"/>
                          <a:ea typeface="微软雅黑" panose="020B0503020204020204" pitchFamily="34" charset="-122"/>
                          <a:cs typeface="+mn-cs"/>
                        </a:rPr>
                        <a:t>2.验收资料收集</a:t>
                      </a:r>
                    </a:p>
                    <a:p>
                      <a:pPr indent="0" algn="ctr">
                        <a:buNone/>
                      </a:pPr>
                      <a:r>
                        <a:rPr lang="en-US" altLang="zh-CN" sz="1600" b="0" kern="1200" dirty="0">
                          <a:solidFill>
                            <a:srgbClr val="000000"/>
                          </a:solidFill>
                          <a:latin typeface="微软雅黑" panose="020B0503020204020204" pitchFamily="34" charset="-122"/>
                          <a:ea typeface="微软雅黑" panose="020B0503020204020204" pitchFamily="34" charset="-122"/>
                          <a:cs typeface="+mn-cs"/>
                          <a:sym typeface="+mn-ea"/>
                        </a:rPr>
                        <a:t>3.</a:t>
                      </a:r>
                      <a:r>
                        <a:rPr lang="zh-CN" altLang="en-US" sz="1600" b="0" kern="1200" dirty="0">
                          <a:solidFill>
                            <a:srgbClr val="000000"/>
                          </a:solidFill>
                          <a:latin typeface="微软雅黑" panose="020B0503020204020204" pitchFamily="34" charset="-122"/>
                          <a:ea typeface="微软雅黑" panose="020B0503020204020204" pitchFamily="34" charset="-122"/>
                          <a:cs typeface="+mn-cs"/>
                          <a:sym typeface="+mn-ea"/>
                        </a:rPr>
                        <a:t>提交项目材料</a:t>
                      </a:r>
                      <a:endParaRPr lang="zh-CN" altLang="en-US" sz="1600" b="0" kern="1200" dirty="0">
                        <a:solidFill>
                          <a:srgbClr val="000000"/>
                        </a:solidFill>
                        <a:latin typeface="微软雅黑" panose="020B0503020204020204" pitchFamily="34" charset="-122"/>
                        <a:ea typeface="微软雅黑" panose="020B0503020204020204" pitchFamily="34" charset="-122"/>
                        <a:cs typeface="+mn-cs"/>
                      </a:endParaRPr>
                    </a:p>
                    <a:p>
                      <a:pPr indent="0" algn="ctr">
                        <a:buNone/>
                      </a:pPr>
                      <a:r>
                        <a:rPr lang="en-US" altLang="zh-CN" sz="1600" b="0" kern="1200" dirty="0">
                          <a:solidFill>
                            <a:srgbClr val="000000"/>
                          </a:solidFill>
                          <a:latin typeface="微软雅黑" panose="020B0503020204020204" pitchFamily="34" charset="-122"/>
                          <a:ea typeface="微软雅黑" panose="020B0503020204020204" pitchFamily="34" charset="-122"/>
                          <a:cs typeface="+mn-cs"/>
                          <a:sym typeface="+mn-ea"/>
                        </a:rPr>
                        <a:t>4.</a:t>
                      </a:r>
                      <a:r>
                        <a:rPr lang="zh-CN" altLang="en-US" sz="1600" b="0" kern="1200" dirty="0">
                          <a:solidFill>
                            <a:srgbClr val="000000"/>
                          </a:solidFill>
                          <a:latin typeface="微软雅黑" panose="020B0503020204020204" pitchFamily="34" charset="-122"/>
                          <a:ea typeface="微软雅黑" panose="020B0503020204020204" pitchFamily="34" charset="-122"/>
                          <a:cs typeface="+mn-cs"/>
                          <a:sym typeface="+mn-ea"/>
                        </a:rPr>
                        <a:t>提交验收申请</a:t>
                      </a:r>
                      <a:endParaRPr lang="en-US" altLang="en-US" sz="1600" b="0" kern="1200" dirty="0">
                        <a:solidFill>
                          <a:srgbClr val="000000"/>
                        </a:solidFill>
                        <a:latin typeface="微软雅黑" panose="020B0503020204020204" pitchFamily="34" charset="-122"/>
                        <a:ea typeface="微软雅黑" panose="020B0503020204020204" pitchFamily="34" charset="-122"/>
                        <a:cs typeface="+mn-cs"/>
                      </a:endParaRPr>
                    </a:p>
                  </a:txBody>
                  <a:tcPr marL="12700" marR="12700" marT="12700" anchor="ctr"/>
                </a:tc>
                <a:tc>
                  <a:txBody>
                    <a:bodyPr/>
                    <a:lstStyle/>
                    <a:p>
                      <a:pPr indent="0" algn="ctr">
                        <a:buNone/>
                      </a:pPr>
                      <a:r>
                        <a:rPr lang="zh-CN" sz="1600" b="0" dirty="0">
                          <a:solidFill>
                            <a:srgbClr val="000000"/>
                          </a:solidFill>
                          <a:latin typeface="微软雅黑" panose="020B0503020204020204" pitchFamily="34" charset="-122"/>
                          <a:ea typeface="微软雅黑" panose="020B0503020204020204" pitchFamily="34" charset="-122"/>
                        </a:rPr>
                        <a:t>金蝶</a:t>
                      </a:r>
                      <a:endParaRPr lang="zh-CN" altLang="en-US" sz="16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endParaRPr lang="en-US" altLang="en-US" sz="16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extLst>
                  <a:ext uri="{0D108BD9-81ED-4DB2-BD59-A6C34878D82A}">
                    <a16:rowId xmlns:a16="http://schemas.microsoft.com/office/drawing/2014/main" val="10001"/>
                  </a:ext>
                </a:extLst>
              </a:tr>
              <a:tr h="1236980">
                <a:tc>
                  <a:txBody>
                    <a:bodyPr/>
                    <a:lstStyle/>
                    <a:p>
                      <a:pPr indent="0" algn="ctr">
                        <a:buNone/>
                      </a:pPr>
                      <a:r>
                        <a:rPr lang="en-US" altLang="zh-CN" sz="1600" b="0" dirty="0">
                          <a:solidFill>
                            <a:srgbClr val="000000"/>
                          </a:solidFill>
                          <a:latin typeface="微软雅黑" panose="020B0503020204020204" pitchFamily="34" charset="-122"/>
                          <a:ea typeface="微软雅黑" panose="020B0503020204020204" pitchFamily="34" charset="-122"/>
                        </a:rPr>
                        <a:t>XX</a:t>
                      </a:r>
                      <a:r>
                        <a:rPr lang="zh-CN" sz="1600" b="0" dirty="0">
                          <a:solidFill>
                            <a:srgbClr val="000000"/>
                          </a:solidFill>
                          <a:latin typeface="微软雅黑" panose="020B0503020204020204" pitchFamily="34" charset="-122"/>
                          <a:ea typeface="微软雅黑" panose="020B0503020204020204" pitchFamily="34" charset="-122"/>
                        </a:rPr>
                        <a:t>月</a:t>
                      </a:r>
                      <a:r>
                        <a:rPr lang="en-US" altLang="zh-CN" sz="1600" b="0" dirty="0">
                          <a:solidFill>
                            <a:srgbClr val="000000"/>
                          </a:solidFill>
                          <a:latin typeface="微软雅黑" panose="020B0503020204020204" pitchFamily="34" charset="-122"/>
                          <a:ea typeface="微软雅黑" panose="020B0503020204020204" pitchFamily="34" charset="-122"/>
                        </a:rPr>
                        <a:t>XX</a:t>
                      </a:r>
                      <a:r>
                        <a:rPr lang="zh-CN" sz="1600" b="0" dirty="0">
                          <a:solidFill>
                            <a:srgbClr val="000000"/>
                          </a:solidFill>
                          <a:latin typeface="微软雅黑" panose="020B0503020204020204" pitchFamily="34" charset="-122"/>
                          <a:ea typeface="微软雅黑" panose="020B0503020204020204" pitchFamily="34" charset="-122"/>
                        </a:rPr>
                        <a:t>日</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charset="-122"/>
                      </a:endParaRPr>
                    </a:p>
                  </a:txBody>
                  <a:tcPr marL="12700" marR="12700" marT="12700" anchor="ctr"/>
                </a:tc>
                <a:tc>
                  <a:txBody>
                    <a:bodyPr/>
                    <a:lstStyle/>
                    <a:p>
                      <a:pPr indent="0" algn="ctr">
                        <a:buNone/>
                      </a:pPr>
                      <a:r>
                        <a:rPr lang="en-US" altLang="zh-CN" sz="1600" b="0" kern="1200" dirty="0">
                          <a:solidFill>
                            <a:srgbClr val="000000"/>
                          </a:solidFill>
                          <a:latin typeface="微软雅黑" panose="020B0503020204020204" pitchFamily="34" charset="-122"/>
                          <a:ea typeface="微软雅黑" panose="020B0503020204020204" pitchFamily="34" charset="-122"/>
                          <a:cs typeface="+mn-cs"/>
                        </a:rPr>
                        <a:t>1.</a:t>
                      </a:r>
                      <a:r>
                        <a:rPr lang="zh-CN" altLang="en-US" sz="1600" b="0" kern="1200" dirty="0">
                          <a:solidFill>
                            <a:srgbClr val="000000"/>
                          </a:solidFill>
                          <a:latin typeface="微软雅黑" panose="020B0503020204020204" pitchFamily="34" charset="-122"/>
                          <a:ea typeface="微软雅黑" panose="020B0503020204020204" pitchFamily="34" charset="-122"/>
                          <a:cs typeface="+mn-cs"/>
                        </a:rPr>
                        <a:t>核对验收标准</a:t>
                      </a:r>
                    </a:p>
                    <a:p>
                      <a:pPr indent="0" algn="ctr">
                        <a:buNone/>
                      </a:pPr>
                      <a:r>
                        <a:rPr lang="en-US" altLang="zh-CN" sz="1600" b="0" kern="1200" dirty="0">
                          <a:solidFill>
                            <a:srgbClr val="000000"/>
                          </a:solidFill>
                          <a:latin typeface="微软雅黑" panose="020B0503020204020204" pitchFamily="34" charset="-122"/>
                          <a:ea typeface="微软雅黑" panose="020B0503020204020204" pitchFamily="34" charset="-122"/>
                          <a:cs typeface="+mn-cs"/>
                        </a:rPr>
                        <a:t>2.</a:t>
                      </a:r>
                      <a:r>
                        <a:rPr lang="en-US" sz="1600" b="0" kern="1200" dirty="0" err="1">
                          <a:solidFill>
                            <a:srgbClr val="000000"/>
                          </a:solidFill>
                          <a:latin typeface="微软雅黑" panose="020B0503020204020204" pitchFamily="34" charset="-122"/>
                          <a:ea typeface="微软雅黑" panose="020B0503020204020204" pitchFamily="34" charset="-122"/>
                          <a:cs typeface="+mn-cs"/>
                          <a:sym typeface="+mn-ea"/>
                        </a:rPr>
                        <a:t>签署项目验收单</a:t>
                      </a:r>
                      <a:endParaRPr lang="en-US" altLang="en-US" sz="1600" b="0" kern="1200" dirty="0">
                        <a:solidFill>
                          <a:srgbClr val="000000"/>
                        </a:solidFill>
                        <a:latin typeface="微软雅黑" panose="020B0503020204020204" pitchFamily="34" charset="-122"/>
                        <a:ea typeface="微软雅黑" panose="020B0503020204020204" pitchFamily="34" charset="-122"/>
                        <a:cs typeface="+mn-cs"/>
                      </a:endParaRPr>
                    </a:p>
                    <a:p>
                      <a:pPr indent="0" algn="ctr">
                        <a:buNone/>
                      </a:pPr>
                      <a:endParaRPr lang="en-US" altLang="en-US" sz="1600" b="0" kern="1200" dirty="0">
                        <a:solidFill>
                          <a:srgbClr val="000000"/>
                        </a:solidFill>
                        <a:latin typeface="微软雅黑" panose="020B0503020204020204" pitchFamily="34" charset="-122"/>
                        <a:ea typeface="微软雅黑" panose="020B0503020204020204" pitchFamily="34" charset="-122"/>
                        <a:cs typeface="+mn-cs"/>
                      </a:endParaRPr>
                    </a:p>
                  </a:txBody>
                  <a:tcPr marL="12700" marR="12700" marT="12700" anchor="ctr"/>
                </a:tc>
                <a:tc>
                  <a:txBody>
                    <a:bodyPr/>
                    <a:lstStyle/>
                    <a:p>
                      <a:pPr indent="0" algn="ctr">
                        <a:buNone/>
                      </a:pPr>
                      <a:r>
                        <a:rPr lang="zh-CN" altLang="en-US" sz="1600" b="0" dirty="0">
                          <a:solidFill>
                            <a:srgbClr val="000000"/>
                          </a:solidFill>
                          <a:latin typeface="微软雅黑" panose="020B0503020204020204" pitchFamily="34" charset="-122"/>
                          <a:ea typeface="微软雅黑" panose="020B0503020204020204" pitchFamily="34" charset="-122"/>
                        </a:rPr>
                        <a:t>财务</a:t>
                      </a:r>
                      <a:r>
                        <a:rPr lang="en-US" sz="1600" b="0" dirty="0">
                          <a:solidFill>
                            <a:srgbClr val="000000"/>
                          </a:solidFill>
                          <a:latin typeface="微软雅黑" panose="020B0503020204020204" pitchFamily="34" charset="-122"/>
                          <a:ea typeface="微软雅黑" panose="020B0503020204020204" pitchFamily="34" charset="-122"/>
                        </a:rPr>
                        <a:t>&amp;</a:t>
                      </a:r>
                      <a:r>
                        <a:rPr lang="en-US" sz="1600" b="0" dirty="0" err="1">
                          <a:solidFill>
                            <a:srgbClr val="000000"/>
                          </a:solidFill>
                          <a:latin typeface="微软雅黑" panose="020B0503020204020204" pitchFamily="34" charset="-122"/>
                          <a:ea typeface="微软雅黑" panose="020B0503020204020204" pitchFamily="34" charset="-122"/>
                        </a:rPr>
                        <a:t>IT部&amp;金蝶</a:t>
                      </a:r>
                      <a:endParaRPr lang="en-US"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charset="-122"/>
                      </a:endParaRPr>
                    </a:p>
                  </a:txBody>
                  <a:tcPr marL="12700" marR="12700" marT="12700" anchor="ctr"/>
                </a:tc>
                <a:tc>
                  <a:txBody>
                    <a:bodyPr/>
                    <a:lstStyle/>
                    <a:p>
                      <a:pPr indent="0" algn="ctr">
                        <a:buNone/>
                      </a:pPr>
                      <a:endParaRPr lang="en-US" altLang="en-US" sz="1600" b="0" dirty="0">
                        <a:solidFill>
                          <a:srgbClr val="FF0000"/>
                        </a:solidFill>
                        <a:latin typeface="微软雅黑" panose="020B0503020204020204" pitchFamily="34" charset="-122"/>
                        <a:ea typeface="微软雅黑" panose="020B0503020204020204" pitchFamily="34" charset="-122"/>
                      </a:endParaRPr>
                    </a:p>
                  </a:txBody>
                  <a:tcPr marL="12700" marR="12700" marT="12700" anchor="ctr"/>
                </a:tc>
                <a:extLst>
                  <a:ext uri="{0D108BD9-81ED-4DB2-BD59-A6C34878D82A}">
                    <a16:rowId xmlns:a16="http://schemas.microsoft.com/office/drawing/2014/main" val="10002"/>
                  </a:ext>
                </a:extLst>
              </a:tr>
              <a:tr h="1426210">
                <a:tc>
                  <a:txBody>
                    <a:bodyPr/>
                    <a:lstStyle/>
                    <a:p>
                      <a:pPr indent="0" algn="ctr">
                        <a:buNone/>
                      </a:pPr>
                      <a:r>
                        <a:rPr lang="en-US" altLang="zh-CN" sz="1600" b="0" dirty="0">
                          <a:solidFill>
                            <a:srgbClr val="000000"/>
                          </a:solidFill>
                          <a:latin typeface="微软雅黑" panose="020B0503020204020204" pitchFamily="34" charset="-122"/>
                          <a:ea typeface="微软雅黑" panose="020B0503020204020204" pitchFamily="34" charset="-122"/>
                        </a:rPr>
                        <a:t>XX</a:t>
                      </a:r>
                      <a:r>
                        <a:rPr lang="zh-CN" sz="1600" b="0" dirty="0">
                          <a:solidFill>
                            <a:srgbClr val="000000"/>
                          </a:solidFill>
                          <a:latin typeface="微软雅黑" panose="020B0503020204020204" pitchFamily="34" charset="-122"/>
                          <a:ea typeface="微软雅黑" panose="020B0503020204020204" pitchFamily="34" charset="-122"/>
                        </a:rPr>
                        <a:t>月</a:t>
                      </a:r>
                      <a:r>
                        <a:rPr lang="en-US" altLang="zh-CN" sz="1600" b="0" dirty="0">
                          <a:solidFill>
                            <a:srgbClr val="000000"/>
                          </a:solidFill>
                          <a:latin typeface="微软雅黑" panose="020B0503020204020204" pitchFamily="34" charset="-122"/>
                          <a:ea typeface="微软雅黑" panose="020B0503020204020204" pitchFamily="34" charset="-122"/>
                        </a:rPr>
                        <a:t>XX</a:t>
                      </a:r>
                      <a:r>
                        <a:rPr lang="zh-CN" sz="1600" b="0" dirty="0">
                          <a:solidFill>
                            <a:srgbClr val="000000"/>
                          </a:solidFill>
                          <a:latin typeface="微软雅黑" panose="020B0503020204020204" pitchFamily="34" charset="-122"/>
                          <a:ea typeface="微软雅黑" panose="020B0503020204020204" pitchFamily="34" charset="-122"/>
                        </a:rPr>
                        <a:t>日</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charset="-122"/>
                      </a:endParaRPr>
                    </a:p>
                  </a:txBody>
                  <a:tcPr marL="12700" marR="12700" marT="12700" anchor="ctr"/>
                </a:tc>
                <a:tc>
                  <a:txBody>
                    <a:bodyPr/>
                    <a:lstStyle/>
                    <a:p>
                      <a:pPr indent="0" algn="ctr">
                        <a:buNone/>
                      </a:pPr>
                      <a:r>
                        <a:rPr lang="en-US" altLang="zh-CN" sz="1600" b="0" kern="1200" dirty="0">
                          <a:solidFill>
                            <a:srgbClr val="000000"/>
                          </a:solidFill>
                          <a:latin typeface="微软雅黑" panose="020B0503020204020204" pitchFamily="34" charset="-122"/>
                          <a:ea typeface="微软雅黑" panose="020B0503020204020204" pitchFamily="34" charset="-122"/>
                          <a:cs typeface="+mn-cs"/>
                        </a:rPr>
                        <a:t>1.</a:t>
                      </a:r>
                      <a:r>
                        <a:rPr lang="zh-CN" altLang="en-US" sz="1600" b="0" kern="1200" dirty="0">
                          <a:solidFill>
                            <a:srgbClr val="000000"/>
                          </a:solidFill>
                          <a:latin typeface="微软雅黑" panose="020B0503020204020204" pitchFamily="34" charset="-122"/>
                          <a:ea typeface="微软雅黑" panose="020B0503020204020204" pitchFamily="34" charset="-122"/>
                          <a:cs typeface="+mn-cs"/>
                        </a:rPr>
                        <a:t>服务交接</a:t>
                      </a:r>
                    </a:p>
                  </a:txBody>
                  <a:tcPr marL="12700" marR="12700" marT="12700" anchor="ctr"/>
                </a:tc>
                <a:tc>
                  <a:txBody>
                    <a:bodyPr/>
                    <a:lstStyle/>
                    <a:p>
                      <a:pPr indent="0" algn="ctr">
                        <a:buNone/>
                      </a:pPr>
                      <a:r>
                        <a:rPr lang="en-US" sz="1600" b="0" dirty="0" err="1">
                          <a:solidFill>
                            <a:srgbClr val="000000"/>
                          </a:solidFill>
                          <a:latin typeface="微软雅黑" panose="020B0503020204020204" pitchFamily="34" charset="-122"/>
                          <a:ea typeface="微软雅黑" panose="020B0503020204020204" pitchFamily="34" charset="-122"/>
                        </a:rPr>
                        <a:t>IT部&amp;金蝶</a:t>
                      </a:r>
                      <a:endParaRPr lang="en-US"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charset="-122"/>
                      </a:endParaRPr>
                    </a:p>
                  </a:txBody>
                  <a:tcPr marL="12700" marR="12700" marT="12700" anchor="ctr"/>
                </a:tc>
                <a:tc>
                  <a:txBody>
                    <a:bodyPr/>
                    <a:lstStyle/>
                    <a:p>
                      <a:pPr indent="0" algn="l">
                        <a:buNone/>
                      </a:pPr>
                      <a:r>
                        <a:rPr lang="zh-CN" sz="1600" b="0" dirty="0">
                          <a:solidFill>
                            <a:srgbClr val="000000"/>
                          </a:solidFill>
                          <a:latin typeface="微软雅黑" panose="020B0503020204020204" pitchFamily="34" charset="-122"/>
                          <a:ea typeface="微软雅黑" panose="020B0503020204020204" pitchFamily="34" charset="-122"/>
                        </a:rPr>
                        <a:t>服务交接完成后，系统问题由运维团队主要负责，原实施团队协助处理</a:t>
                      </a:r>
                      <a:endParaRPr lang="zh-CN" altLang="en-US" sz="16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506195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项目服务团队介绍</a:t>
            </a:r>
          </a:p>
        </p:txBody>
      </p:sp>
      <p:sp>
        <p:nvSpPr>
          <p:cNvPr id="8" name="Rectangle 169">
            <a:extLst>
              <a:ext uri="{FF2B5EF4-FFF2-40B4-BE49-F238E27FC236}">
                <a16:creationId xmlns:a16="http://schemas.microsoft.com/office/drawing/2014/main" id="{157CC276-B5EB-4993-B391-E7A033D48E94}"/>
              </a:ext>
            </a:extLst>
          </p:cNvPr>
          <p:cNvSpPr/>
          <p:nvPr/>
        </p:nvSpPr>
        <p:spPr>
          <a:xfrm>
            <a:off x="7616308" y="2387179"/>
            <a:ext cx="1638667" cy="640080"/>
          </a:xfrm>
          <a:prstGeom prst="rect">
            <a:avLst/>
          </a:prstGeom>
          <a:noFill/>
          <a:ln w="9525" cap="flat" cmpd="sng" algn="ctr">
            <a:noFill/>
            <a:prstDash val="solid"/>
          </a:ln>
          <a:effectLst/>
        </p:spPr>
        <p:txBody>
          <a:bodyPr lIns="91452" tIns="0" rIns="91452"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323" fontAlgn="auto">
              <a:spcBef>
                <a:spcPts val="0"/>
              </a:spcBef>
              <a:spcAft>
                <a:spcPts val="0"/>
              </a:spcAft>
            </a:pPr>
            <a:r>
              <a:rPr kumimoji="1" lang="zh-CN" altLang="en-US" sz="1600" b="1" dirty="0">
                <a:solidFill>
                  <a:schemeClr val="tx1"/>
                </a:solidFill>
                <a:latin typeface="微软雅黑" panose="020B0503020204020204" pitchFamily="34" charset="-122"/>
                <a:ea typeface="微软雅黑" panose="020B0503020204020204" pitchFamily="34" charset="-122"/>
              </a:rPr>
              <a:t>营销支持</a:t>
            </a:r>
          </a:p>
        </p:txBody>
      </p:sp>
      <p:sp>
        <p:nvSpPr>
          <p:cNvPr id="9" name="Rectangle 179">
            <a:extLst>
              <a:ext uri="{FF2B5EF4-FFF2-40B4-BE49-F238E27FC236}">
                <a16:creationId xmlns:a16="http://schemas.microsoft.com/office/drawing/2014/main" id="{9EB1A42E-8C57-4555-9C8D-3AA8DA3A43B8}"/>
              </a:ext>
            </a:extLst>
          </p:cNvPr>
          <p:cNvSpPr/>
          <p:nvPr/>
        </p:nvSpPr>
        <p:spPr>
          <a:xfrm>
            <a:off x="7595140" y="3098880"/>
            <a:ext cx="1638667" cy="381000"/>
          </a:xfrm>
          <a:prstGeom prst="rect">
            <a:avLst/>
          </a:prstGeom>
          <a:solidFill>
            <a:srgbClr val="13AE67"/>
          </a:solidFill>
          <a:ln w="9525" cap="flat" cmpd="sng" algn="ctr">
            <a:noFill/>
            <a:prstDash val="solid"/>
          </a:ln>
          <a:effectLst/>
        </p:spPr>
        <p:txBody>
          <a:bodyPr lIns="0" tIns="45727" rIns="0" bIns="45727" rtlCol="0" anchor="t" anchorCtr="0"/>
          <a:lstStyle/>
          <a:p>
            <a:pPr algn="ctr" defTabSz="1218323" fontAlgn="auto">
              <a:spcBef>
                <a:spcPts val="0"/>
              </a:spcBef>
              <a:spcAft>
                <a:spcPts val="0"/>
              </a:spcAft>
              <a:defRPr/>
            </a:pPr>
            <a:r>
              <a:rPr lang="en-US" altLang="zh-CN" sz="1600" b="1" kern="0" dirty="0">
                <a:latin typeface="微软雅黑" panose="020B0503020204020204" pitchFamily="34" charset="-122"/>
                <a:ea typeface="微软雅黑" panose="020B0503020204020204" pitchFamily="34" charset="-122"/>
                <a:cs typeface="Segoe UI" panose="020B0502040204020203" pitchFamily="34" charset="0"/>
              </a:rPr>
              <a:t>XXX</a:t>
            </a:r>
            <a:endParaRPr lang="zh-CN" altLang="en-US" sz="1600" b="1" kern="0" dirty="0">
              <a:latin typeface="微软雅黑" panose="020B0503020204020204" pitchFamily="34" charset="-122"/>
              <a:ea typeface="微软雅黑" panose="020B0503020204020204" pitchFamily="34" charset="-122"/>
              <a:cs typeface="Segoe UI" panose="020B0502040204020203" pitchFamily="34" charset="0"/>
            </a:endParaRPr>
          </a:p>
        </p:txBody>
      </p:sp>
      <p:sp>
        <p:nvSpPr>
          <p:cNvPr id="10" name="Rectangle 153">
            <a:extLst>
              <a:ext uri="{FF2B5EF4-FFF2-40B4-BE49-F238E27FC236}">
                <a16:creationId xmlns:a16="http://schemas.microsoft.com/office/drawing/2014/main" id="{3EFFB4FD-5C0F-40DF-9693-92247CC2F8B5}"/>
              </a:ext>
            </a:extLst>
          </p:cNvPr>
          <p:cNvSpPr/>
          <p:nvPr/>
        </p:nvSpPr>
        <p:spPr>
          <a:xfrm>
            <a:off x="5501640" y="2387600"/>
            <a:ext cx="2114973" cy="640080"/>
          </a:xfrm>
          <a:prstGeom prst="rect">
            <a:avLst/>
          </a:prstGeom>
          <a:noFill/>
          <a:ln w="9525" cap="flat" cmpd="sng" algn="ctr">
            <a:noFill/>
            <a:prstDash val="solid"/>
          </a:ln>
          <a:effectLst/>
        </p:spPr>
        <p:txBody>
          <a:bodyPr lIns="91452" tIns="0" rIns="91452"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323" fontAlgn="auto">
              <a:spcBef>
                <a:spcPts val="0"/>
              </a:spcBef>
              <a:spcAft>
                <a:spcPts val="0"/>
              </a:spcAft>
            </a:pPr>
            <a:r>
              <a:rPr kumimoji="1" lang="zh-CN" altLang="en-US" sz="1600" b="1" dirty="0">
                <a:solidFill>
                  <a:schemeClr val="tx1"/>
                </a:solidFill>
                <a:latin typeface="微软雅黑" panose="020B0503020204020204" pitchFamily="34" charset="-122"/>
                <a:ea typeface="微软雅黑" panose="020B0503020204020204" pitchFamily="34" charset="-122"/>
              </a:rPr>
              <a:t>机构技术支持</a:t>
            </a:r>
          </a:p>
        </p:txBody>
      </p:sp>
      <p:sp>
        <p:nvSpPr>
          <p:cNvPr id="11" name="Rectangle 165">
            <a:extLst>
              <a:ext uri="{FF2B5EF4-FFF2-40B4-BE49-F238E27FC236}">
                <a16:creationId xmlns:a16="http://schemas.microsoft.com/office/drawing/2014/main" id="{BAFF0892-FB10-44F8-8C37-A789FF92E204}"/>
              </a:ext>
            </a:extLst>
          </p:cNvPr>
          <p:cNvSpPr/>
          <p:nvPr/>
        </p:nvSpPr>
        <p:spPr>
          <a:xfrm>
            <a:off x="5739641" y="3101161"/>
            <a:ext cx="1638667" cy="381000"/>
          </a:xfrm>
          <a:prstGeom prst="rect">
            <a:avLst/>
          </a:prstGeom>
          <a:solidFill>
            <a:srgbClr val="F08300"/>
          </a:solidFill>
          <a:ln w="9525" cap="flat" cmpd="sng" algn="ctr">
            <a:solidFill>
              <a:srgbClr val="F08300"/>
            </a:solidFill>
            <a:prstDash val="solid"/>
          </a:ln>
          <a:effectLst/>
        </p:spPr>
        <p:txBody>
          <a:bodyPr lIns="91452" tIns="45727" rIns="91452" bIns="45727" rtlCol="0" anchor="t" anchorCtr="0"/>
          <a:lstStyle/>
          <a:p>
            <a:pPr algn="ctr" defTabSz="1218323" fontAlgn="auto">
              <a:spcBef>
                <a:spcPts val="0"/>
              </a:spcBef>
              <a:spcAft>
                <a:spcPts val="0"/>
              </a:spcAft>
            </a:pPr>
            <a:r>
              <a:rPr lang="en-US" altLang="zh-CN" sz="1600" b="1" kern="0" spc="-51" dirty="0">
                <a:latin typeface="微软雅黑" panose="020B0503020204020204" pitchFamily="34" charset="-122"/>
                <a:ea typeface="微软雅黑" panose="020B0503020204020204" pitchFamily="34" charset="-122"/>
                <a:cs typeface="Segoe UI" panose="020B0502040204020203" pitchFamily="34" charset="0"/>
              </a:rPr>
              <a:t>XXX</a:t>
            </a:r>
            <a:endParaRPr lang="zh-CN" altLang="en-US" sz="1600" b="1" kern="0" spc="-51" dirty="0">
              <a:latin typeface="微软雅黑" panose="020B0503020204020204" pitchFamily="34" charset="-122"/>
              <a:ea typeface="微软雅黑" panose="020B0503020204020204" pitchFamily="34" charset="-122"/>
              <a:cs typeface="Segoe UI" panose="020B0502040204020203" pitchFamily="34" charset="0"/>
            </a:endParaRPr>
          </a:p>
        </p:txBody>
      </p:sp>
      <p:sp>
        <p:nvSpPr>
          <p:cNvPr id="12" name="Rectangle 167">
            <a:extLst>
              <a:ext uri="{FF2B5EF4-FFF2-40B4-BE49-F238E27FC236}">
                <a16:creationId xmlns:a16="http://schemas.microsoft.com/office/drawing/2014/main" id="{B758AC4C-2DD9-4DD8-9BDE-26570D37EF6C}"/>
              </a:ext>
            </a:extLst>
          </p:cNvPr>
          <p:cNvSpPr/>
          <p:nvPr/>
        </p:nvSpPr>
        <p:spPr>
          <a:xfrm>
            <a:off x="5739641" y="3555980"/>
            <a:ext cx="1638667" cy="381000"/>
          </a:xfrm>
          <a:prstGeom prst="rect">
            <a:avLst/>
          </a:prstGeom>
          <a:solidFill>
            <a:srgbClr val="F08300"/>
          </a:solidFill>
          <a:ln w="9525" cap="flat" cmpd="sng" algn="ctr">
            <a:solidFill>
              <a:srgbClr val="F08300"/>
            </a:solidFill>
            <a:prstDash val="solid"/>
          </a:ln>
          <a:effectLst/>
        </p:spPr>
        <p:txBody>
          <a:bodyPr lIns="91452" tIns="45727" rIns="91452" bIns="45727" rtlCol="0" anchor="t" anchorCtr="0"/>
          <a:lstStyle/>
          <a:p>
            <a:pPr algn="ctr" defTabSz="1218323" fontAlgn="auto">
              <a:spcBef>
                <a:spcPts val="0"/>
              </a:spcBef>
              <a:spcAft>
                <a:spcPts val="0"/>
              </a:spcAft>
            </a:pPr>
            <a:r>
              <a:rPr lang="en-US" altLang="zh-CN" sz="1600" b="1" kern="0" spc="-51" dirty="0">
                <a:latin typeface="微软雅黑" panose="020B0503020204020204" pitchFamily="34" charset="-122"/>
                <a:ea typeface="微软雅黑" panose="020B0503020204020204" pitchFamily="34" charset="-122"/>
                <a:cs typeface="Segoe UI" panose="020B0502040204020203" pitchFamily="34" charset="0"/>
              </a:rPr>
              <a:t>XXX</a:t>
            </a:r>
            <a:endParaRPr lang="zh-CN" altLang="en-US" sz="1600" b="1" kern="0" spc="-51" dirty="0">
              <a:latin typeface="微软雅黑" panose="020B0503020204020204" pitchFamily="34" charset="-122"/>
              <a:ea typeface="微软雅黑" panose="020B0503020204020204" pitchFamily="34" charset="-122"/>
              <a:cs typeface="Segoe UI" panose="020B0502040204020203" pitchFamily="34" charset="0"/>
            </a:endParaRPr>
          </a:p>
        </p:txBody>
      </p:sp>
      <p:sp>
        <p:nvSpPr>
          <p:cNvPr id="13" name="Left Brace 2">
            <a:extLst>
              <a:ext uri="{FF2B5EF4-FFF2-40B4-BE49-F238E27FC236}">
                <a16:creationId xmlns:a16="http://schemas.microsoft.com/office/drawing/2014/main" id="{5545F395-83AA-44A6-AEE8-2A5EAA6020B0}"/>
              </a:ext>
            </a:extLst>
          </p:cNvPr>
          <p:cNvSpPr/>
          <p:nvPr/>
        </p:nvSpPr>
        <p:spPr>
          <a:xfrm rot="5400000">
            <a:off x="1991360" y="1230208"/>
            <a:ext cx="445347" cy="1995593"/>
          </a:xfrm>
          <a:prstGeom prst="leftBrac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txBody>
          <a:bodyPr lIns="91452" tIns="45727" rIns="91452" bIns="45727" rtlCol="0" anchor="ctr"/>
          <a:lstStyle/>
          <a:p>
            <a:pPr algn="ctr" defTabSz="913530" fontAlgn="auto">
              <a:spcBef>
                <a:spcPts val="0"/>
              </a:spcBef>
              <a:spcAft>
                <a:spcPts val="0"/>
              </a:spcAft>
              <a:defRPr/>
            </a:pPr>
            <a:endParaRPr lang="en-US" sz="1867" kern="0">
              <a:latin typeface="微软雅黑" panose="020B0503020204020204" pitchFamily="34" charset="-122"/>
              <a:ea typeface="微软雅黑" panose="020B0503020204020204" pitchFamily="34" charset="-122"/>
              <a:cs typeface="Segoe UI" panose="020B0502040204020203" pitchFamily="34" charset="0"/>
            </a:endParaRPr>
          </a:p>
        </p:txBody>
      </p:sp>
      <p:sp>
        <p:nvSpPr>
          <p:cNvPr id="14" name="Rectangle 169">
            <a:extLst>
              <a:ext uri="{FF2B5EF4-FFF2-40B4-BE49-F238E27FC236}">
                <a16:creationId xmlns:a16="http://schemas.microsoft.com/office/drawing/2014/main" id="{1B9B9EE7-AB5E-4211-9857-DDE794FC56C9}"/>
              </a:ext>
            </a:extLst>
          </p:cNvPr>
          <p:cNvSpPr/>
          <p:nvPr/>
        </p:nvSpPr>
        <p:spPr>
          <a:xfrm>
            <a:off x="9449888" y="2387809"/>
            <a:ext cx="1638667" cy="640080"/>
          </a:xfrm>
          <a:prstGeom prst="rect">
            <a:avLst/>
          </a:prstGeom>
          <a:noFill/>
          <a:ln w="9525" cap="flat" cmpd="sng" algn="ctr">
            <a:noFill/>
            <a:prstDash val="solid"/>
          </a:ln>
          <a:effectLst/>
        </p:spPr>
        <p:txBody>
          <a:bodyPr lIns="91452" tIns="0" rIns="91452"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323" fontAlgn="auto">
              <a:spcBef>
                <a:spcPts val="0"/>
              </a:spcBef>
              <a:spcAft>
                <a:spcPts val="0"/>
              </a:spcAft>
            </a:pPr>
            <a:r>
              <a:rPr kumimoji="1" lang="zh-CN" altLang="en-US" sz="1600" b="1" dirty="0">
                <a:solidFill>
                  <a:schemeClr val="tx1"/>
                </a:solidFill>
                <a:latin typeface="微软雅黑" panose="020B0503020204020204" pitchFamily="34" charset="-122"/>
                <a:ea typeface="微软雅黑" panose="020B0503020204020204" pitchFamily="34" charset="-122"/>
              </a:rPr>
              <a:t>研发支持</a:t>
            </a:r>
            <a:endParaRPr lang="en-US" sz="1600" b="1" kern="0" spc="-51" dirty="0">
              <a:solidFill>
                <a:schemeClr val="tx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5" name="Rectangle 179">
            <a:extLst>
              <a:ext uri="{FF2B5EF4-FFF2-40B4-BE49-F238E27FC236}">
                <a16:creationId xmlns:a16="http://schemas.microsoft.com/office/drawing/2014/main" id="{55E69B25-2CBE-4802-AB71-ADCF1BB7328A}"/>
              </a:ext>
            </a:extLst>
          </p:cNvPr>
          <p:cNvSpPr/>
          <p:nvPr/>
        </p:nvSpPr>
        <p:spPr>
          <a:xfrm>
            <a:off x="9449887" y="3096971"/>
            <a:ext cx="1638667" cy="385191"/>
          </a:xfrm>
          <a:prstGeom prst="rect">
            <a:avLst/>
          </a:prstGeom>
          <a:solidFill>
            <a:srgbClr val="8E499C"/>
          </a:solidFill>
          <a:ln w="9525" cap="flat" cmpd="sng" algn="ctr">
            <a:noFill/>
            <a:prstDash val="solid"/>
          </a:ln>
          <a:effectLst/>
        </p:spPr>
        <p:txBody>
          <a:bodyPr lIns="0" tIns="45727" rIns="0" bIns="45727" rtlCol="0" anchor="t" anchorCtr="0"/>
          <a:lstStyle/>
          <a:p>
            <a:pPr algn="ctr" defTabSz="1218323" fontAlgn="auto">
              <a:spcBef>
                <a:spcPts val="0"/>
              </a:spcBef>
              <a:spcAft>
                <a:spcPts val="0"/>
              </a:spcAft>
              <a:defRPr/>
            </a:pPr>
            <a:r>
              <a:rPr lang="zh-CN" altLang="en-US" sz="1600" b="1" kern="0" spc="-51" dirty="0">
                <a:latin typeface="微软雅黑" panose="020B0503020204020204" pitchFamily="34" charset="-122"/>
                <a:ea typeface="微软雅黑" panose="020B0503020204020204" pitchFamily="34" charset="-122"/>
                <a:cs typeface="Segoe UI" panose="020B0502040204020203" pitchFamily="34" charset="0"/>
              </a:rPr>
              <a:t>金蝶研发中心</a:t>
            </a:r>
          </a:p>
        </p:txBody>
      </p:sp>
      <p:sp>
        <p:nvSpPr>
          <p:cNvPr id="16" name="Rectangle 37">
            <a:extLst>
              <a:ext uri="{FF2B5EF4-FFF2-40B4-BE49-F238E27FC236}">
                <a16:creationId xmlns:a16="http://schemas.microsoft.com/office/drawing/2014/main" id="{6FF88895-0DA2-4244-91A2-67BF57EC4324}"/>
              </a:ext>
            </a:extLst>
          </p:cNvPr>
          <p:cNvSpPr/>
          <p:nvPr/>
        </p:nvSpPr>
        <p:spPr>
          <a:xfrm>
            <a:off x="5234151" y="1333825"/>
            <a:ext cx="4806317" cy="640080"/>
          </a:xfrm>
          <a:prstGeom prst="rect">
            <a:avLst/>
          </a:prstGeom>
          <a:noFill/>
          <a:ln w="9525" cap="flat" cmpd="sng" algn="ctr">
            <a:noFill/>
            <a:prstDash val="solid"/>
          </a:ln>
          <a:effectLst/>
        </p:spPr>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323" fontAlgn="auto">
              <a:spcBef>
                <a:spcPts val="0"/>
              </a:spcBef>
              <a:spcAft>
                <a:spcPts val="0"/>
              </a:spcAft>
            </a:pPr>
            <a:r>
              <a:rPr kumimoji="1" lang="en-US" altLang="zh-CN" b="1" dirty="0">
                <a:solidFill>
                  <a:schemeClr val="tx1"/>
                </a:solidFill>
                <a:latin typeface="微软雅黑" panose="020B0503020204020204" pitchFamily="34" charset="-122"/>
                <a:ea typeface="微软雅黑" panose="020B0503020204020204" pitchFamily="34" charset="-122"/>
              </a:rPr>
              <a:t>XXX</a:t>
            </a:r>
            <a:r>
              <a:rPr kumimoji="1" lang="zh-CN" altLang="en-US" b="1" dirty="0">
                <a:solidFill>
                  <a:schemeClr val="tx1"/>
                </a:solidFill>
                <a:latin typeface="微软雅黑" panose="020B0503020204020204" pitchFamily="34" charset="-122"/>
                <a:ea typeface="微软雅黑" panose="020B0503020204020204" pitchFamily="34" charset="-122"/>
              </a:rPr>
              <a:t>项目服务支持团队</a:t>
            </a:r>
            <a:endParaRPr lang="en-US" b="1" kern="0" spc="-51" dirty="0">
              <a:solidFill>
                <a:schemeClr val="tx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7" name="Rectangle 137">
            <a:extLst>
              <a:ext uri="{FF2B5EF4-FFF2-40B4-BE49-F238E27FC236}">
                <a16:creationId xmlns:a16="http://schemas.microsoft.com/office/drawing/2014/main" id="{604236D6-E5E8-48B8-B23D-2CCC7B77587A}"/>
              </a:ext>
            </a:extLst>
          </p:cNvPr>
          <p:cNvSpPr/>
          <p:nvPr/>
        </p:nvSpPr>
        <p:spPr>
          <a:xfrm>
            <a:off x="3908566" y="2407421"/>
            <a:ext cx="1638668" cy="640080"/>
          </a:xfrm>
          <a:prstGeom prst="rect">
            <a:avLst/>
          </a:prstGeom>
          <a:noFill/>
          <a:ln w="9525" cap="flat" cmpd="sng" algn="ctr">
            <a:noFill/>
            <a:prstDash val="solid"/>
          </a:ln>
          <a:effectLst/>
        </p:spPr>
        <p:txBody>
          <a:bodyPr lIns="91452" tIns="0" rIns="91452"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323" fontAlgn="auto">
              <a:spcBef>
                <a:spcPts val="0"/>
              </a:spcBef>
              <a:spcAft>
                <a:spcPts val="0"/>
              </a:spcAft>
            </a:pPr>
            <a:r>
              <a:rPr kumimoji="1" lang="zh-CN" altLang="en-US" sz="1600" b="1" dirty="0">
                <a:solidFill>
                  <a:schemeClr val="tx1"/>
                </a:solidFill>
                <a:latin typeface="微软雅黑" panose="020B0503020204020204" pitchFamily="34" charset="-122"/>
                <a:ea typeface="微软雅黑" panose="020B0503020204020204" pitchFamily="34" charset="-122"/>
              </a:rPr>
              <a:t>总体支持</a:t>
            </a:r>
            <a:endParaRPr kumimoji="1" lang="zh-CN" altLang="en-US" sz="1600" b="1" kern="0" spc="-51" dirty="0">
              <a:solidFill>
                <a:schemeClr val="tx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8" name="Rectangle 149">
            <a:extLst>
              <a:ext uri="{FF2B5EF4-FFF2-40B4-BE49-F238E27FC236}">
                <a16:creationId xmlns:a16="http://schemas.microsoft.com/office/drawing/2014/main" id="{B2BB7E59-FB99-4B67-877F-758626FD7378}"/>
              </a:ext>
            </a:extLst>
          </p:cNvPr>
          <p:cNvSpPr/>
          <p:nvPr/>
        </p:nvSpPr>
        <p:spPr>
          <a:xfrm>
            <a:off x="3908566" y="3546921"/>
            <a:ext cx="1638668" cy="381000"/>
          </a:xfrm>
          <a:prstGeom prst="rect">
            <a:avLst/>
          </a:prstGeom>
          <a:solidFill>
            <a:srgbClr val="00B9EF"/>
          </a:solidFill>
          <a:ln w="9525" cap="flat" cmpd="sng" algn="ctr">
            <a:solidFill>
              <a:srgbClr val="3BBEB4"/>
            </a:solidFill>
            <a:prstDash val="solid"/>
          </a:ln>
          <a:effectLst/>
        </p:spPr>
        <p:txBody>
          <a:bodyPr lIns="91452" tIns="45727" rIns="91452" bIns="45727" rtlCol="0" anchor="t" anchorCtr="0"/>
          <a:lstStyle/>
          <a:p>
            <a:pPr algn="ctr" defTabSz="1218323" fontAlgn="auto">
              <a:spcBef>
                <a:spcPts val="0"/>
              </a:spcBef>
              <a:spcAft>
                <a:spcPts val="0"/>
              </a:spcAft>
              <a:defRPr/>
            </a:pPr>
            <a:r>
              <a:rPr lang="en-US" altLang="zh-CN" sz="1600" b="1" kern="0" spc="-51" dirty="0">
                <a:latin typeface="微软雅黑" panose="020B0503020204020204" pitchFamily="34" charset="-122"/>
                <a:ea typeface="微软雅黑" panose="020B0503020204020204" pitchFamily="34" charset="-122"/>
                <a:cs typeface="Segoe UI" panose="020B0502040204020203" pitchFamily="34" charset="0"/>
              </a:rPr>
              <a:t>XXX</a:t>
            </a:r>
            <a:endParaRPr lang="zh-CN" altLang="en-US" sz="1600" b="1" kern="0" spc="-51" dirty="0">
              <a:latin typeface="微软雅黑" panose="020B0503020204020204" pitchFamily="34" charset="-122"/>
              <a:ea typeface="微软雅黑" panose="020B0503020204020204" pitchFamily="34" charset="-122"/>
              <a:cs typeface="Segoe UI" panose="020B0502040204020203" pitchFamily="34" charset="0"/>
            </a:endParaRPr>
          </a:p>
        </p:txBody>
      </p:sp>
      <p:sp>
        <p:nvSpPr>
          <p:cNvPr id="19" name="Rectangle 150">
            <a:extLst>
              <a:ext uri="{FF2B5EF4-FFF2-40B4-BE49-F238E27FC236}">
                <a16:creationId xmlns:a16="http://schemas.microsoft.com/office/drawing/2014/main" id="{BFB34ED8-4DC9-43FC-8671-10E6B64B289D}"/>
              </a:ext>
            </a:extLst>
          </p:cNvPr>
          <p:cNvSpPr/>
          <p:nvPr/>
        </p:nvSpPr>
        <p:spPr>
          <a:xfrm>
            <a:off x="3908566" y="3089951"/>
            <a:ext cx="1638668" cy="381000"/>
          </a:xfrm>
          <a:prstGeom prst="rect">
            <a:avLst/>
          </a:prstGeom>
          <a:solidFill>
            <a:srgbClr val="00B9EF"/>
          </a:solidFill>
          <a:ln w="9525" cap="flat" cmpd="sng" algn="ctr">
            <a:solidFill>
              <a:srgbClr val="3BBEB4"/>
            </a:solidFill>
            <a:prstDash val="solid"/>
          </a:ln>
          <a:effectLst/>
        </p:spPr>
        <p:txBody>
          <a:bodyPr lIns="91452" tIns="45727" rIns="91452" bIns="45727" rtlCol="0" anchor="t" anchorCtr="0"/>
          <a:lstStyle/>
          <a:p>
            <a:pPr algn="ctr" defTabSz="1218323" fontAlgn="auto">
              <a:spcBef>
                <a:spcPts val="0"/>
              </a:spcBef>
              <a:spcAft>
                <a:spcPts val="0"/>
              </a:spcAft>
              <a:defRPr/>
            </a:pPr>
            <a:r>
              <a:rPr lang="en-US" altLang="zh-CN" sz="1600" b="1" kern="0" spc="-51" dirty="0">
                <a:latin typeface="微软雅黑" panose="020B0503020204020204" pitchFamily="34" charset="-122"/>
                <a:ea typeface="微软雅黑" panose="020B0503020204020204" pitchFamily="34" charset="-122"/>
                <a:cs typeface="Segoe UI" panose="020B0502040204020203" pitchFamily="34" charset="0"/>
              </a:rPr>
              <a:t>XXX</a:t>
            </a:r>
            <a:endParaRPr lang="zh-CN" altLang="en-US" sz="1600" b="1" kern="0" spc="-51" dirty="0">
              <a:latin typeface="微软雅黑" panose="020B0503020204020204" pitchFamily="34" charset="-122"/>
              <a:ea typeface="微软雅黑" panose="020B0503020204020204" pitchFamily="34" charset="-122"/>
              <a:cs typeface="Segoe UI" panose="020B0502040204020203" pitchFamily="34" charset="0"/>
            </a:endParaRPr>
          </a:p>
        </p:txBody>
      </p:sp>
      <p:sp>
        <p:nvSpPr>
          <p:cNvPr id="20" name="Pentagon 40">
            <a:extLst>
              <a:ext uri="{FF2B5EF4-FFF2-40B4-BE49-F238E27FC236}">
                <a16:creationId xmlns:a16="http://schemas.microsoft.com/office/drawing/2014/main" id="{5D761759-FEAE-4F06-A1E5-0DC4415C2789}"/>
              </a:ext>
            </a:extLst>
          </p:cNvPr>
          <p:cNvSpPr/>
          <p:nvPr/>
        </p:nvSpPr>
        <p:spPr bwMode="auto">
          <a:xfrm>
            <a:off x="748121" y="5349214"/>
            <a:ext cx="10861620" cy="675932"/>
          </a:xfrm>
          <a:prstGeom prst="homePlate">
            <a:avLst/>
          </a:prstGeom>
          <a:solidFill>
            <a:srgbClr val="1D4C7C">
              <a:lumMod val="60000"/>
              <a:lumOff val="40000"/>
            </a:srgbClr>
          </a:solidFill>
          <a:ln w="9525" cap="flat" cmpd="sng" algn="ctr">
            <a:noFill/>
            <a:prstDash val="solid"/>
            <a:headEnd type="none" w="med" len="med"/>
            <a:tailEnd type="none" w="med" len="med"/>
          </a:ln>
          <a:effectLst/>
        </p:spPr>
        <p:txBody>
          <a:bodyPr rot="0" spcFirstLastPara="0" vertOverflow="overflow" horzOverflow="overflow" vert="horz" wrap="square" lIns="45727" tIns="45727" rIns="45727" bIns="45727" numCol="1" spcCol="0" rtlCol="0" fromWordArt="0" anchor="ctr" anchorCtr="0" forceAA="0" compatLnSpc="1">
            <a:noAutofit/>
          </a:bodyPr>
          <a:lstStyle/>
          <a:p>
            <a:pPr algn="ctr" defTabSz="913530"/>
            <a:r>
              <a:rPr lang="zh-CN" altLang="en-US" sz="1600" kern="0" spc="-51" dirty="0">
                <a:latin typeface="微软雅黑" panose="020B0503020204020204" pitchFamily="34" charset="-122"/>
                <a:ea typeface="微软雅黑" panose="020B0503020204020204" pitchFamily="34" charset="-122"/>
                <a:cs typeface="Segoe UI" panose="020B0502040204020203" pitchFamily="34" charset="0"/>
              </a:rPr>
              <a:t>明晰的服务通道  可执行的服务体系  强有力的支持团队  目标：双赢！</a:t>
            </a:r>
            <a:endParaRPr lang="en-US" sz="1600" kern="0" spc="-51" dirty="0">
              <a:latin typeface="微软雅黑" panose="020B0503020204020204" pitchFamily="34" charset="-122"/>
              <a:ea typeface="微软雅黑" panose="020B0503020204020204" pitchFamily="34" charset="-122"/>
              <a:cs typeface="Segoe UI" panose="020B0502040204020203" pitchFamily="34" charset="0"/>
            </a:endParaRPr>
          </a:p>
        </p:txBody>
      </p:sp>
      <p:sp>
        <p:nvSpPr>
          <p:cNvPr id="21" name="Rectangle 123">
            <a:extLst>
              <a:ext uri="{FF2B5EF4-FFF2-40B4-BE49-F238E27FC236}">
                <a16:creationId xmlns:a16="http://schemas.microsoft.com/office/drawing/2014/main" id="{EADF34AD-6F52-412C-9468-5244158E2FD6}"/>
              </a:ext>
            </a:extLst>
          </p:cNvPr>
          <p:cNvSpPr/>
          <p:nvPr/>
        </p:nvSpPr>
        <p:spPr>
          <a:xfrm>
            <a:off x="1156547" y="1311487"/>
            <a:ext cx="2116667" cy="630767"/>
          </a:xfrm>
          <a:prstGeom prst="rect">
            <a:avLst/>
          </a:prstGeom>
          <a:noFill/>
          <a:ln w="9525" cap="flat" cmpd="sng" algn="ctr">
            <a:noFill/>
            <a:prstDash val="solid"/>
          </a:ln>
          <a:effectLst/>
        </p:spPr>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fontAlgn="auto">
              <a:spcBef>
                <a:spcPts val="0"/>
              </a:spcBef>
              <a:spcAft>
                <a:spcPts val="0"/>
              </a:spcAft>
            </a:pPr>
            <a:r>
              <a:rPr kumimoji="1" lang="zh-CN" altLang="en-US" b="1" dirty="0">
                <a:solidFill>
                  <a:schemeClr val="tx1"/>
                </a:solidFill>
                <a:latin typeface="微软雅黑" panose="020B0503020204020204" pitchFamily="34" charset="-122"/>
                <a:ea typeface="微软雅黑" panose="020B0503020204020204" pitchFamily="34" charset="-122"/>
              </a:rPr>
              <a:t>总部技术支持</a:t>
            </a:r>
            <a:endParaRPr lang="zh-CN" altLang="en-US" b="1" kern="0" spc="-51" dirty="0">
              <a:solidFill>
                <a:schemeClr val="tx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22" name="Rectangle 134">
            <a:extLst>
              <a:ext uri="{FF2B5EF4-FFF2-40B4-BE49-F238E27FC236}">
                <a16:creationId xmlns:a16="http://schemas.microsoft.com/office/drawing/2014/main" id="{5DD8A65E-6FD3-4C17-9140-4586FC5EFD33}"/>
              </a:ext>
            </a:extLst>
          </p:cNvPr>
          <p:cNvSpPr/>
          <p:nvPr/>
        </p:nvSpPr>
        <p:spPr>
          <a:xfrm>
            <a:off x="1273740" y="2517064"/>
            <a:ext cx="1876707" cy="338584"/>
          </a:xfrm>
          <a:prstGeom prst="rect">
            <a:avLst/>
          </a:prstGeom>
          <a:solidFill>
            <a:srgbClr val="005BAC"/>
          </a:solidFill>
          <a:ln w="9525" cap="flat" cmpd="sng" algn="ctr">
            <a:noFill/>
            <a:prstDash val="solid"/>
          </a:ln>
          <a:effectLst/>
        </p:spPr>
        <p:txBody>
          <a:bodyPr lIns="91452" tIns="45727" rIns="91452" bIns="45727"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fontAlgn="auto">
              <a:spcBef>
                <a:spcPts val="0"/>
              </a:spcBef>
              <a:spcAft>
                <a:spcPts val="0"/>
              </a:spcAft>
              <a:defRPr/>
            </a:pPr>
            <a:r>
              <a:rPr lang="zh-CN" alt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星瀚供应链</a:t>
            </a:r>
            <a:endParaRPr 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cxnSp>
        <p:nvCxnSpPr>
          <p:cNvPr id="23" name="Straight Connector 3">
            <a:extLst>
              <a:ext uri="{FF2B5EF4-FFF2-40B4-BE49-F238E27FC236}">
                <a16:creationId xmlns:a16="http://schemas.microsoft.com/office/drawing/2014/main" id="{876A0D96-62CC-4F1B-95C5-C58D1CD0DF91}"/>
              </a:ext>
            </a:extLst>
          </p:cNvPr>
          <p:cNvCxnSpPr/>
          <p:nvPr/>
        </p:nvCxnSpPr>
        <p:spPr>
          <a:xfrm>
            <a:off x="3625887" y="988720"/>
            <a:ext cx="0" cy="3880441"/>
          </a:xfrm>
          <a:prstGeom prst="line">
            <a:avLst/>
          </a:prstGeom>
          <a:noFill/>
          <a:ln w="9525" cap="flat" cmpd="sng" algn="ctr">
            <a:solidFill>
              <a:schemeClr val="bg1"/>
            </a:solidFill>
            <a:prstDash val="solid"/>
            <a:headEnd type="none"/>
            <a:tailEnd type="none"/>
          </a:ln>
          <a:effectLst/>
        </p:spPr>
      </p:cxnSp>
      <p:sp>
        <p:nvSpPr>
          <p:cNvPr id="24" name="Rectangle 133">
            <a:extLst>
              <a:ext uri="{FF2B5EF4-FFF2-40B4-BE49-F238E27FC236}">
                <a16:creationId xmlns:a16="http://schemas.microsoft.com/office/drawing/2014/main" id="{0B4E2AF8-01EF-4744-9BD6-498827BAB48D}"/>
              </a:ext>
            </a:extLst>
          </p:cNvPr>
          <p:cNvSpPr/>
          <p:nvPr/>
        </p:nvSpPr>
        <p:spPr>
          <a:xfrm>
            <a:off x="1274586" y="3090416"/>
            <a:ext cx="1876707" cy="338584"/>
          </a:xfrm>
          <a:prstGeom prst="rect">
            <a:avLst/>
          </a:prstGeom>
          <a:solidFill>
            <a:srgbClr val="005BAC"/>
          </a:solidFill>
          <a:ln w="9525" cap="flat" cmpd="sng" algn="ctr">
            <a:noFill/>
            <a:prstDash val="solid"/>
          </a:ln>
          <a:effectLst/>
        </p:spPr>
        <p:txBody>
          <a:bodyPr lIns="91452" tIns="45727" rIns="91452" bIns="45727"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fontAlgn="auto">
              <a:spcBef>
                <a:spcPts val="0"/>
              </a:spcBef>
              <a:spcAft>
                <a:spcPts val="0"/>
              </a:spcAft>
            </a:pPr>
            <a:r>
              <a:rPr 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sym typeface="+mn-ea"/>
              </a:rPr>
              <a:t>4008836836</a:t>
            </a:r>
            <a:r>
              <a:rPr lang="zh-CN" alt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sym typeface="+mn-ea"/>
              </a:rPr>
              <a:t>热线</a:t>
            </a:r>
            <a:endParaRPr 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cxnSp>
        <p:nvCxnSpPr>
          <p:cNvPr id="25" name="Straight Connector 3">
            <a:extLst>
              <a:ext uri="{FF2B5EF4-FFF2-40B4-BE49-F238E27FC236}">
                <a16:creationId xmlns:a16="http://schemas.microsoft.com/office/drawing/2014/main" id="{1145D564-FF09-4BA6-829F-F78629DA0A94}"/>
              </a:ext>
            </a:extLst>
          </p:cNvPr>
          <p:cNvCxnSpPr/>
          <p:nvPr/>
        </p:nvCxnSpPr>
        <p:spPr>
          <a:xfrm>
            <a:off x="3625887" y="988720"/>
            <a:ext cx="0" cy="3880441"/>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26" name="Left Brace 2">
            <a:extLst>
              <a:ext uri="{FF2B5EF4-FFF2-40B4-BE49-F238E27FC236}">
                <a16:creationId xmlns:a16="http://schemas.microsoft.com/office/drawing/2014/main" id="{0EB1771A-7D2D-4691-B660-8368A9A8C574}"/>
              </a:ext>
            </a:extLst>
          </p:cNvPr>
          <p:cNvSpPr/>
          <p:nvPr/>
        </p:nvSpPr>
        <p:spPr>
          <a:xfrm rot="5400000">
            <a:off x="7197600" y="-455268"/>
            <a:ext cx="444993" cy="5240755"/>
          </a:xfrm>
          <a:prstGeom prst="leftBrac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txBody>
          <a:bodyPr lIns="91452" tIns="45727" rIns="91452" bIns="45727" rtlCol="0" anchor="ctr"/>
          <a:lstStyle/>
          <a:p>
            <a:pPr algn="ctr" defTabSz="913530" fontAlgn="auto">
              <a:spcBef>
                <a:spcPts val="0"/>
              </a:spcBef>
              <a:spcAft>
                <a:spcPts val="0"/>
              </a:spcAft>
              <a:defRPr/>
            </a:pPr>
            <a:endParaRPr lang="en-US" sz="1867" kern="0">
              <a:latin typeface="微软雅黑" panose="020B0503020204020204" pitchFamily="34" charset="-122"/>
              <a:ea typeface="微软雅黑" panose="020B0503020204020204" pitchFamily="34" charset="-122"/>
              <a:cs typeface="Segoe UI" panose="020B0502040204020203" pitchFamily="34" charset="0"/>
            </a:endParaRPr>
          </a:p>
        </p:txBody>
      </p:sp>
      <p:sp>
        <p:nvSpPr>
          <p:cNvPr id="27" name="Rectangle 133">
            <a:extLst>
              <a:ext uri="{FF2B5EF4-FFF2-40B4-BE49-F238E27FC236}">
                <a16:creationId xmlns:a16="http://schemas.microsoft.com/office/drawing/2014/main" id="{D355C8E7-A9AD-4164-B8A9-6161AA384CA7}"/>
              </a:ext>
            </a:extLst>
          </p:cNvPr>
          <p:cNvSpPr/>
          <p:nvPr/>
        </p:nvSpPr>
        <p:spPr>
          <a:xfrm>
            <a:off x="1273386" y="3638974"/>
            <a:ext cx="1876285" cy="337831"/>
          </a:xfrm>
          <a:prstGeom prst="rect">
            <a:avLst/>
          </a:prstGeom>
          <a:solidFill>
            <a:srgbClr val="005BAC"/>
          </a:solidFill>
          <a:ln w="9525" cap="flat" cmpd="sng" algn="ctr">
            <a:noFill/>
            <a:prstDash val="solid"/>
          </a:ln>
          <a:effectLst/>
        </p:spPr>
        <p:txBody>
          <a:bodyPr lIns="91452" tIns="45727" rIns="91452" bIns="45727"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fontAlgn="auto">
              <a:spcBef>
                <a:spcPts val="0"/>
              </a:spcBef>
              <a:spcAft>
                <a:spcPts val="0"/>
              </a:spcAft>
            </a:pPr>
            <a:r>
              <a:rPr lang="zh-CN" alt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sym typeface="+mn-ea"/>
              </a:rPr>
              <a:t>运维云平台</a:t>
            </a:r>
            <a:r>
              <a:rPr lang="en-US" altLang="zh-CN"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sym typeface="+mn-ea"/>
              </a:rPr>
              <a:t>KSM</a:t>
            </a:r>
          </a:p>
        </p:txBody>
      </p:sp>
      <p:sp>
        <p:nvSpPr>
          <p:cNvPr id="28" name="Rectangle 133">
            <a:extLst>
              <a:ext uri="{FF2B5EF4-FFF2-40B4-BE49-F238E27FC236}">
                <a16:creationId xmlns:a16="http://schemas.microsoft.com/office/drawing/2014/main" id="{7DAF0AB8-806E-4142-AB75-CA27A1ACCBA8}"/>
              </a:ext>
            </a:extLst>
          </p:cNvPr>
          <p:cNvSpPr/>
          <p:nvPr/>
        </p:nvSpPr>
        <p:spPr>
          <a:xfrm>
            <a:off x="1274586" y="4187696"/>
            <a:ext cx="1876707" cy="338584"/>
          </a:xfrm>
          <a:prstGeom prst="rect">
            <a:avLst/>
          </a:prstGeom>
          <a:solidFill>
            <a:srgbClr val="005BAC"/>
          </a:solidFill>
          <a:ln w="9525" cap="flat" cmpd="sng" algn="ctr">
            <a:noFill/>
            <a:prstDash val="solid"/>
          </a:ln>
          <a:effectLst/>
        </p:spPr>
        <p:txBody>
          <a:bodyPr lIns="91452" tIns="45727" rIns="91452" bIns="45727"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fontAlgn="auto">
              <a:spcBef>
                <a:spcPts val="0"/>
              </a:spcBef>
              <a:spcAft>
                <a:spcPts val="0"/>
              </a:spcAft>
            </a:pPr>
            <a:r>
              <a:rPr lang="zh-CN" alt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sym typeface="+mn-ea"/>
              </a:rPr>
              <a:t>金蝶社区</a:t>
            </a:r>
            <a:endParaRPr lang="zh-CN" altLang="en-US" sz="1600" b="1" kern="0" spc="-51"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Tree>
    <p:extLst>
      <p:ext uri="{BB962C8B-B14F-4D97-AF65-F5344CB8AC3E}">
        <p14:creationId xmlns:p14="http://schemas.microsoft.com/office/powerpoint/2010/main" val="35988557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项目二期建设内容建议</a:t>
            </a:r>
            <a:r>
              <a:rPr lang="en-US" altLang="zh-CN" sz="1600" dirty="0">
                <a:solidFill>
                  <a:schemeClr val="tx1"/>
                </a:solidFill>
              </a:rPr>
              <a:t>——</a:t>
            </a:r>
            <a:r>
              <a:rPr lang="zh-CN" altLang="en-US" sz="1600" dirty="0">
                <a:solidFill>
                  <a:schemeClr val="tx1"/>
                </a:solidFill>
              </a:rPr>
              <a:t>张贴后续合作的意向</a:t>
            </a:r>
            <a:r>
              <a:rPr lang="en-US" altLang="zh-CN" sz="1600" dirty="0">
                <a:solidFill>
                  <a:schemeClr val="tx1"/>
                </a:solidFill>
              </a:rPr>
              <a:t>/</a:t>
            </a:r>
            <a:r>
              <a:rPr lang="zh-CN" altLang="en-US" sz="1600" dirty="0">
                <a:solidFill>
                  <a:schemeClr val="tx1"/>
                </a:solidFill>
              </a:rPr>
              <a:t>规划建议</a:t>
            </a:r>
          </a:p>
        </p:txBody>
      </p:sp>
      <p:graphicFrame>
        <p:nvGraphicFramePr>
          <p:cNvPr id="30" name="表格 29">
            <a:extLst>
              <a:ext uri="{FF2B5EF4-FFF2-40B4-BE49-F238E27FC236}">
                <a16:creationId xmlns:a16="http://schemas.microsoft.com/office/drawing/2014/main" id="{095ECBB7-EC8E-411C-9364-3EF0686079A4}"/>
              </a:ext>
            </a:extLst>
          </p:cNvPr>
          <p:cNvGraphicFramePr/>
          <p:nvPr>
            <p:custDataLst>
              <p:tags r:id="rId1"/>
            </p:custDataLst>
            <p:extLst>
              <p:ext uri="{D42A27DB-BD31-4B8C-83A1-F6EECF244321}">
                <p14:modId xmlns:p14="http://schemas.microsoft.com/office/powerpoint/2010/main" val="3026708492"/>
              </p:ext>
            </p:extLst>
          </p:nvPr>
        </p:nvGraphicFramePr>
        <p:xfrm>
          <a:off x="241640" y="1022344"/>
          <a:ext cx="11709356" cy="5545455"/>
        </p:xfrm>
        <a:graphic>
          <a:graphicData uri="http://schemas.openxmlformats.org/drawingml/2006/table">
            <a:tbl>
              <a:tblPr firstRow="1" bandRow="1">
                <a:tableStyleId>{5C22544A-7EE6-4342-B048-85BDC9FD1C3A}</a:tableStyleId>
              </a:tblPr>
              <a:tblGrid>
                <a:gridCol w="2623788">
                  <a:extLst>
                    <a:ext uri="{9D8B030D-6E8A-4147-A177-3AD203B41FA5}">
                      <a16:colId xmlns:a16="http://schemas.microsoft.com/office/drawing/2014/main" val="20000"/>
                    </a:ext>
                  </a:extLst>
                </a:gridCol>
                <a:gridCol w="4846496">
                  <a:extLst>
                    <a:ext uri="{9D8B030D-6E8A-4147-A177-3AD203B41FA5}">
                      <a16:colId xmlns:a16="http://schemas.microsoft.com/office/drawing/2014/main" val="20001"/>
                    </a:ext>
                  </a:extLst>
                </a:gridCol>
                <a:gridCol w="4239072">
                  <a:extLst>
                    <a:ext uri="{9D8B030D-6E8A-4147-A177-3AD203B41FA5}">
                      <a16:colId xmlns:a16="http://schemas.microsoft.com/office/drawing/2014/main" val="20002"/>
                    </a:ext>
                  </a:extLst>
                </a:gridCol>
              </a:tblGrid>
              <a:tr h="586105">
                <a:tc>
                  <a:txBody>
                    <a:bodyPr/>
                    <a:lstStyle/>
                    <a:p>
                      <a:pPr marL="0" indent="0" algn="ctr" defTabSz="608330" rtl="0" eaLnBrk="1" latinLnBrk="0" hangingPunct="1">
                        <a:buNone/>
                      </a:pPr>
                      <a:r>
                        <a:rPr lang="zh-CN" altLang="en-US" sz="1600" b="1" kern="1200" dirty="0">
                          <a:ln>
                            <a:noFill/>
                          </a:ln>
                          <a:solidFill>
                            <a:schemeClr val="tx1"/>
                          </a:solidFill>
                          <a:latin typeface="微软雅黑" panose="020B0503020204020204" pitchFamily="34" charset="-122"/>
                          <a:ea typeface="微软雅黑" panose="020B0503020204020204" pitchFamily="34" charset="-122"/>
                          <a:cs typeface="+mn-cs"/>
                        </a:rPr>
                        <a:t>系统模块</a:t>
                      </a: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indent="0" algn="ctr" defTabSz="608330" rtl="0" eaLnBrk="1" latinLnBrk="0" hangingPunct="1">
                        <a:buNone/>
                      </a:pPr>
                      <a:r>
                        <a:rPr lang="zh-CN" altLang="en-US" sz="1600" b="1" kern="1200" dirty="0">
                          <a:ln>
                            <a:noFill/>
                          </a:ln>
                          <a:solidFill>
                            <a:schemeClr val="tx1"/>
                          </a:solidFill>
                          <a:latin typeface="微软雅黑" panose="020B0503020204020204" pitchFamily="34" charset="-122"/>
                          <a:ea typeface="微软雅黑" panose="020B0503020204020204" pitchFamily="34" charset="-122"/>
                          <a:cs typeface="+mn-cs"/>
                        </a:rPr>
                        <a:t>主要功能</a:t>
                      </a: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indent="0" algn="ctr" defTabSz="608330" rtl="0" eaLnBrk="1" latinLnBrk="0" hangingPunct="1">
                        <a:buNone/>
                      </a:pPr>
                      <a:r>
                        <a:rPr lang="zh-CN" altLang="en-US" sz="1600" b="1" kern="1200" dirty="0">
                          <a:ln>
                            <a:noFill/>
                          </a:ln>
                          <a:solidFill>
                            <a:schemeClr val="tx1"/>
                          </a:solidFill>
                          <a:latin typeface="微软雅黑" panose="020B0503020204020204" pitchFamily="34" charset="-122"/>
                          <a:ea typeface="微软雅黑" panose="020B0503020204020204" pitchFamily="34" charset="-122"/>
                          <a:cs typeface="+mn-cs"/>
                        </a:rPr>
                        <a:t>建议理由</a:t>
                      </a: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chemeClr val="accent5">
                        <a:lumMod val="75000"/>
                      </a:schemeClr>
                    </a:solidFill>
                  </a:tcPr>
                </a:tc>
                <a:extLst>
                  <a:ext uri="{0D108BD9-81ED-4DB2-BD59-A6C34878D82A}">
                    <a16:rowId xmlns:a16="http://schemas.microsoft.com/office/drawing/2014/main" val="10000"/>
                  </a:ext>
                </a:extLst>
              </a:tr>
              <a:tr h="304800">
                <a:tc rowSpan="4">
                  <a:txBody>
                    <a:bodyPr/>
                    <a:lstStyle/>
                    <a:p>
                      <a:pPr indent="0" algn="ctr">
                        <a:buNone/>
                      </a:pPr>
                      <a:r>
                        <a:rPr lang="en-US" altLang="zh-CN" sz="1600" b="0" dirty="0">
                          <a:ln>
                            <a:noFill/>
                          </a:ln>
                          <a:solidFill>
                            <a:schemeClr val="tx1"/>
                          </a:solidFill>
                          <a:latin typeface="微软雅黑" panose="020B0503020204020204" pitchFamily="34" charset="-122"/>
                          <a:ea typeface="微软雅黑" panose="020B0503020204020204" pitchFamily="34" charset="-122"/>
                        </a:rPr>
                        <a:t>XXX</a:t>
                      </a:r>
                      <a:r>
                        <a:rPr lang="zh-CN" sz="1600" b="0" dirty="0">
                          <a:ln>
                            <a:noFill/>
                          </a:ln>
                          <a:solidFill>
                            <a:schemeClr val="tx1"/>
                          </a:solidFill>
                          <a:latin typeface="微软雅黑" panose="020B0503020204020204" pitchFamily="34" charset="-122"/>
                          <a:ea typeface="微软雅黑" panose="020B0503020204020204" pitchFamily="34" charset="-122"/>
                        </a:rPr>
                        <a:t>模块</a:t>
                      </a: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a:txBody>
                    <a:bodyPr/>
                    <a:lstStyle/>
                    <a:p>
                      <a:pPr marL="0" indent="0" algn="ctr" defTabSz="608330" rtl="0" eaLnBrk="1" latinLnBrk="0" hangingPunct="1">
                        <a:buNone/>
                      </a:pPr>
                      <a:endParaRPr lang="zh-CN" altLang="en-US" sz="1600" b="0" kern="1200" dirty="0">
                        <a:ln>
                          <a:noFill/>
                        </a:ln>
                        <a:solidFill>
                          <a:schemeClr val="tx1"/>
                        </a:solidFill>
                        <a:latin typeface="微软雅黑" panose="020B0503020204020204" pitchFamily="34" charset="-122"/>
                        <a:ea typeface="微软雅黑" panose="020B0503020204020204" pitchFamily="34" charset="-122"/>
                        <a:cs typeface="+mn-cs"/>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rowSpan="4">
                  <a:txBody>
                    <a:bodyPr/>
                    <a:lstStyle/>
                    <a:p>
                      <a:pPr indent="0" algn="l">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048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3048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3041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4"/>
                  </a:ext>
                </a:extLst>
              </a:tr>
              <a:tr h="304800">
                <a:tc rowSpan="2">
                  <a:txBody>
                    <a:bodyPr/>
                    <a:lstStyle/>
                    <a:p>
                      <a:pPr indent="0" algn="ctr">
                        <a:buNone/>
                      </a:pPr>
                      <a:r>
                        <a:rPr lang="en-US" altLang="zh-CN" sz="1600" b="0" dirty="0">
                          <a:ln>
                            <a:noFill/>
                          </a:ln>
                          <a:solidFill>
                            <a:schemeClr val="tx1"/>
                          </a:solidFill>
                          <a:latin typeface="微软雅黑" panose="020B0503020204020204" pitchFamily="34" charset="-122"/>
                          <a:ea typeface="微软雅黑" panose="020B0503020204020204" pitchFamily="34" charset="-122"/>
                        </a:rPr>
                        <a:t>XXX</a:t>
                      </a:r>
                      <a:r>
                        <a:rPr lang="zh-CN" sz="1600" b="0" dirty="0">
                          <a:ln>
                            <a:noFill/>
                          </a:ln>
                          <a:solidFill>
                            <a:schemeClr val="tx1"/>
                          </a:solidFill>
                          <a:latin typeface="微软雅黑" panose="020B0503020204020204" pitchFamily="34" charset="-122"/>
                          <a:ea typeface="微软雅黑" panose="020B0503020204020204" pitchFamily="34" charset="-122"/>
                        </a:rPr>
                        <a:t>模块</a:t>
                      </a: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rowSpan="2">
                  <a:txBody>
                    <a:bodyPr/>
                    <a:lstStyle/>
                    <a:p>
                      <a:pPr indent="0" algn="l">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71755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6"/>
                  </a:ext>
                </a:extLst>
              </a:tr>
              <a:tr h="304165">
                <a:tc rowSpan="4">
                  <a:txBody>
                    <a:bodyPr/>
                    <a:lstStyle/>
                    <a:p>
                      <a:pPr indent="0" algn="ctr">
                        <a:buNone/>
                      </a:pPr>
                      <a:r>
                        <a:rPr lang="en-US" altLang="zh-CN" sz="1600" b="0" dirty="0">
                          <a:ln>
                            <a:noFill/>
                          </a:ln>
                          <a:solidFill>
                            <a:schemeClr val="tx1"/>
                          </a:solidFill>
                          <a:latin typeface="微软雅黑" panose="020B0503020204020204" pitchFamily="34" charset="-122"/>
                          <a:ea typeface="微软雅黑" panose="020B0503020204020204" pitchFamily="34" charset="-122"/>
                        </a:rPr>
                        <a:t>XXX</a:t>
                      </a:r>
                      <a:r>
                        <a:rPr lang="zh-CN" sz="1600" b="0" dirty="0">
                          <a:ln>
                            <a:noFill/>
                          </a:ln>
                          <a:solidFill>
                            <a:schemeClr val="tx1"/>
                          </a:solidFill>
                          <a:latin typeface="微软雅黑" panose="020B0503020204020204" pitchFamily="34" charset="-122"/>
                          <a:ea typeface="微软雅黑" panose="020B0503020204020204" pitchFamily="34" charset="-122"/>
                        </a:rPr>
                        <a:t>模块</a:t>
                      </a: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rowSpan="4">
                  <a:txBody>
                    <a:bodyPr/>
                    <a:lstStyle/>
                    <a:p>
                      <a:pPr indent="0" algn="l">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048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8"/>
                  </a:ext>
                </a:extLst>
              </a:tr>
              <a:tr h="54356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9"/>
                  </a:ext>
                </a:extLst>
              </a:tr>
              <a:tr h="3048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10"/>
                  </a:ext>
                </a:extLst>
              </a:tr>
              <a:tr h="1261110">
                <a:tc>
                  <a:txBody>
                    <a:bodyPr/>
                    <a:lstStyle/>
                    <a:p>
                      <a:pPr indent="0" algn="ctr">
                        <a:buNone/>
                      </a:pPr>
                      <a:r>
                        <a:rPr lang="zh-CN" sz="1600" b="0" dirty="0">
                          <a:ln>
                            <a:noFill/>
                          </a:ln>
                          <a:solidFill>
                            <a:schemeClr val="tx1"/>
                          </a:solidFill>
                          <a:latin typeface="微软雅黑" panose="020B0503020204020204" pitchFamily="34" charset="-122"/>
                          <a:ea typeface="微软雅黑" panose="020B0503020204020204" pitchFamily="34" charset="-122"/>
                        </a:rPr>
                        <a:t>功能迭代</a:t>
                      </a: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a:txBody>
                    <a:bodyPr/>
                    <a:lstStyle/>
                    <a:p>
                      <a:pPr indent="0" algn="ctr">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tc>
                  <a:txBody>
                    <a:bodyPr/>
                    <a:lstStyle/>
                    <a:p>
                      <a:pPr indent="0" algn="l">
                        <a:buNone/>
                      </a:pPr>
                      <a:endParaRPr lang="zh-CN" altLang="en-US" sz="1600" b="0" dirty="0">
                        <a:ln>
                          <a:noFill/>
                        </a:ln>
                        <a:solidFill>
                          <a:schemeClr val="tx1"/>
                        </a:solidFill>
                        <a:latin typeface="微软雅黑" panose="020B0503020204020204" pitchFamily="34" charset="-122"/>
                        <a:ea typeface="微软雅黑" panose="020B0503020204020204" pitchFamily="34" charset="-122"/>
                      </a:endParaRPr>
                    </a:p>
                  </a:txBody>
                  <a:tcPr marL="12700" marR="12700" marT="127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3381437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A9BE6C69-1AF1-2E8E-E25F-59A7C3E6C1F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3266"/>
            <a:ext cx="12192000" cy="6863804"/>
          </a:xfrm>
          <a:prstGeom prst="rect">
            <a:avLst/>
          </a:prstGeom>
          <a:blipFill>
            <a:blip r:embed="rId3"/>
            <a:tile tx="0" ty="0" sx="100000" sy="100000" flip="none" algn="tl"/>
          </a:blipFill>
        </p:spPr>
      </p:pic>
      <p:sp>
        <p:nvSpPr>
          <p:cNvPr id="6" name="Text Placeholder 4">
            <a:extLst>
              <a:ext uri="{FF2B5EF4-FFF2-40B4-BE49-F238E27FC236}">
                <a16:creationId xmlns:a16="http://schemas.microsoft.com/office/drawing/2014/main" id="{75A2D184-75BA-0DE4-F091-53CEAD482A8B}"/>
              </a:ext>
            </a:extLst>
          </p:cNvPr>
          <p:cNvSpPr txBox="1"/>
          <p:nvPr/>
        </p:nvSpPr>
        <p:spPr>
          <a:xfrm>
            <a:off x="8016241" y="5024120"/>
            <a:ext cx="2997200" cy="51585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lvl1pPr>
              <a:spcBef>
                <a:spcPts val="200"/>
              </a:spcBef>
              <a:defRPr sz="1000">
                <a:solidFill>
                  <a:srgbClr val="FFFFFF"/>
                </a:solidFill>
                <a:latin typeface="Microsoft YaHei"/>
                <a:ea typeface="Microsoft YaHei"/>
                <a:cs typeface="Microsoft YaHei"/>
                <a:sym typeface="Microsoft YaHei"/>
              </a:defRPr>
            </a:lvl1pPr>
          </a:lstStyle>
          <a:p>
            <a:pPr defTabSz="609523" hangingPunct="0">
              <a:lnSpc>
                <a:spcPct val="150000"/>
              </a:lnSpc>
            </a:pPr>
            <a:r>
              <a:rPr lang="zh-CN" altLang="en-US" sz="18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cs typeface="+mn-cs"/>
                <a:sym typeface=""/>
              </a:rPr>
              <a:t>金蝶软件（中国）有限公司</a:t>
            </a:r>
          </a:p>
        </p:txBody>
      </p:sp>
      <p:sp>
        <p:nvSpPr>
          <p:cNvPr id="7" name="Rectangle 21">
            <a:extLst>
              <a:ext uri="{FF2B5EF4-FFF2-40B4-BE49-F238E27FC236}">
                <a16:creationId xmlns:a16="http://schemas.microsoft.com/office/drawing/2014/main" id="{24DACA92-BC5F-0276-9A9C-6CD76960832D}"/>
              </a:ext>
            </a:extLst>
          </p:cNvPr>
          <p:cNvSpPr>
            <a:spLocks noChangeArrowheads="1"/>
          </p:cNvSpPr>
          <p:nvPr/>
        </p:nvSpPr>
        <p:spPr bwMode="auto">
          <a:xfrm>
            <a:off x="8234216" y="5461000"/>
            <a:ext cx="2522240" cy="515851"/>
          </a:xfrm>
          <a:prstGeom prst="rect">
            <a:avLst/>
          </a:prstGeom>
          <a:noFill/>
          <a:ln w="9525">
            <a:noFill/>
            <a:miter lim="800000"/>
          </a:ln>
        </p:spPr>
        <p:txBody>
          <a:bodyPr/>
          <a:lstStyle/>
          <a:p>
            <a:pPr marL="457189" indent="-457189" eaLnBrk="0" hangingPunct="0">
              <a:spcBef>
                <a:spcPct val="20000"/>
              </a:spcBef>
              <a:buClr>
                <a:srgbClr val="003399"/>
              </a:buClr>
              <a:buSzPct val="80000"/>
            </a:pPr>
            <a:fld id="{6057054C-BAD9-47E3-AE07-783BBE500545}" type="datetime2">
              <a:rPr lang="zh-CN" altLang="en-US" sz="2000" b="1">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rPr>
              <a:pPr marL="457189" indent="-457189" eaLnBrk="0" hangingPunct="0">
                <a:spcBef>
                  <a:spcPct val="20000"/>
                </a:spcBef>
                <a:buClr>
                  <a:srgbClr val="003399"/>
                </a:buClr>
                <a:buSzPct val="80000"/>
              </a:pPr>
              <a:t>2022年9月23日</a:t>
            </a:fld>
            <a:endParaRPr lang="zh-CN" altLang="en-US" sz="2000" b="1" dirty="0">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endParaRPr>
          </a:p>
        </p:txBody>
      </p:sp>
      <p:sp>
        <p:nvSpPr>
          <p:cNvPr id="8" name="Object 304">
            <a:extLst>
              <a:ext uri="{FF2B5EF4-FFF2-40B4-BE49-F238E27FC236}">
                <a16:creationId xmlns:a16="http://schemas.microsoft.com/office/drawing/2014/main" id="{D326C794-3D9F-C611-0177-61AA90A0C2C8}"/>
              </a:ext>
            </a:extLst>
          </p:cNvPr>
          <p:cNvSpPr txBox="1"/>
          <p:nvPr/>
        </p:nvSpPr>
        <p:spPr>
          <a:xfrm>
            <a:off x="2621280" y="1600001"/>
            <a:ext cx="7223760" cy="2728159"/>
          </a:xfrm>
          <a:prstGeom prst="rect">
            <a:avLst/>
          </a:prstGeom>
        </p:spPr>
        <p:txBody>
          <a:bodyPr vert="horz" rtlCol="0" anchor="t" anchorCtr="0">
            <a:noAutofit/>
          </a:bodyPr>
          <a:lstStyle>
            <a:defPPr>
              <a:defRPr lang="zh-CN"/>
            </a:defPPr>
            <a:lvl1pPr algn="ctr" defTabSz="457043">
              <a:defRPr sz="5400" b="1">
                <a:solidFill>
                  <a:schemeClr val="bg1"/>
                </a:solidFill>
                <a:effectLst>
                  <a:outerShdw blurRad="23812" dist="63500" dir="2520000" algn="ctr" rotWithShape="0">
                    <a:srgbClr val="35090A">
                      <a:alpha val="50000"/>
                    </a:srgbClr>
                  </a:outerShdw>
                </a:effectLst>
                <a:latin typeface="黑体" panose="02010609060101010101" pitchFamily="49" charset="-122"/>
                <a:ea typeface="黑体" panose="02010609060101010101" pitchFamily="49" charset="-122"/>
              </a:defRPr>
            </a:lvl1pPr>
          </a:lstStyle>
          <a:p>
            <a:r>
              <a:rPr lang="zh-CN" altLang="en-US" dirty="0"/>
              <a:t>预祝：</a:t>
            </a:r>
            <a:r>
              <a:rPr lang="en-US" altLang="zh-CN" dirty="0">
                <a:sym typeface=""/>
              </a:rPr>
              <a:t> XXX</a:t>
            </a:r>
            <a:r>
              <a:rPr lang="zh-CN" altLang="en-US" dirty="0">
                <a:sym typeface=""/>
              </a:rPr>
              <a:t>系统项目</a:t>
            </a:r>
            <a:endParaRPr lang="en-US" altLang="zh-CN" dirty="0">
              <a:sym typeface=""/>
            </a:endParaRPr>
          </a:p>
          <a:p>
            <a:r>
              <a:rPr lang="zh-CN" altLang="en-US" dirty="0">
                <a:sym typeface=""/>
              </a:rPr>
              <a:t> 验收</a:t>
            </a:r>
            <a:r>
              <a:rPr lang="zh-CN" altLang="en-US" dirty="0"/>
              <a:t>成功，合作共赢！</a:t>
            </a:r>
            <a:endParaRPr lang="en-US" altLang="zh-CN" dirty="0"/>
          </a:p>
          <a:p>
            <a:r>
              <a:rPr lang="en-US" altLang="zh-CN" dirty="0"/>
              <a:t>     </a:t>
            </a:r>
            <a:r>
              <a:rPr lang="en-US" altLang="zh-CN" sz="4000" dirty="0"/>
              <a:t>——</a:t>
            </a:r>
            <a:r>
              <a:rPr lang="zh-CN" altLang="en-US" sz="4000" dirty="0"/>
              <a:t>双方合影留念</a:t>
            </a:r>
            <a:endParaRPr lang="en-US" altLang="zh-CN" sz="4000" dirty="0">
              <a:sym typeface=""/>
            </a:endParaRPr>
          </a:p>
        </p:txBody>
      </p:sp>
      <p:sp>
        <p:nvSpPr>
          <p:cNvPr id="11" name="íSľïdê">
            <a:extLst>
              <a:ext uri="{FF2B5EF4-FFF2-40B4-BE49-F238E27FC236}">
                <a16:creationId xmlns:a16="http://schemas.microsoft.com/office/drawing/2014/main" id="{BA35AB38-C040-5556-8465-4DBAA9CA83EF}"/>
              </a:ext>
            </a:extLst>
          </p:cNvPr>
          <p:cNvSpPr txBox="1"/>
          <p:nvPr/>
        </p:nvSpPr>
        <p:spPr>
          <a:xfrm>
            <a:off x="264160" y="96657"/>
            <a:ext cx="3129280" cy="728339"/>
          </a:xfrm>
          <a:prstGeom prst="rect">
            <a:avLst/>
          </a:prstGeom>
          <a:noFill/>
        </p:spPr>
        <p:txBody>
          <a:bodyPr wrap="none" lIns="67500" tIns="35100" rIns="67500" bIns="35100" anchor="b" anchorCtr="0">
            <a:noAutofit/>
          </a:bodyPr>
          <a:lstStyle>
            <a:defPPr>
              <a:defRPr lang="zh-CN"/>
            </a:defPPr>
            <a:lvl1pPr fontAlgn="auto">
              <a:spcAft>
                <a:spcPts val="0"/>
              </a:spcAft>
              <a:defRPr kumimoji="0" sz="1600" b="1">
                <a:solidFill>
                  <a:schemeClr val="bg1"/>
                </a:solidFill>
                <a:latin typeface="Arial"/>
                <a:ea typeface="微软雅黑"/>
              </a:defRPr>
            </a:lvl1pPr>
          </a:lstStyle>
          <a:p>
            <a:r>
              <a:rPr lang="zh-CN" altLang="en-US" sz="4000" dirty="0">
                <a:latin typeface="黑体" panose="02010609060101010101" pitchFamily="49" charset="-122"/>
                <a:ea typeface="黑体" panose="02010609060101010101" pitchFamily="49" charset="-122"/>
                <a:sym typeface=""/>
              </a:rPr>
              <a:t>客户</a:t>
            </a:r>
            <a:r>
              <a:rPr lang="en-US" altLang="zh-CN" sz="4000" dirty="0">
                <a:latin typeface="黑体" panose="02010609060101010101" pitchFamily="49" charset="-122"/>
                <a:ea typeface="黑体" panose="02010609060101010101" pitchFamily="49" charset="-122"/>
                <a:sym typeface=""/>
              </a:rPr>
              <a:t>LOGO</a:t>
            </a:r>
            <a:r>
              <a:rPr lang="zh-CN" altLang="en-US" sz="4000" dirty="0">
                <a:latin typeface="黑体" panose="02010609060101010101" pitchFamily="49" charset="-122"/>
                <a:ea typeface="黑体" panose="02010609060101010101" pitchFamily="49" charset="-122"/>
                <a:sym typeface=""/>
              </a:rPr>
              <a:t>贴图</a:t>
            </a:r>
            <a:endParaRPr lang="en-US" altLang="zh-CN" sz="4000" dirty="0">
              <a:latin typeface="黑体" panose="02010609060101010101" pitchFamily="49" charset="-122"/>
              <a:ea typeface="黑体" panose="02010609060101010101" pitchFamily="49" charset="-122"/>
              <a:sym typeface=""/>
            </a:endParaRPr>
          </a:p>
        </p:txBody>
      </p:sp>
      <p:pic>
        <p:nvPicPr>
          <p:cNvPr id="14" name="图片 13">
            <a:extLst>
              <a:ext uri="{FF2B5EF4-FFF2-40B4-BE49-F238E27FC236}">
                <a16:creationId xmlns:a16="http://schemas.microsoft.com/office/drawing/2014/main" id="{4C9EE6E4-89EB-1809-214E-180049E3A5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07249" y="157618"/>
            <a:ext cx="2082967" cy="934383"/>
          </a:xfrm>
          <a:prstGeom prst="rect">
            <a:avLst/>
          </a:prstGeom>
        </p:spPr>
      </p:pic>
      <p:sp>
        <p:nvSpPr>
          <p:cNvPr id="2" name="文本框 1">
            <a:extLst>
              <a:ext uri="{FF2B5EF4-FFF2-40B4-BE49-F238E27FC236}">
                <a16:creationId xmlns:a16="http://schemas.microsoft.com/office/drawing/2014/main" id="{A9319601-9081-6F35-484B-901B8C00911A}"/>
              </a:ext>
            </a:extLst>
          </p:cNvPr>
          <p:cNvSpPr txBox="1"/>
          <p:nvPr/>
        </p:nvSpPr>
        <p:spPr>
          <a:xfrm>
            <a:off x="4521200" y="4328160"/>
            <a:ext cx="4119416" cy="584775"/>
          </a:xfrm>
          <a:prstGeom prst="rect">
            <a:avLst/>
          </a:prstGeom>
          <a:noFill/>
        </p:spPr>
        <p:txBody>
          <a:bodyPr wrap="square">
            <a:spAutoFit/>
          </a:bodyPr>
          <a:lstStyle/>
          <a:p>
            <a:r>
              <a:rPr lang="zh-CN" altLang="en-US" sz="3200" b="1" dirty="0">
                <a:solidFill>
                  <a:srgbClr val="FFFF00"/>
                </a:solidFill>
                <a:latin typeface="微软雅黑" panose="020B0503020204020204" pitchFamily="34" charset="-122"/>
                <a:ea typeface="微软雅黑" panose="020B0503020204020204" pitchFamily="34" charset="-122"/>
              </a:rPr>
              <a:t> </a:t>
            </a:r>
            <a:r>
              <a:rPr lang="zh-CN" altLang="en-US" sz="3200" b="1" dirty="0">
                <a:solidFill>
                  <a:srgbClr val="FFFF00"/>
                </a:solidFill>
                <a:latin typeface="微软雅黑" panose="020B0503020204020204" pitchFamily="34" charset="-122"/>
                <a:ea typeface="微软雅黑" panose="020B0503020204020204" pitchFamily="34" charset="-122"/>
                <a:cs typeface="Arial"/>
              </a:rPr>
              <a:t>新起点    新未来</a:t>
            </a:r>
          </a:p>
        </p:txBody>
      </p:sp>
    </p:spTree>
    <p:extLst>
      <p:ext uri="{BB962C8B-B14F-4D97-AF65-F5344CB8AC3E}">
        <p14:creationId xmlns:p14="http://schemas.microsoft.com/office/powerpoint/2010/main" val="41663156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9066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9a313cbe-262e-4006-8f49-86c2ba52543f}"/>
  <p:tag name="TABLE_ENDDRAG_ORIGIN_RECT" val="881*357"/>
  <p:tag name="TABLE_ENDDRAG_RECT" val="29*90*881*357"/>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a62cd5ce-d48a-4b9f-baff-997fa1ec5c4c}"/>
  <p:tag name="TABLE_ENDDRAG_ORIGIN_RECT" val="907*415"/>
  <p:tag name="TABLE_ENDDRAG_RECT" val="24*73*907*415"/>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themeOverride>
</file>

<file path=ppt/theme/themeOverride2.xml><?xml version="1.0" encoding="utf-8"?>
<a:themeOverride xmlns:a="http://schemas.openxmlformats.org/drawingml/2006/main">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themeOverride>
</file>

<file path=ppt/theme/themeOverride3.xml><?xml version="1.0" encoding="utf-8"?>
<a:themeOverride xmlns:a="http://schemas.openxmlformats.org/drawingml/2006/main">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14524</TotalTime>
  <Words>567</Words>
  <Application>Microsoft Office PowerPoint</Application>
  <PresentationFormat>宽屏</PresentationFormat>
  <Paragraphs>112</Paragraphs>
  <Slides>29</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29</vt:i4>
      </vt:variant>
    </vt:vector>
  </HeadingPairs>
  <TitlesOfParts>
    <vt:vector size="43" baseType="lpstr">
      <vt:lpstr>Helvetica Light</vt:lpstr>
      <vt:lpstr>Helvetica Neue</vt:lpstr>
      <vt:lpstr>Helvetica Neue Medium</vt:lpstr>
      <vt:lpstr>Microsoft YaHei Bold</vt:lpstr>
      <vt:lpstr>Microsoft YaHei Light</vt:lpstr>
      <vt:lpstr>等线</vt:lpstr>
      <vt:lpstr>黑体</vt:lpstr>
      <vt:lpstr>宋体</vt:lpstr>
      <vt:lpstr>微软雅黑</vt:lpstr>
      <vt:lpstr>微软雅黑</vt:lpstr>
      <vt:lpstr>Arial</vt:lpstr>
      <vt:lpstr>Segoe UI</vt:lpstr>
      <vt:lpstr>Wingdings</vt:lpstr>
      <vt:lpstr>1_Office 主题​​</vt:lpstr>
      <vt:lpstr>PowerPoint 演示文稿</vt:lpstr>
      <vt:lpstr>XXX项目验收汇报会</vt:lpstr>
      <vt:lpstr>目 录</vt:lpstr>
      <vt:lpstr>项目总体概况</vt:lpstr>
      <vt:lpstr>项目业务架构规划 </vt:lpstr>
      <vt:lpstr>业务痛点分析 </vt:lpstr>
      <vt:lpstr>项目业务目标</vt:lpstr>
      <vt:lpstr>项目交付范围</vt:lpstr>
      <vt:lpstr>项目实现情况</vt:lpstr>
      <vt:lpstr>蓝图方案</vt:lpstr>
      <vt:lpstr>项目进程——按照项目大概日期</vt:lpstr>
      <vt:lpstr>项目成果——参考系统实现效果</vt:lpstr>
      <vt:lpstr>困难与措施</vt:lpstr>
      <vt:lpstr>积极因素</vt:lpstr>
      <vt:lpstr>经验总结</vt:lpstr>
      <vt:lpstr>幸福曲线</vt:lpstr>
      <vt:lpstr>项目应用亮点</vt:lpstr>
      <vt:lpstr>应用亮点1——XXX内容</vt:lpstr>
      <vt:lpstr>项目业务价值</vt:lpstr>
      <vt:lpstr>价值提升——双方团队能力提升</vt:lpstr>
      <vt:lpstr>业务价值1——总览</vt:lpstr>
      <vt:lpstr>业务价值2——价值分项展示</vt:lpstr>
      <vt:lpstr>感谢与展望</vt:lpstr>
      <vt:lpstr>项目回顾——精彩的瞬间</vt:lpstr>
      <vt:lpstr>项目验收交接工作计划——服务团队跟上</vt:lpstr>
      <vt:lpstr>项目服务团队介绍</vt:lpstr>
      <vt:lpstr>项目二期建设内容建议——张贴后续合作的意向/规划建议</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530</cp:revision>
  <dcterms:created xsi:type="dcterms:W3CDTF">2022-05-26T11:12:00Z</dcterms:created>
  <dcterms:modified xsi:type="dcterms:W3CDTF">2022-09-23T09:31:35Z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