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handoutMasterIdLst>
    <p:handoutMasterId r:id="rId22"/>
  </p:handoutMasterIdLst>
  <p:sldIdLst>
    <p:sldId id="15051996" r:id="rId2"/>
    <p:sldId id="15052081" r:id="rId3"/>
    <p:sldId id="15052082" r:id="rId4"/>
    <p:sldId id="15052083" r:id="rId5"/>
    <p:sldId id="15052084" r:id="rId6"/>
    <p:sldId id="15052085" r:id="rId7"/>
    <p:sldId id="15052086" r:id="rId8"/>
    <p:sldId id="15052087" r:id="rId9"/>
    <p:sldId id="15052088" r:id="rId10"/>
    <p:sldId id="15052089" r:id="rId11"/>
    <p:sldId id="15052097" r:id="rId12"/>
    <p:sldId id="15052090" r:id="rId13"/>
    <p:sldId id="15052098" r:id="rId14"/>
    <p:sldId id="15052093" r:id="rId15"/>
    <p:sldId id="15052099" r:id="rId16"/>
    <p:sldId id="15052094" r:id="rId17"/>
    <p:sldId id="15052095" r:id="rId18"/>
    <p:sldId id="15051907" r:id="rId19"/>
    <p:sldId id="15051999" r:id="rId20"/>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2081"/>
            <p14:sldId id="15052082"/>
            <p14:sldId id="15052083"/>
            <p14:sldId id="15052084"/>
            <p14:sldId id="15052085"/>
            <p14:sldId id="15052086"/>
            <p14:sldId id="15052087"/>
            <p14:sldId id="15052088"/>
            <p14:sldId id="15052089"/>
            <p14:sldId id="15052097"/>
            <p14:sldId id="15052090"/>
            <p14:sldId id="15052098"/>
            <p14:sldId id="15052093"/>
            <p14:sldId id="15052099"/>
            <p14:sldId id="15052094"/>
            <p14:sldId id="15052095"/>
            <p14:sldId id="15051907"/>
            <p14:sldId id="15051999"/>
          </p14:sldIdLst>
        </p14:section>
      </p14:sectionLst>
    </p:ext>
    <p:ext uri="{EFAFB233-063F-42B5-8137-9DF3F51BA10A}">
      <p15:sldGuideLst xmlns:p15="http://schemas.microsoft.com/office/powerpoint/2012/main">
        <p15:guide id="1" orient="horz" pos="2160">
          <p15:clr>
            <a:srgbClr val="A4A3A4"/>
          </p15:clr>
        </p15:guide>
        <p15:guide id="2" pos="3860">
          <p15:clr>
            <a:srgbClr val="A4A3A4"/>
          </p15:clr>
        </p15:guide>
        <p15:guide id="3" pos="310">
          <p15:clr>
            <a:srgbClr val="A4A3A4"/>
          </p15:clr>
        </p15:guide>
        <p15:guide id="4" pos="7491">
          <p15:clr>
            <a:srgbClr val="A4A3A4"/>
          </p15:clr>
        </p15:guide>
        <p15:guide id="5" orient="horz" pos="187">
          <p15:clr>
            <a:srgbClr val="A4A3A4"/>
          </p15:clr>
        </p15:guide>
        <p15:guide id="6" orient="horz" pos="413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67" d="100"/>
          <a:sy n="67" d="100"/>
        </p:scale>
        <p:origin x="836" y="52"/>
      </p:cViewPr>
      <p:guideLst>
        <p:guide orient="horz" pos="2160"/>
        <p:guide pos="3860"/>
        <p:guide pos="310"/>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FC1CC17-5C2A-4C3F-B91E-869CE73F91CC}" type="doc">
      <dgm:prSet loTypeId="urn:microsoft.com/office/officeart/2005/8/layout/chevron2" loCatId="list" qsTypeId="urn:microsoft.com/office/officeart/2005/8/quickstyle/simple1#1" qsCatId="simple" csTypeId="urn:microsoft.com/office/officeart/2005/8/colors/colorful3#1" csCatId="colorful" phldr="1"/>
      <dgm:spPr/>
      <dgm:t>
        <a:bodyPr/>
        <a:lstStyle/>
        <a:p>
          <a:endParaRPr lang="zh-CN" altLang="en-US"/>
        </a:p>
      </dgm:t>
    </dgm:pt>
    <dgm:pt modelId="{0BE85D62-60AF-4E8A-A278-583463100FB3}">
      <dgm:prSet phldrT="[文本]"/>
      <dgm:spPr/>
      <dgm:t>
        <a:bodyPr/>
        <a:lstStyle/>
        <a:p>
          <a:r>
            <a:rPr lang="zh-CN" altLang="en-US" dirty="0"/>
            <a:t>核心痛点</a:t>
          </a:r>
          <a:r>
            <a:rPr lang="en-US" altLang="zh-CN" dirty="0"/>
            <a:t>1</a:t>
          </a:r>
          <a:endParaRPr lang="zh-CN" altLang="en-US" dirty="0"/>
        </a:p>
      </dgm:t>
    </dgm:pt>
    <dgm:pt modelId="{A2E7A34A-6684-485E-A015-A082F23B6AD2}" type="parTrans" cxnId="{FDE813F4-60E7-45FA-B417-E00FD920EFF4}">
      <dgm:prSet/>
      <dgm:spPr/>
      <dgm:t>
        <a:bodyPr/>
        <a:lstStyle/>
        <a:p>
          <a:endParaRPr lang="zh-CN" altLang="en-US"/>
        </a:p>
      </dgm:t>
    </dgm:pt>
    <dgm:pt modelId="{4255F661-6782-4398-A305-80C2F6DE2DD9}" type="sibTrans" cxnId="{FDE813F4-60E7-45FA-B417-E00FD920EFF4}">
      <dgm:prSet/>
      <dgm:spPr/>
      <dgm:t>
        <a:bodyPr/>
        <a:lstStyle/>
        <a:p>
          <a:endParaRPr lang="zh-CN" altLang="en-US"/>
        </a:p>
      </dgm:t>
    </dgm:pt>
    <dgm:pt modelId="{399577F9-8DE4-4558-BAA4-5E5FE81B6BF2}">
      <dgm:prSet phldrT="[文本]" phldr="0" custT="1"/>
      <dgm:spPr/>
      <dgm:t>
        <a:bodyPr vert="horz" wrap="square"/>
        <a:lstStyle/>
        <a:p>
          <a:pPr>
            <a:lnSpc>
              <a:spcPct val="100000"/>
            </a:lnSpc>
            <a:spcBef>
              <a:spcPct val="0"/>
            </a:spcBef>
            <a:spcAft>
              <a:spcPct val="15000"/>
            </a:spcAft>
          </a:pPr>
          <a:r>
            <a:rPr lang="zh-CN" altLang="en-US" sz="1800" dirty="0">
              <a:latin typeface="微软雅黑" panose="020B0503020204020204" charset="-122"/>
              <a:ea typeface="微软雅黑" panose="020B0503020204020204" charset="-122"/>
            </a:rPr>
            <a:t>详细描述具体内容</a:t>
          </a:r>
        </a:p>
      </dgm:t>
    </dgm:pt>
    <dgm:pt modelId="{C01494D6-C625-4582-B4CB-87C9094171D8}" type="parTrans" cxnId="{BADB3E9B-D9C3-4730-A124-76E2D9EF33C1}">
      <dgm:prSet/>
      <dgm:spPr/>
      <dgm:t>
        <a:bodyPr/>
        <a:lstStyle/>
        <a:p>
          <a:endParaRPr lang="zh-CN" altLang="en-US"/>
        </a:p>
      </dgm:t>
    </dgm:pt>
    <dgm:pt modelId="{1510ADFE-E64C-4B0E-8BF1-2ED2BA480B67}" type="sibTrans" cxnId="{BADB3E9B-D9C3-4730-A124-76E2D9EF33C1}">
      <dgm:prSet/>
      <dgm:spPr/>
      <dgm:t>
        <a:bodyPr/>
        <a:lstStyle/>
        <a:p>
          <a:endParaRPr lang="zh-CN" altLang="en-US"/>
        </a:p>
      </dgm:t>
    </dgm:pt>
    <dgm:pt modelId="{C7D31B44-6797-4733-B28D-7075E5F16249}">
      <dgm:prSet phldrT="[文本]"/>
      <dgm:spPr/>
      <dgm:t>
        <a:bodyPr/>
        <a:lstStyle/>
        <a:p>
          <a:r>
            <a:rPr lang="zh-CN" altLang="en-US" dirty="0"/>
            <a:t>核心痛点</a:t>
          </a:r>
          <a:r>
            <a:rPr lang="en-US" altLang="zh-CN" dirty="0"/>
            <a:t>2</a:t>
          </a:r>
          <a:endParaRPr lang="zh-CN" altLang="en-US" dirty="0"/>
        </a:p>
      </dgm:t>
    </dgm:pt>
    <dgm:pt modelId="{DB194D0A-8AD5-485E-B809-FD2EA33B8A2A}" type="parTrans" cxnId="{E2397313-9923-4AE6-BF8D-49965DD3F0F7}">
      <dgm:prSet/>
      <dgm:spPr/>
      <dgm:t>
        <a:bodyPr/>
        <a:lstStyle/>
        <a:p>
          <a:endParaRPr lang="zh-CN" altLang="en-US"/>
        </a:p>
      </dgm:t>
    </dgm:pt>
    <dgm:pt modelId="{93D055BA-8F5B-417D-98AB-9315F8DC6FB7}" type="sibTrans" cxnId="{E2397313-9923-4AE6-BF8D-49965DD3F0F7}">
      <dgm:prSet/>
      <dgm:spPr/>
      <dgm:t>
        <a:bodyPr/>
        <a:lstStyle/>
        <a:p>
          <a:endParaRPr lang="zh-CN" altLang="en-US"/>
        </a:p>
      </dgm:t>
    </dgm:pt>
    <dgm:pt modelId="{D373B1B0-9CD7-4219-97C6-ABF50E51DD13}">
      <dgm:prSet phldrT="[文本]" phldr="0" custT="1"/>
      <dgm:spPr/>
      <dgm:t>
        <a:bodyPr vert="horz" wrap="square"/>
        <a:lstStyle/>
        <a:p>
          <a:pPr>
            <a:lnSpc>
              <a:spcPct val="100000"/>
            </a:lnSpc>
            <a:spcBef>
              <a:spcPct val="0"/>
            </a:spcBef>
            <a:spcAft>
              <a:spcPct val="15000"/>
            </a:spcAft>
          </a:pPr>
          <a:r>
            <a:rPr lang="zh-CN" altLang="en-US" sz="1800" dirty="0">
              <a:latin typeface="微软雅黑" panose="020B0503020204020204" charset="-122"/>
              <a:ea typeface="微软雅黑" panose="020B0503020204020204" charset="-122"/>
            </a:rPr>
            <a:t>详细描述具体内容</a:t>
          </a:r>
        </a:p>
      </dgm:t>
    </dgm:pt>
    <dgm:pt modelId="{BC435B36-2344-4071-B55D-10E40C42358B}" type="parTrans" cxnId="{4B7222A6-6F2F-4CAA-A581-E6496F19EA47}">
      <dgm:prSet/>
      <dgm:spPr/>
      <dgm:t>
        <a:bodyPr/>
        <a:lstStyle/>
        <a:p>
          <a:endParaRPr lang="zh-CN" altLang="en-US"/>
        </a:p>
      </dgm:t>
    </dgm:pt>
    <dgm:pt modelId="{1F221809-A153-48E9-BF5E-192CB39264E9}" type="sibTrans" cxnId="{4B7222A6-6F2F-4CAA-A581-E6496F19EA47}">
      <dgm:prSet/>
      <dgm:spPr/>
      <dgm:t>
        <a:bodyPr/>
        <a:lstStyle/>
        <a:p>
          <a:endParaRPr lang="zh-CN" altLang="en-US"/>
        </a:p>
      </dgm:t>
    </dgm:pt>
    <dgm:pt modelId="{C3F793DA-D4CA-4AFB-8732-70A589F3D268}">
      <dgm:prSet phldrT="[文本]"/>
      <dgm:spPr/>
      <dgm:t>
        <a:bodyPr/>
        <a:lstStyle/>
        <a:p>
          <a:r>
            <a:rPr lang="zh-CN" altLang="en-US" dirty="0"/>
            <a:t>核心痛点</a:t>
          </a:r>
          <a:r>
            <a:rPr lang="en-US" altLang="zh-CN" dirty="0"/>
            <a:t>3</a:t>
          </a:r>
          <a:endParaRPr lang="zh-CN" altLang="en-US" dirty="0"/>
        </a:p>
      </dgm:t>
    </dgm:pt>
    <dgm:pt modelId="{E0A3AB8B-2E1E-45DB-A9C8-D8768F0A3F87}" type="parTrans" cxnId="{9CF3A78F-6ABF-418E-9ED5-7861146EF7BE}">
      <dgm:prSet/>
      <dgm:spPr/>
      <dgm:t>
        <a:bodyPr/>
        <a:lstStyle/>
        <a:p>
          <a:endParaRPr lang="zh-CN" altLang="en-US"/>
        </a:p>
      </dgm:t>
    </dgm:pt>
    <dgm:pt modelId="{1D3BDD71-D94E-4181-934D-62EF4C2C698F}" type="sibTrans" cxnId="{9CF3A78F-6ABF-418E-9ED5-7861146EF7BE}">
      <dgm:prSet/>
      <dgm:spPr/>
      <dgm:t>
        <a:bodyPr/>
        <a:lstStyle/>
        <a:p>
          <a:endParaRPr lang="zh-CN" altLang="en-US"/>
        </a:p>
      </dgm:t>
    </dgm:pt>
    <dgm:pt modelId="{050485EB-E27F-4DC0-9227-A29B263947E7}">
      <dgm:prSet phldrT="[文本]" phldr="0" custT="1"/>
      <dgm:spPr/>
      <dgm:t>
        <a:bodyPr vert="horz" wrap="square"/>
        <a:lstStyle/>
        <a:p>
          <a:pPr>
            <a:lnSpc>
              <a:spcPct val="100000"/>
            </a:lnSpc>
            <a:spcBef>
              <a:spcPct val="0"/>
            </a:spcBef>
            <a:spcAft>
              <a:spcPct val="15000"/>
            </a:spcAft>
          </a:pPr>
          <a:r>
            <a:rPr lang="zh-CN" altLang="en-US" sz="1800" dirty="0">
              <a:latin typeface="微软雅黑" panose="020B0503020204020204" charset="-122"/>
              <a:ea typeface="微软雅黑" panose="020B0503020204020204" charset="-122"/>
            </a:rPr>
            <a:t>详细描述具体内容</a:t>
          </a:r>
        </a:p>
      </dgm:t>
    </dgm:pt>
    <dgm:pt modelId="{3AA8F24B-4301-4699-90C8-061938DB7E2C}" type="parTrans" cxnId="{863185F8-22A2-41DD-8C7B-DDBFED65B45B}">
      <dgm:prSet/>
      <dgm:spPr/>
      <dgm:t>
        <a:bodyPr/>
        <a:lstStyle/>
        <a:p>
          <a:endParaRPr lang="zh-CN" altLang="en-US"/>
        </a:p>
      </dgm:t>
    </dgm:pt>
    <dgm:pt modelId="{69FE2C46-B772-49F2-A8A8-1BEA37A648B5}" type="sibTrans" cxnId="{863185F8-22A2-41DD-8C7B-DDBFED65B45B}">
      <dgm:prSet/>
      <dgm:spPr/>
      <dgm:t>
        <a:bodyPr/>
        <a:lstStyle/>
        <a:p>
          <a:endParaRPr lang="zh-CN" altLang="en-US"/>
        </a:p>
      </dgm:t>
    </dgm:pt>
    <dgm:pt modelId="{29288CFB-AC14-480F-8350-0B45974281A3}" type="pres">
      <dgm:prSet presAssocID="{FFC1CC17-5C2A-4C3F-B91E-869CE73F91CC}" presName="linearFlow" presStyleCnt="0">
        <dgm:presLayoutVars>
          <dgm:dir/>
          <dgm:animLvl val="lvl"/>
          <dgm:resizeHandles val="exact"/>
        </dgm:presLayoutVars>
      </dgm:prSet>
      <dgm:spPr/>
    </dgm:pt>
    <dgm:pt modelId="{B22932A1-E5C1-4070-B558-1FEDD6CA0145}" type="pres">
      <dgm:prSet presAssocID="{0BE85D62-60AF-4E8A-A278-583463100FB3}" presName="composite" presStyleCnt="0"/>
      <dgm:spPr/>
    </dgm:pt>
    <dgm:pt modelId="{6D620587-D436-4EC9-94BE-ED4322A7C64C}" type="pres">
      <dgm:prSet presAssocID="{0BE85D62-60AF-4E8A-A278-583463100FB3}" presName="parentText" presStyleLbl="alignNode1" presStyleIdx="0" presStyleCnt="3">
        <dgm:presLayoutVars>
          <dgm:chMax val="1"/>
          <dgm:bulletEnabled val="1"/>
        </dgm:presLayoutVars>
      </dgm:prSet>
      <dgm:spPr/>
    </dgm:pt>
    <dgm:pt modelId="{38FF0C72-4961-4906-A5FC-2E1756954ABF}" type="pres">
      <dgm:prSet presAssocID="{0BE85D62-60AF-4E8A-A278-583463100FB3}" presName="descendantText" presStyleLbl="alignAcc1" presStyleIdx="0" presStyleCnt="3">
        <dgm:presLayoutVars>
          <dgm:bulletEnabled val="1"/>
        </dgm:presLayoutVars>
      </dgm:prSet>
      <dgm:spPr/>
    </dgm:pt>
    <dgm:pt modelId="{6DDC07EE-890E-439A-967A-9F08F8D26FB8}" type="pres">
      <dgm:prSet presAssocID="{4255F661-6782-4398-A305-80C2F6DE2DD9}" presName="sp" presStyleCnt="0"/>
      <dgm:spPr/>
    </dgm:pt>
    <dgm:pt modelId="{844157D0-2D5B-4C36-9DD2-0266628D55F6}" type="pres">
      <dgm:prSet presAssocID="{C7D31B44-6797-4733-B28D-7075E5F16249}" presName="composite" presStyleCnt="0"/>
      <dgm:spPr/>
    </dgm:pt>
    <dgm:pt modelId="{CF16685A-0713-4E81-953D-B103EE018652}" type="pres">
      <dgm:prSet presAssocID="{C7D31B44-6797-4733-B28D-7075E5F16249}" presName="parentText" presStyleLbl="alignNode1" presStyleIdx="1" presStyleCnt="3">
        <dgm:presLayoutVars>
          <dgm:chMax val="1"/>
          <dgm:bulletEnabled val="1"/>
        </dgm:presLayoutVars>
      </dgm:prSet>
      <dgm:spPr/>
    </dgm:pt>
    <dgm:pt modelId="{58593A92-D99E-40B0-9FB6-229D2E126EF4}" type="pres">
      <dgm:prSet presAssocID="{C7D31B44-6797-4733-B28D-7075E5F16249}" presName="descendantText" presStyleLbl="alignAcc1" presStyleIdx="1" presStyleCnt="3">
        <dgm:presLayoutVars>
          <dgm:bulletEnabled val="1"/>
        </dgm:presLayoutVars>
      </dgm:prSet>
      <dgm:spPr/>
    </dgm:pt>
    <dgm:pt modelId="{4F0043F9-F368-4DF9-8BBC-59E4FC1EC95B}" type="pres">
      <dgm:prSet presAssocID="{93D055BA-8F5B-417D-98AB-9315F8DC6FB7}" presName="sp" presStyleCnt="0"/>
      <dgm:spPr/>
    </dgm:pt>
    <dgm:pt modelId="{168ED1DA-49AF-4970-9D1D-3200D1C033F2}" type="pres">
      <dgm:prSet presAssocID="{C3F793DA-D4CA-4AFB-8732-70A589F3D268}" presName="composite" presStyleCnt="0"/>
      <dgm:spPr/>
    </dgm:pt>
    <dgm:pt modelId="{1F510A0C-94D2-4B40-9619-D7D846978B09}" type="pres">
      <dgm:prSet presAssocID="{C3F793DA-D4CA-4AFB-8732-70A589F3D268}" presName="parentText" presStyleLbl="alignNode1" presStyleIdx="2" presStyleCnt="3">
        <dgm:presLayoutVars>
          <dgm:chMax val="1"/>
          <dgm:bulletEnabled val="1"/>
        </dgm:presLayoutVars>
      </dgm:prSet>
      <dgm:spPr/>
    </dgm:pt>
    <dgm:pt modelId="{656F704D-6E96-40E7-8261-F754A0F88245}" type="pres">
      <dgm:prSet presAssocID="{C3F793DA-D4CA-4AFB-8732-70A589F3D268}" presName="descendantText" presStyleLbl="alignAcc1" presStyleIdx="2" presStyleCnt="3" custLinFactNeighborX="1331" custLinFactNeighborY="7557">
        <dgm:presLayoutVars>
          <dgm:bulletEnabled val="1"/>
        </dgm:presLayoutVars>
      </dgm:prSet>
      <dgm:spPr/>
    </dgm:pt>
  </dgm:ptLst>
  <dgm:cxnLst>
    <dgm:cxn modelId="{8A4E660B-CAC8-43C1-9850-D4A567FE3110}" type="presOf" srcId="{4255F661-6782-4398-A305-80C2F6DE2DD9}" destId="{6DDC07EE-890E-439A-967A-9F08F8D26FB8}" srcOrd="0" destOrd="0" presId="urn:microsoft.com/office/officeart/2005/8/layout/chevron2"/>
    <dgm:cxn modelId="{E2397313-9923-4AE6-BF8D-49965DD3F0F7}" srcId="{FFC1CC17-5C2A-4C3F-B91E-869CE73F91CC}" destId="{C7D31B44-6797-4733-B28D-7075E5F16249}" srcOrd="1" destOrd="0" parTransId="{DB194D0A-8AD5-485E-B809-FD2EA33B8A2A}" sibTransId="{93D055BA-8F5B-417D-98AB-9315F8DC6FB7}"/>
    <dgm:cxn modelId="{AF104615-48B9-410C-BCB0-58DB5A73BD4C}" type="presOf" srcId="{399577F9-8DE4-4558-BAA4-5E5FE81B6BF2}" destId="{38FF0C72-4961-4906-A5FC-2E1756954ABF}" srcOrd="0" destOrd="0" presId="urn:microsoft.com/office/officeart/2005/8/layout/chevron2"/>
    <dgm:cxn modelId="{308E402F-C10F-4C0A-9356-83A50270F1F4}" type="presOf" srcId="{0BE85D62-60AF-4E8A-A278-583463100FB3}" destId="{6D620587-D436-4EC9-94BE-ED4322A7C64C}" srcOrd="0" destOrd="0" presId="urn:microsoft.com/office/officeart/2005/8/layout/chevron2"/>
    <dgm:cxn modelId="{BF102463-429C-4AE0-B48B-4EED8DE139D6}" type="presOf" srcId="{93D055BA-8F5B-417D-98AB-9315F8DC6FB7}" destId="{4F0043F9-F368-4DF9-8BBC-59E4FC1EC95B}" srcOrd="0" destOrd="0" presId="urn:microsoft.com/office/officeart/2005/8/layout/chevron2"/>
    <dgm:cxn modelId="{7D8AD766-6FCC-4F67-A14B-8B1470C3306C}" type="presOf" srcId="{C7D31B44-6797-4733-B28D-7075E5F16249}" destId="{CF16685A-0713-4E81-953D-B103EE018652}" srcOrd="0" destOrd="0" presId="urn:microsoft.com/office/officeart/2005/8/layout/chevron2"/>
    <dgm:cxn modelId="{BA99A667-9946-4E42-9750-5E3F569C72B2}" type="presOf" srcId="{FFC1CC17-5C2A-4C3F-B91E-869CE73F91CC}" destId="{29288CFB-AC14-480F-8350-0B45974281A3}" srcOrd="0" destOrd="0" presId="urn:microsoft.com/office/officeart/2005/8/layout/chevron2"/>
    <dgm:cxn modelId="{9CF3A78F-6ABF-418E-9ED5-7861146EF7BE}" srcId="{FFC1CC17-5C2A-4C3F-B91E-869CE73F91CC}" destId="{C3F793DA-D4CA-4AFB-8732-70A589F3D268}" srcOrd="2" destOrd="0" parTransId="{E0A3AB8B-2E1E-45DB-A9C8-D8768F0A3F87}" sibTransId="{1D3BDD71-D94E-4181-934D-62EF4C2C698F}"/>
    <dgm:cxn modelId="{BADB3E9B-D9C3-4730-A124-76E2D9EF33C1}" srcId="{0BE85D62-60AF-4E8A-A278-583463100FB3}" destId="{399577F9-8DE4-4558-BAA4-5E5FE81B6BF2}" srcOrd="0" destOrd="0" parTransId="{C01494D6-C625-4582-B4CB-87C9094171D8}" sibTransId="{1510ADFE-E64C-4B0E-8BF1-2ED2BA480B67}"/>
    <dgm:cxn modelId="{4B7222A6-6F2F-4CAA-A581-E6496F19EA47}" srcId="{C7D31B44-6797-4733-B28D-7075E5F16249}" destId="{D373B1B0-9CD7-4219-97C6-ABF50E51DD13}" srcOrd="0" destOrd="0" parTransId="{BC435B36-2344-4071-B55D-10E40C42358B}" sibTransId="{1F221809-A153-48E9-BF5E-192CB39264E9}"/>
    <dgm:cxn modelId="{8BB723A7-4EBE-4885-93F9-F900D4FD69B0}" type="presOf" srcId="{D373B1B0-9CD7-4219-97C6-ABF50E51DD13}" destId="{58593A92-D99E-40B0-9FB6-229D2E126EF4}" srcOrd="0" destOrd="0" presId="urn:microsoft.com/office/officeart/2005/8/layout/chevron2"/>
    <dgm:cxn modelId="{C0D847ED-2D55-4E49-9030-D99091BF9FF2}" type="presOf" srcId="{C3F793DA-D4CA-4AFB-8732-70A589F3D268}" destId="{1F510A0C-94D2-4B40-9619-D7D846978B09}" srcOrd="0" destOrd="0" presId="urn:microsoft.com/office/officeart/2005/8/layout/chevron2"/>
    <dgm:cxn modelId="{6A2DAFF2-803D-4EE8-A8E8-EC55446FDB33}" type="presOf" srcId="{050485EB-E27F-4DC0-9227-A29B263947E7}" destId="{656F704D-6E96-40E7-8261-F754A0F88245}" srcOrd="0" destOrd="0" presId="urn:microsoft.com/office/officeart/2005/8/layout/chevron2"/>
    <dgm:cxn modelId="{FDE813F4-60E7-45FA-B417-E00FD920EFF4}" srcId="{FFC1CC17-5C2A-4C3F-B91E-869CE73F91CC}" destId="{0BE85D62-60AF-4E8A-A278-583463100FB3}" srcOrd="0" destOrd="0" parTransId="{A2E7A34A-6684-485E-A015-A082F23B6AD2}" sibTransId="{4255F661-6782-4398-A305-80C2F6DE2DD9}"/>
    <dgm:cxn modelId="{863185F8-22A2-41DD-8C7B-DDBFED65B45B}" srcId="{C3F793DA-D4CA-4AFB-8732-70A589F3D268}" destId="{050485EB-E27F-4DC0-9227-A29B263947E7}" srcOrd="0" destOrd="0" parTransId="{3AA8F24B-4301-4699-90C8-061938DB7E2C}" sibTransId="{69FE2C46-B772-49F2-A8A8-1BEA37A648B5}"/>
    <dgm:cxn modelId="{3D86009C-2E65-4CC3-A81B-2C764C11DACA}" type="presParOf" srcId="{29288CFB-AC14-480F-8350-0B45974281A3}" destId="{B22932A1-E5C1-4070-B558-1FEDD6CA0145}" srcOrd="0" destOrd="0" presId="urn:microsoft.com/office/officeart/2005/8/layout/chevron2"/>
    <dgm:cxn modelId="{016DAF91-AD26-4E97-A6F5-A44B4F5EAD61}" type="presParOf" srcId="{B22932A1-E5C1-4070-B558-1FEDD6CA0145}" destId="{6D620587-D436-4EC9-94BE-ED4322A7C64C}" srcOrd="0" destOrd="0" presId="urn:microsoft.com/office/officeart/2005/8/layout/chevron2"/>
    <dgm:cxn modelId="{EB563653-678B-43A6-9D89-5B14B9973DAE}" type="presParOf" srcId="{B22932A1-E5C1-4070-B558-1FEDD6CA0145}" destId="{38FF0C72-4961-4906-A5FC-2E1756954ABF}" srcOrd="1" destOrd="0" presId="urn:microsoft.com/office/officeart/2005/8/layout/chevron2"/>
    <dgm:cxn modelId="{92C436CF-FEE9-4DF3-9CB8-F79510E9E0CE}" type="presParOf" srcId="{29288CFB-AC14-480F-8350-0B45974281A3}" destId="{6DDC07EE-890E-439A-967A-9F08F8D26FB8}" srcOrd="1" destOrd="0" presId="urn:microsoft.com/office/officeart/2005/8/layout/chevron2"/>
    <dgm:cxn modelId="{3F676C05-0DBB-4FDC-8FC5-AAD5ABA85F9B}" type="presParOf" srcId="{29288CFB-AC14-480F-8350-0B45974281A3}" destId="{844157D0-2D5B-4C36-9DD2-0266628D55F6}" srcOrd="2" destOrd="0" presId="urn:microsoft.com/office/officeart/2005/8/layout/chevron2"/>
    <dgm:cxn modelId="{65E9C9E1-F3A4-4AF8-A922-29B03C99D253}" type="presParOf" srcId="{844157D0-2D5B-4C36-9DD2-0266628D55F6}" destId="{CF16685A-0713-4E81-953D-B103EE018652}" srcOrd="0" destOrd="0" presId="urn:microsoft.com/office/officeart/2005/8/layout/chevron2"/>
    <dgm:cxn modelId="{A8B4A4A8-9376-4CF5-8D40-503E855D15A4}" type="presParOf" srcId="{844157D0-2D5B-4C36-9DD2-0266628D55F6}" destId="{58593A92-D99E-40B0-9FB6-229D2E126EF4}" srcOrd="1" destOrd="0" presId="urn:microsoft.com/office/officeart/2005/8/layout/chevron2"/>
    <dgm:cxn modelId="{AC2D07B8-D610-4284-BA08-BBB8D54C53C0}" type="presParOf" srcId="{29288CFB-AC14-480F-8350-0B45974281A3}" destId="{4F0043F9-F368-4DF9-8BBC-59E4FC1EC95B}" srcOrd="3" destOrd="0" presId="urn:microsoft.com/office/officeart/2005/8/layout/chevron2"/>
    <dgm:cxn modelId="{1C39E5E9-A525-47FD-9A5C-B7EA3CDFEF5F}" type="presParOf" srcId="{29288CFB-AC14-480F-8350-0B45974281A3}" destId="{168ED1DA-49AF-4970-9D1D-3200D1C033F2}" srcOrd="4" destOrd="0" presId="urn:microsoft.com/office/officeart/2005/8/layout/chevron2"/>
    <dgm:cxn modelId="{25BCF7AC-87D9-4D4D-9E06-B03174A38B6E}" type="presParOf" srcId="{168ED1DA-49AF-4970-9D1D-3200D1C033F2}" destId="{1F510A0C-94D2-4B40-9619-D7D846978B09}" srcOrd="0" destOrd="0" presId="urn:microsoft.com/office/officeart/2005/8/layout/chevron2"/>
    <dgm:cxn modelId="{D501843B-ACCA-4DDF-8116-5EB91219D59E}" type="presParOf" srcId="{168ED1DA-49AF-4970-9D1D-3200D1C033F2}" destId="{656F704D-6E96-40E7-8261-F754A0F8824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620587-D436-4EC9-94BE-ED4322A7C64C}">
      <dsp:nvSpPr>
        <dsp:cNvPr id="0" name=""/>
        <dsp:cNvSpPr/>
      </dsp:nvSpPr>
      <dsp:spPr>
        <a:xfrm rot="5400000">
          <a:off x="-191604" y="193425"/>
          <a:ext cx="1277361" cy="89415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核心痛点</a:t>
          </a:r>
          <a:r>
            <a:rPr lang="en-US" altLang="zh-CN" sz="1500" kern="1200" dirty="0"/>
            <a:t>1</a:t>
          </a:r>
          <a:endParaRPr lang="zh-CN" altLang="en-US" sz="1500" kern="1200" dirty="0"/>
        </a:p>
      </dsp:txBody>
      <dsp:txXfrm rot="-5400000">
        <a:off x="1" y="448898"/>
        <a:ext cx="894153" cy="383208"/>
      </dsp:txXfrm>
    </dsp:sp>
    <dsp:sp modelId="{38FF0C72-4961-4906-A5FC-2E1756954ABF}">
      <dsp:nvSpPr>
        <dsp:cNvPr id="0" name=""/>
        <dsp:cNvSpPr/>
      </dsp:nvSpPr>
      <dsp:spPr>
        <a:xfrm rot="5400000">
          <a:off x="4518769" y="-3622794"/>
          <a:ext cx="830285" cy="8079517"/>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100000"/>
            </a:lnSpc>
            <a:spcBef>
              <a:spcPct val="0"/>
            </a:spcBef>
            <a:spcAft>
              <a:spcPct val="15000"/>
            </a:spcAft>
            <a:buChar char="•"/>
          </a:pPr>
          <a:r>
            <a:rPr lang="zh-CN" altLang="en-US" sz="1800" kern="1200" dirty="0">
              <a:latin typeface="微软雅黑" panose="020B0503020204020204" charset="-122"/>
              <a:ea typeface="微软雅黑" panose="020B0503020204020204" charset="-122"/>
            </a:rPr>
            <a:t>详细描述具体内容</a:t>
          </a:r>
        </a:p>
      </dsp:txBody>
      <dsp:txXfrm rot="-5400000">
        <a:off x="894154" y="42352"/>
        <a:ext cx="8038986" cy="749223"/>
      </dsp:txXfrm>
    </dsp:sp>
    <dsp:sp modelId="{CF16685A-0713-4E81-953D-B103EE018652}">
      <dsp:nvSpPr>
        <dsp:cNvPr id="0" name=""/>
        <dsp:cNvSpPr/>
      </dsp:nvSpPr>
      <dsp:spPr>
        <a:xfrm rot="5400000">
          <a:off x="-191604" y="1271738"/>
          <a:ext cx="1277361" cy="894153"/>
        </a:xfrm>
        <a:prstGeom prst="chevron">
          <a:avLst/>
        </a:prstGeom>
        <a:solidFill>
          <a:schemeClr val="accent3">
            <a:hueOff val="2606887"/>
            <a:satOff val="0"/>
            <a:lumOff val="16275"/>
            <a:alphaOff val="0"/>
          </a:schemeClr>
        </a:solidFill>
        <a:ln w="12700" cap="flat" cmpd="sng" algn="ctr">
          <a:solidFill>
            <a:schemeClr val="accent3">
              <a:hueOff val="2606887"/>
              <a:satOff val="0"/>
              <a:lumOff val="1627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核心痛点</a:t>
          </a:r>
          <a:r>
            <a:rPr lang="en-US" altLang="zh-CN" sz="1500" kern="1200" dirty="0"/>
            <a:t>2</a:t>
          </a:r>
          <a:endParaRPr lang="zh-CN" altLang="en-US" sz="1500" kern="1200" dirty="0"/>
        </a:p>
      </dsp:txBody>
      <dsp:txXfrm rot="-5400000">
        <a:off x="1" y="1527211"/>
        <a:ext cx="894153" cy="383208"/>
      </dsp:txXfrm>
    </dsp:sp>
    <dsp:sp modelId="{58593A92-D99E-40B0-9FB6-229D2E126EF4}">
      <dsp:nvSpPr>
        <dsp:cNvPr id="0" name=""/>
        <dsp:cNvSpPr/>
      </dsp:nvSpPr>
      <dsp:spPr>
        <a:xfrm rot="5400000">
          <a:off x="4518769" y="-2544481"/>
          <a:ext cx="830285" cy="8079517"/>
        </a:xfrm>
        <a:prstGeom prst="round2SameRect">
          <a:avLst/>
        </a:prstGeom>
        <a:solidFill>
          <a:schemeClr val="lt1">
            <a:alpha val="90000"/>
            <a:hueOff val="0"/>
            <a:satOff val="0"/>
            <a:lumOff val="0"/>
            <a:alphaOff val="0"/>
          </a:schemeClr>
        </a:solidFill>
        <a:ln w="12700" cap="flat" cmpd="sng" algn="ctr">
          <a:solidFill>
            <a:schemeClr val="accent3">
              <a:hueOff val="2606887"/>
              <a:satOff val="0"/>
              <a:lumOff val="1627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100000"/>
            </a:lnSpc>
            <a:spcBef>
              <a:spcPct val="0"/>
            </a:spcBef>
            <a:spcAft>
              <a:spcPct val="15000"/>
            </a:spcAft>
            <a:buChar char="•"/>
          </a:pPr>
          <a:r>
            <a:rPr lang="zh-CN" altLang="en-US" sz="1800" kern="1200" dirty="0">
              <a:latin typeface="微软雅黑" panose="020B0503020204020204" charset="-122"/>
              <a:ea typeface="微软雅黑" panose="020B0503020204020204" charset="-122"/>
            </a:rPr>
            <a:t>详细描述具体内容</a:t>
          </a:r>
        </a:p>
      </dsp:txBody>
      <dsp:txXfrm rot="-5400000">
        <a:off x="894154" y="1120665"/>
        <a:ext cx="8038986" cy="749223"/>
      </dsp:txXfrm>
    </dsp:sp>
    <dsp:sp modelId="{1F510A0C-94D2-4B40-9619-D7D846978B09}">
      <dsp:nvSpPr>
        <dsp:cNvPr id="0" name=""/>
        <dsp:cNvSpPr/>
      </dsp:nvSpPr>
      <dsp:spPr>
        <a:xfrm rot="5400000">
          <a:off x="-191604" y="2350051"/>
          <a:ext cx="1277361" cy="894153"/>
        </a:xfrm>
        <a:prstGeom prst="chevron">
          <a:avLst/>
        </a:prstGeom>
        <a:solidFill>
          <a:schemeClr val="accent3">
            <a:hueOff val="5213774"/>
            <a:satOff val="0"/>
            <a:lumOff val="32550"/>
            <a:alphaOff val="0"/>
          </a:schemeClr>
        </a:solidFill>
        <a:ln w="12700" cap="flat" cmpd="sng" algn="ctr">
          <a:solidFill>
            <a:schemeClr val="accent3">
              <a:hueOff val="5213774"/>
              <a:satOff val="0"/>
              <a:lumOff val="325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核心痛点</a:t>
          </a:r>
          <a:r>
            <a:rPr lang="en-US" altLang="zh-CN" sz="1500" kern="1200" dirty="0"/>
            <a:t>3</a:t>
          </a:r>
          <a:endParaRPr lang="zh-CN" altLang="en-US" sz="1500" kern="1200" dirty="0"/>
        </a:p>
      </dsp:txBody>
      <dsp:txXfrm rot="-5400000">
        <a:off x="1" y="2605524"/>
        <a:ext cx="894153" cy="383208"/>
      </dsp:txXfrm>
    </dsp:sp>
    <dsp:sp modelId="{656F704D-6E96-40E7-8261-F754A0F88245}">
      <dsp:nvSpPr>
        <dsp:cNvPr id="0" name=""/>
        <dsp:cNvSpPr/>
      </dsp:nvSpPr>
      <dsp:spPr>
        <a:xfrm rot="5400000">
          <a:off x="4518769" y="-1403424"/>
          <a:ext cx="830285" cy="8079517"/>
        </a:xfrm>
        <a:prstGeom prst="round2SameRect">
          <a:avLst/>
        </a:prstGeom>
        <a:solidFill>
          <a:schemeClr val="lt1">
            <a:alpha val="90000"/>
            <a:hueOff val="0"/>
            <a:satOff val="0"/>
            <a:lumOff val="0"/>
            <a:alphaOff val="0"/>
          </a:schemeClr>
        </a:solidFill>
        <a:ln w="12700" cap="flat" cmpd="sng" algn="ctr">
          <a:solidFill>
            <a:schemeClr val="accent3">
              <a:hueOff val="5213774"/>
              <a:satOff val="0"/>
              <a:lumOff val="325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100000"/>
            </a:lnSpc>
            <a:spcBef>
              <a:spcPct val="0"/>
            </a:spcBef>
            <a:spcAft>
              <a:spcPct val="15000"/>
            </a:spcAft>
            <a:buChar char="•"/>
          </a:pPr>
          <a:r>
            <a:rPr lang="zh-CN" altLang="en-US" sz="1800" kern="1200" dirty="0">
              <a:latin typeface="微软雅黑" panose="020B0503020204020204" charset="-122"/>
              <a:ea typeface="微软雅黑" panose="020B0503020204020204" charset="-122"/>
            </a:rPr>
            <a:t>详细描述具体内容</a:t>
          </a:r>
        </a:p>
      </dsp:txBody>
      <dsp:txXfrm rot="-5400000">
        <a:off x="894154" y="2261722"/>
        <a:ext cx="8038986" cy="74922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2023/2/9</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2023/2/9</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微软雅黑" panose="020B0503020204020204" charset="-122"/>
                <a:ea typeface="微软雅黑" panose="020B0503020204020204" charset="-122"/>
              </a:rPr>
              <a:t>①</a:t>
            </a:r>
            <a:r>
              <a:rPr lang="zh-CN" altLang="en-US" sz="900" b="0" i="0" dirty="0">
                <a:solidFill>
                  <a:schemeClr val="accent1">
                    <a:lumMod val="75000"/>
                  </a:schemeClr>
                </a:solidFill>
                <a:latin typeface="微软雅黑" panose="020B0503020204020204" charset="-122"/>
                <a:ea typeface="微软雅黑" panose="020B0503020204020204" charset="-122"/>
              </a:rPr>
              <a:t> </a:t>
            </a:r>
            <a:r>
              <a:rPr lang="zh-CN" altLang="zh-CN" sz="900" b="0" i="0" dirty="0">
                <a:solidFill>
                  <a:schemeClr val="accent1">
                    <a:lumMod val="75000"/>
                  </a:schemeClr>
                </a:solidFill>
                <a:latin typeface="微软雅黑" panose="020B0503020204020204" charset="-122"/>
                <a:ea typeface="微软雅黑" panose="020B050302020402020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x-none"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x-none"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x-none"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x-none"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zh-CN" sz="1800" b="1" i="0" dirty="0">
                <a:solidFill>
                  <a:srgbClr val="FFC000"/>
                </a:solidFill>
                <a:latin typeface="微软雅黑" panose="020B0503020204020204" charset="-122"/>
                <a:ea typeface="微软雅黑" panose="020B0503020204020204" charset="-122"/>
              </a:rPr>
              <a:t>①</a:t>
            </a:r>
            <a:r>
              <a:rPr lang="zh-CN" altLang="en-US" sz="1800" b="1" i="0" dirty="0">
                <a:solidFill>
                  <a:srgbClr val="FFC000"/>
                </a:solidFill>
                <a:latin typeface="微软雅黑" panose="020B0503020204020204" charset="-122"/>
                <a:ea typeface="微软雅黑" panose="020B0503020204020204" charset="-122"/>
              </a:rPr>
              <a:t> </a:t>
            </a:r>
            <a:r>
              <a:rPr lang="zh-CN" altLang="zh-CN" sz="1800" b="1" i="0" dirty="0">
                <a:solidFill>
                  <a:srgbClr val="FFC000"/>
                </a:solidFill>
                <a:latin typeface="微软雅黑" panose="020B0503020204020204" charset="-122"/>
                <a:ea typeface="微软雅黑" panose="020B0503020204020204" charset="-122"/>
              </a:rPr>
              <a:t>绝密信息 严禁泄露</a:t>
            </a:r>
            <a:r>
              <a:rPr lang="zh-CN" altLang="en-US" sz="1800" b="1" i="0" dirty="0">
                <a:solidFill>
                  <a:srgbClr val="FFC000"/>
                </a:solidFill>
                <a:latin typeface="微软雅黑" panose="020B0503020204020204" charset="-122"/>
                <a:ea typeface="微软雅黑" panose="020B0503020204020204" charset="-122"/>
              </a:rPr>
              <a:t> </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2"/>
          </p:nvPr>
        </p:nvSpPr>
        <p:spPr/>
        <p:txBody>
          <a:bodyPr/>
          <a:lstStyle/>
          <a:p>
            <a:endParaRPr kumimoji="1" lang="zh-CN" altLang="en-US" dirty="0"/>
          </a:p>
        </p:txBody>
      </p:sp>
      <p:sp>
        <p:nvSpPr>
          <p:cNvPr id="4" name="内容占位符 3"/>
          <p:cNvSpPr>
            <a:spLocks noGrp="1"/>
          </p:cNvSpPr>
          <p:nvPr>
            <p:ph sz="quarter" idx="13"/>
          </p:nvPr>
        </p:nvSpPr>
        <p:spPr/>
        <p:txBody>
          <a:bodyPr/>
          <a:lstStyle/>
          <a:p>
            <a:endParaRPr kumimoji="1" lang="zh-CN" altLang="en-US" dirty="0"/>
          </a:p>
        </p:txBody>
      </p:sp>
      <p:sp>
        <p:nvSpPr>
          <p:cNvPr id="5" name="内容占位符 4"/>
          <p:cNvSpPr>
            <a:spLocks noGrp="1"/>
          </p:cNvSpPr>
          <p:nvPr>
            <p:ph sz="quarter" idx="14"/>
          </p:nvPr>
        </p:nvSpPr>
        <p:spPr/>
        <p:txBody>
          <a:bodyPr/>
          <a:lstStyle/>
          <a:p>
            <a:endParaRPr kumimoji="1" lang="zh-CN" altLang="en-US" dirty="0"/>
          </a:p>
        </p:txBody>
      </p:sp>
      <p:sp>
        <p:nvSpPr>
          <p:cNvPr id="6" name="标题 1"/>
          <p:cNvSpPr>
            <a:spLocks noGrp="1"/>
          </p:cNvSpPr>
          <p:nvPr>
            <p:ph type="title"/>
          </p:nvPr>
        </p:nvSpPr>
        <p:spPr>
          <a:xfrm>
            <a:off x="838200" y="2054303"/>
            <a:ext cx="10515600" cy="1325563"/>
          </a:xfrm>
        </p:spPr>
        <p:txBody>
          <a:bodyPr>
            <a:normAutofit/>
          </a:bodyPr>
          <a:lstStyle/>
          <a:p>
            <a:r>
              <a:rPr kumimoji="1" lang="en-US" altLang="zh-CN" dirty="0"/>
              <a:t>XXX</a:t>
            </a:r>
            <a:r>
              <a:rPr kumimoji="1" lang="zh-CN" altLang="en-US" dirty="0"/>
              <a:t>集团</a:t>
            </a:r>
            <a:r>
              <a:rPr kumimoji="1" lang="en-US" altLang="zh-CN" dirty="0"/>
              <a:t>XXX</a:t>
            </a:r>
            <a:r>
              <a:rPr kumimoji="1" lang="zh-CN" altLang="en-US" dirty="0"/>
              <a:t>业务蓝图汇报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08475" y="2318175"/>
            <a:ext cx="1052336" cy="751494"/>
          </a:xfrm>
        </p:spPr>
        <p:txBody>
          <a:bodyPr/>
          <a:lstStyle/>
          <a:p>
            <a:r>
              <a:rPr kumimoji="1" lang="en-US" altLang="zh-CN" dirty="0"/>
              <a:t>02</a:t>
            </a:r>
            <a:endParaRPr kumimoji="1" lang="zh-CN" altLang="en-US" dirty="0"/>
          </a:p>
        </p:txBody>
      </p:sp>
      <p:sp>
        <p:nvSpPr>
          <p:cNvPr id="3" name="文本占位符 2"/>
          <p:cNvSpPr>
            <a:spLocks noGrp="1"/>
          </p:cNvSpPr>
          <p:nvPr>
            <p:ph type="body" sz="quarter" idx="14"/>
          </p:nvPr>
        </p:nvSpPr>
        <p:spPr>
          <a:xfrm>
            <a:off x="408475" y="3377364"/>
            <a:ext cx="1052336" cy="673771"/>
          </a:xfrm>
        </p:spPr>
        <p:txBody>
          <a:bodyPr/>
          <a:lstStyle/>
          <a:p>
            <a:r>
              <a:rPr kumimoji="1" lang="en-US" altLang="zh-CN" dirty="0"/>
              <a:t>03</a:t>
            </a:r>
            <a:endParaRPr kumimoji="1" lang="zh-CN" altLang="en-US" dirty="0"/>
          </a:p>
        </p:txBody>
      </p:sp>
      <p:sp>
        <p:nvSpPr>
          <p:cNvPr id="4" name="文本占位符 3"/>
          <p:cNvSpPr>
            <a:spLocks noGrp="1"/>
          </p:cNvSpPr>
          <p:nvPr>
            <p:ph type="body" sz="quarter" idx="15"/>
          </p:nvPr>
        </p:nvSpPr>
        <p:spPr>
          <a:xfrm>
            <a:off x="2498451" y="1524953"/>
            <a:ext cx="6602906" cy="410834"/>
          </a:xfrm>
        </p:spPr>
        <p:txBody>
          <a:bodyPr/>
          <a:lstStyle/>
          <a:p>
            <a:r>
              <a:rPr kumimoji="1" lang="zh-CN" altLang="en-US" dirty="0"/>
              <a:t>项目背景与目标</a:t>
            </a:r>
          </a:p>
        </p:txBody>
      </p:sp>
      <p:sp>
        <p:nvSpPr>
          <p:cNvPr id="8" name="文本占位符 7"/>
          <p:cNvSpPr>
            <a:spLocks noGrp="1"/>
          </p:cNvSpPr>
          <p:nvPr>
            <p:ph type="body" sz="quarter" idx="21"/>
          </p:nvPr>
        </p:nvSpPr>
        <p:spPr>
          <a:xfrm>
            <a:off x="408475" y="4386806"/>
            <a:ext cx="1052336" cy="673771"/>
          </a:xfrm>
        </p:spPr>
        <p:txBody>
          <a:bodyPr/>
          <a:lstStyle/>
          <a:p>
            <a:r>
              <a:rPr kumimoji="1" lang="en-US" altLang="zh-CN" dirty="0"/>
              <a:t>04</a:t>
            </a:r>
            <a:endParaRPr kumimoji="1" lang="zh-CN" altLang="en-US" dirty="0"/>
          </a:p>
        </p:txBody>
      </p:sp>
      <p:sp>
        <p:nvSpPr>
          <p:cNvPr id="10" name="文本占位符 9"/>
          <p:cNvSpPr>
            <a:spLocks noGrp="1"/>
          </p:cNvSpPr>
          <p:nvPr>
            <p:ph type="body" sz="quarter" idx="24"/>
          </p:nvPr>
        </p:nvSpPr>
        <p:spPr>
          <a:xfrm>
            <a:off x="10065779" y="1534932"/>
            <a:ext cx="1213281" cy="405045"/>
          </a:xfrm>
        </p:spPr>
        <p:txBody>
          <a:bodyPr/>
          <a:lstStyle/>
          <a:p>
            <a:r>
              <a:rPr kumimoji="1" lang="en-US" altLang="zh-CN" dirty="0"/>
              <a:t>P01</a:t>
            </a:r>
            <a:endParaRPr kumimoji="1" lang="zh-CN" altLang="en-US" dirty="0"/>
          </a:p>
        </p:txBody>
      </p:sp>
      <p:sp>
        <p:nvSpPr>
          <p:cNvPr id="11" name="文本占位符 10"/>
          <p:cNvSpPr>
            <a:spLocks noGrp="1"/>
          </p:cNvSpPr>
          <p:nvPr>
            <p:ph type="body" sz="quarter" idx="25"/>
          </p:nvPr>
        </p:nvSpPr>
        <p:spPr>
          <a:xfrm>
            <a:off x="10065780" y="2491399"/>
            <a:ext cx="1213281" cy="405045"/>
          </a:xfrm>
        </p:spPr>
        <p:txBody>
          <a:bodyPr/>
          <a:lstStyle/>
          <a:p>
            <a:r>
              <a:rPr kumimoji="1" lang="en-US" altLang="zh-CN" dirty="0"/>
              <a:t>PXX</a:t>
            </a:r>
            <a:endParaRPr kumimoji="1" lang="zh-CN" altLang="en-US" dirty="0"/>
          </a:p>
        </p:txBody>
      </p:sp>
      <p:sp>
        <p:nvSpPr>
          <p:cNvPr id="12" name="文本占位符 11"/>
          <p:cNvSpPr>
            <a:spLocks noGrp="1"/>
          </p:cNvSpPr>
          <p:nvPr>
            <p:ph type="body" sz="quarter" idx="26"/>
          </p:nvPr>
        </p:nvSpPr>
        <p:spPr>
          <a:xfrm>
            <a:off x="10091854" y="3516610"/>
            <a:ext cx="1213281" cy="397389"/>
          </a:xfrm>
        </p:spPr>
        <p:txBody>
          <a:bodyPr/>
          <a:lstStyle/>
          <a:p>
            <a:r>
              <a:rPr kumimoji="1" lang="en-US" altLang="zh-CN" dirty="0"/>
              <a:t>PXX</a:t>
            </a:r>
            <a:endParaRPr kumimoji="1" lang="zh-CN" altLang="en-US" dirty="0"/>
          </a:p>
        </p:txBody>
      </p:sp>
      <p:sp>
        <p:nvSpPr>
          <p:cNvPr id="14" name="文本占位符 13"/>
          <p:cNvSpPr>
            <a:spLocks noGrp="1"/>
          </p:cNvSpPr>
          <p:nvPr>
            <p:ph type="body" sz="quarter" idx="28"/>
          </p:nvPr>
        </p:nvSpPr>
        <p:spPr/>
        <p:txBody>
          <a:bodyPr/>
          <a:lstStyle/>
          <a:p>
            <a:r>
              <a:rPr kumimoji="1" lang="zh-CN" altLang="en-US" dirty="0"/>
              <a:t> </a:t>
            </a:r>
          </a:p>
        </p:txBody>
      </p:sp>
      <p:sp>
        <p:nvSpPr>
          <p:cNvPr id="15" name="文本占位符 14"/>
          <p:cNvSpPr>
            <a:spLocks noGrp="1"/>
          </p:cNvSpPr>
          <p:nvPr>
            <p:ph type="body" sz="quarter" idx="29"/>
          </p:nvPr>
        </p:nvSpPr>
        <p:spPr>
          <a:xfrm>
            <a:off x="2498451" y="2478981"/>
            <a:ext cx="6602906" cy="410834"/>
          </a:xfrm>
        </p:spPr>
        <p:txBody>
          <a:bodyPr/>
          <a:lstStyle/>
          <a:p>
            <a:r>
              <a:rPr kumimoji="1" lang="zh-CN" altLang="en-US" dirty="0"/>
              <a:t>项目历程回顾</a:t>
            </a:r>
          </a:p>
        </p:txBody>
      </p:sp>
      <p:sp>
        <p:nvSpPr>
          <p:cNvPr id="16" name="文本占位符 15"/>
          <p:cNvSpPr>
            <a:spLocks noGrp="1"/>
          </p:cNvSpPr>
          <p:nvPr>
            <p:ph type="body" sz="quarter" idx="30"/>
          </p:nvPr>
        </p:nvSpPr>
        <p:spPr>
          <a:xfrm>
            <a:off x="2498451" y="3503165"/>
            <a:ext cx="6602906" cy="410834"/>
          </a:xfrm>
        </p:spPr>
        <p:txBody>
          <a:bodyPr/>
          <a:lstStyle/>
          <a:p>
            <a:r>
              <a:rPr kumimoji="1" lang="zh-CN" altLang="en-US" dirty="0"/>
              <a:t>业务蓝图说明</a:t>
            </a:r>
          </a:p>
        </p:txBody>
      </p:sp>
      <p:sp>
        <p:nvSpPr>
          <p:cNvPr id="17" name="文本占位符 16"/>
          <p:cNvSpPr>
            <a:spLocks noGrp="1"/>
          </p:cNvSpPr>
          <p:nvPr>
            <p:ph type="body" sz="quarter" idx="31"/>
          </p:nvPr>
        </p:nvSpPr>
        <p:spPr>
          <a:xfrm>
            <a:off x="2449464" y="4528399"/>
            <a:ext cx="6602906" cy="410834"/>
          </a:xfrm>
        </p:spPr>
        <p:txBody>
          <a:bodyPr/>
          <a:lstStyle/>
          <a:p>
            <a:r>
              <a:rPr kumimoji="1" lang="zh-CN" altLang="en-US" dirty="0"/>
              <a:t>后续推进计划</a:t>
            </a:r>
          </a:p>
        </p:txBody>
      </p:sp>
      <p:sp>
        <p:nvSpPr>
          <p:cNvPr id="18" name="标题 17"/>
          <p:cNvSpPr>
            <a:spLocks noGrp="1"/>
          </p:cNvSpPr>
          <p:nvPr>
            <p:ph type="title"/>
          </p:nvPr>
        </p:nvSpPr>
        <p:spPr/>
        <p:txBody>
          <a:bodyPr/>
          <a:lstStyle/>
          <a:p>
            <a:r>
              <a:rPr kumimoji="1" lang="zh-CN" altLang="en-US" dirty="0"/>
              <a:t>目 录</a:t>
            </a:r>
          </a:p>
        </p:txBody>
      </p:sp>
      <p:sp>
        <p:nvSpPr>
          <p:cNvPr id="19" name="文本占位符 18"/>
          <p:cNvSpPr>
            <a:spLocks noGrp="1"/>
          </p:cNvSpPr>
          <p:nvPr>
            <p:ph type="body" sz="quarter" idx="32"/>
          </p:nvPr>
        </p:nvSpPr>
        <p:spPr>
          <a:xfrm>
            <a:off x="408475" y="1332984"/>
            <a:ext cx="1052336" cy="830674"/>
          </a:xfrm>
        </p:spPr>
        <p:txBody>
          <a:bodyPr/>
          <a:lstStyle/>
          <a:p>
            <a:r>
              <a:rPr kumimoji="1" lang="en-US" altLang="zh-CN" dirty="0"/>
              <a:t>01</a:t>
            </a:r>
            <a:endParaRPr kumimoji="1" lang="zh-CN" altLang="en-US" dirty="0"/>
          </a:p>
        </p:txBody>
      </p:sp>
      <p:sp>
        <p:nvSpPr>
          <p:cNvPr id="23" name="文本占位符 9"/>
          <p:cNvSpPr>
            <a:spLocks noGrp="1"/>
          </p:cNvSpPr>
          <p:nvPr>
            <p:ph type="body" sz="quarter" idx="24"/>
          </p:nvPr>
        </p:nvSpPr>
        <p:spPr>
          <a:xfrm>
            <a:off x="10091853" y="4534188"/>
            <a:ext cx="1213281" cy="405045"/>
          </a:xfrm>
        </p:spPr>
        <p:txBody>
          <a:bodyPr/>
          <a:lstStyle/>
          <a:p>
            <a:r>
              <a:rPr kumimoji="1" lang="en-US" altLang="zh-CN" dirty="0"/>
              <a:t>PXX</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t>项目背景与目标</a:t>
            </a:r>
            <a:endParaRPr lang="x-none" dirty="0"/>
          </a:p>
        </p:txBody>
      </p:sp>
      <p:sp>
        <p:nvSpPr>
          <p:cNvPr id="3" name="文本占位符 2">
            <a:extLst>
              <a:ext uri="{FF2B5EF4-FFF2-40B4-BE49-F238E27FC236}">
                <a16:creationId xmlns:a16="http://schemas.microsoft.com/office/drawing/2014/main" id="{F8DF88EA-3A6E-4891-ABDE-5E60248A4EA4}"/>
              </a:ext>
            </a:extLst>
          </p:cNvPr>
          <p:cNvSpPr>
            <a:spLocks noGrp="1"/>
          </p:cNvSpPr>
          <p:nvPr>
            <p:ph type="body" sz="quarter" idx="17"/>
          </p:nvPr>
        </p:nvSpPr>
        <p:spPr>
          <a:xfrm>
            <a:off x="472054" y="3305280"/>
            <a:ext cx="4724718" cy="1276660"/>
          </a:xfrm>
        </p:spPr>
        <p:txBody>
          <a:bodyPr/>
          <a:lstStyle/>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项目背景与目标</a:t>
            </a:r>
          </a:p>
        </p:txBody>
      </p:sp>
      <p:sp>
        <p:nvSpPr>
          <p:cNvPr id="2" name="文本框 1"/>
          <p:cNvSpPr txBox="1"/>
          <p:nvPr/>
        </p:nvSpPr>
        <p:spPr>
          <a:xfrm>
            <a:off x="2917605" y="3105591"/>
            <a:ext cx="6558905" cy="417358"/>
          </a:xfrm>
          <a:prstGeom prst="rect">
            <a:avLst/>
          </a:prstGeom>
          <a:noFill/>
        </p:spPr>
        <p:txBody>
          <a:bodyPr wrap="square" rtlCol="0">
            <a:spAutoFit/>
          </a:bodyPr>
          <a:lstStyle/>
          <a:p>
            <a:pPr>
              <a:lnSpc>
                <a:spcPct val="130000"/>
              </a:lnSpc>
              <a:spcBef>
                <a:spcPts val="0"/>
              </a:spcBef>
              <a:spcAft>
                <a:spcPts val="0"/>
              </a:spcAft>
            </a:pPr>
            <a:r>
              <a:rPr lang="zh-CN" altLang="en-US" dirty="0">
                <a:latin typeface="微软雅黑" panose="020B0503020204020204" charset="-122"/>
                <a:ea typeface="微软雅黑" panose="020B0503020204020204" charset="-122"/>
              </a:rPr>
              <a:t>通过图形样式展现项目整体目标，可摘取售前方案中部分内容。</a:t>
            </a:r>
          </a:p>
        </p:txBody>
      </p:sp>
      <p:sp>
        <p:nvSpPr>
          <p:cNvPr id="5" name="文本占位符 2">
            <a:extLst>
              <a:ext uri="{FF2B5EF4-FFF2-40B4-BE49-F238E27FC236}">
                <a16:creationId xmlns:a16="http://schemas.microsoft.com/office/drawing/2014/main" id="{07A5DD1A-C757-4DD0-8381-EC574660E830}"/>
              </a:ext>
            </a:extLst>
          </p:cNvPr>
          <p:cNvSpPr>
            <a:spLocks noGrp="1"/>
          </p:cNvSpPr>
          <p:nvPr>
            <p:ph type="body" sz="quarter" idx="28"/>
          </p:nvPr>
        </p:nvSpPr>
        <p:spPr>
          <a:xfrm>
            <a:off x="398094" y="682625"/>
            <a:ext cx="7793672" cy="285046"/>
          </a:xfrm>
        </p:spPr>
        <p:txBody>
          <a:bodyPr/>
          <a:lstStyle/>
          <a:p>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项目背景与目标</a:t>
            </a:r>
          </a:p>
        </p:txBody>
      </p:sp>
      <p:sp>
        <p:nvSpPr>
          <p:cNvPr id="2" name="文本框 1"/>
          <p:cNvSpPr txBox="1"/>
          <p:nvPr/>
        </p:nvSpPr>
        <p:spPr>
          <a:xfrm>
            <a:off x="950259" y="2320500"/>
            <a:ext cx="9852212" cy="36830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分模块</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部门详细描述项目目标。如下图</a:t>
            </a:r>
          </a:p>
        </p:txBody>
      </p:sp>
      <p:pic>
        <p:nvPicPr>
          <p:cNvPr id="3" name="图片 2"/>
          <p:cNvPicPr>
            <a:picLocks noChangeAspect="1"/>
          </p:cNvPicPr>
          <p:nvPr/>
        </p:nvPicPr>
        <p:blipFill>
          <a:blip r:embed="rId2"/>
          <a:stretch>
            <a:fillRect/>
          </a:stretch>
        </p:blipFill>
        <p:spPr>
          <a:xfrm>
            <a:off x="6461570" y="2823883"/>
            <a:ext cx="5569066" cy="2795025"/>
          </a:xfrm>
          <a:prstGeom prst="rect">
            <a:avLst/>
          </a:prstGeom>
        </p:spPr>
      </p:pic>
      <p:pic>
        <p:nvPicPr>
          <p:cNvPr id="5" name="图片 4"/>
          <p:cNvPicPr>
            <a:picLocks noChangeAspect="1"/>
          </p:cNvPicPr>
          <p:nvPr/>
        </p:nvPicPr>
        <p:blipFill>
          <a:blip r:embed="rId3"/>
          <a:stretch>
            <a:fillRect/>
          </a:stretch>
        </p:blipFill>
        <p:spPr>
          <a:xfrm>
            <a:off x="493059" y="2931684"/>
            <a:ext cx="5085268" cy="25794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项目历程回顾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项目历程回顾</a:t>
            </a:r>
          </a:p>
        </p:txBody>
      </p:sp>
      <p:sp>
        <p:nvSpPr>
          <p:cNvPr id="2" name="文本框 1"/>
          <p:cNvSpPr txBox="1"/>
          <p:nvPr/>
        </p:nvSpPr>
        <p:spPr>
          <a:xfrm>
            <a:off x="3666835" y="3015536"/>
            <a:ext cx="7117163" cy="417358"/>
          </a:xfrm>
          <a:prstGeom prst="rect">
            <a:avLst/>
          </a:prstGeom>
          <a:noFill/>
        </p:spPr>
        <p:txBody>
          <a:bodyPr wrap="square" rtlCol="0">
            <a:spAutoFit/>
          </a:bodyPr>
          <a:lstStyle/>
          <a:p>
            <a:pPr>
              <a:lnSpc>
                <a:spcPct val="130000"/>
              </a:lnSpc>
            </a:pPr>
            <a:r>
              <a:rPr lang="zh-CN" altLang="en-US" dirty="0">
                <a:latin typeface="微软雅黑" panose="020B0503020204020204" charset="-122"/>
                <a:ea typeface="微软雅黑" panose="020B0503020204020204" charset="-122"/>
              </a:rPr>
              <a:t>通过计划图方式展现项目整体计划以及项目目前阶段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项目历程回顾</a:t>
            </a:r>
          </a:p>
        </p:txBody>
      </p:sp>
      <p:sp>
        <p:nvSpPr>
          <p:cNvPr id="2" name="文本框 1"/>
          <p:cNvSpPr txBox="1"/>
          <p:nvPr/>
        </p:nvSpPr>
        <p:spPr>
          <a:xfrm>
            <a:off x="2926841" y="3011642"/>
            <a:ext cx="7962832" cy="417358"/>
          </a:xfrm>
          <a:prstGeom prst="rect">
            <a:avLst/>
          </a:prstGeom>
          <a:noFill/>
        </p:spPr>
        <p:txBody>
          <a:bodyPr wrap="square" rtlCol="0">
            <a:spAutoFit/>
          </a:bodyPr>
          <a:lstStyle/>
          <a:p>
            <a:pPr>
              <a:lnSpc>
                <a:spcPct val="130000"/>
              </a:lnSpc>
            </a:pPr>
            <a:r>
              <a:rPr lang="zh-CN" altLang="en-US" dirty="0">
                <a:latin typeface="微软雅黑" panose="020B0503020204020204" charset="-122"/>
                <a:ea typeface="微软雅黑" panose="020B0503020204020204" charset="-122"/>
              </a:rPr>
              <a:t>具体说明项目前期工作内容，如调研场次、培训场次、具体输出物等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业务蓝图说明</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业务蓝图说明</a:t>
            </a:r>
          </a:p>
        </p:txBody>
      </p:sp>
      <p:sp>
        <p:nvSpPr>
          <p:cNvPr id="2" name="文本框 1"/>
          <p:cNvSpPr txBox="1"/>
          <p:nvPr/>
        </p:nvSpPr>
        <p:spPr>
          <a:xfrm>
            <a:off x="1943473" y="1119481"/>
            <a:ext cx="9852212" cy="450850"/>
          </a:xfrm>
          <a:prstGeom prst="rect">
            <a:avLst/>
          </a:prstGeom>
          <a:noFill/>
        </p:spPr>
        <p:txBody>
          <a:bodyPr wrap="square" rtlCol="0">
            <a:spAutoFit/>
          </a:bodyPr>
          <a:lstStyle/>
          <a:p>
            <a:pPr>
              <a:lnSpc>
                <a:spcPct val="130000"/>
              </a:lnSpc>
            </a:pPr>
            <a:r>
              <a:rPr lang="zh-CN" altLang="en-US" dirty="0">
                <a:latin typeface="微软雅黑" panose="020B0503020204020204" charset="-122"/>
                <a:ea typeface="微软雅黑" panose="020B0503020204020204" charset="-122"/>
              </a:rPr>
              <a:t>以概况性方式说明业务蓝图内容，如：具体新增了多少流程、优化了多少流程</a:t>
            </a:r>
          </a:p>
        </p:txBody>
      </p:sp>
      <p:pic>
        <p:nvPicPr>
          <p:cNvPr id="3" name="图片 2"/>
          <p:cNvPicPr>
            <a:picLocks noChangeAspect="1"/>
          </p:cNvPicPr>
          <p:nvPr/>
        </p:nvPicPr>
        <p:blipFill>
          <a:blip r:embed="rId2"/>
          <a:stretch>
            <a:fillRect/>
          </a:stretch>
        </p:blipFill>
        <p:spPr>
          <a:xfrm>
            <a:off x="1943473" y="1570331"/>
            <a:ext cx="8189258" cy="43574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业务蓝图说明</a:t>
            </a:r>
          </a:p>
        </p:txBody>
      </p:sp>
      <p:sp>
        <p:nvSpPr>
          <p:cNvPr id="2" name="文本框 1"/>
          <p:cNvSpPr txBox="1"/>
          <p:nvPr/>
        </p:nvSpPr>
        <p:spPr>
          <a:xfrm>
            <a:off x="1111623" y="1067823"/>
            <a:ext cx="9852212" cy="450850"/>
          </a:xfrm>
          <a:prstGeom prst="rect">
            <a:avLst/>
          </a:prstGeom>
          <a:noFill/>
        </p:spPr>
        <p:txBody>
          <a:bodyPr wrap="square" rtlCol="0">
            <a:spAutoFit/>
          </a:bodyPr>
          <a:lstStyle/>
          <a:p>
            <a:pPr>
              <a:lnSpc>
                <a:spcPct val="130000"/>
              </a:lnSpc>
            </a:pPr>
            <a:r>
              <a:rPr lang="zh-CN" altLang="en-US" dirty="0">
                <a:latin typeface="微软雅黑" panose="020B0503020204020204" charset="-122"/>
                <a:ea typeface="微软雅黑" panose="020B0503020204020204" charset="-122"/>
              </a:rPr>
              <a:t>详细列示目前客户核心痛点，并与后续核心解决方案对应</a:t>
            </a:r>
          </a:p>
        </p:txBody>
      </p:sp>
      <p:sp>
        <p:nvSpPr>
          <p:cNvPr id="5" name="文本占位符 2"/>
          <p:cNvSpPr>
            <a:spLocks noGrp="1"/>
          </p:cNvSpPr>
          <p:nvPr>
            <p:ph type="body" sz="quarter" idx="28"/>
          </p:nvPr>
        </p:nvSpPr>
        <p:spPr>
          <a:xfrm>
            <a:off x="398094" y="682625"/>
            <a:ext cx="7793672" cy="285046"/>
          </a:xfrm>
        </p:spPr>
        <p:txBody>
          <a:bodyPr/>
          <a:lstStyle/>
          <a:p>
            <a:r>
              <a:rPr kumimoji="1" lang="zh-CN" altLang="en-US" dirty="0"/>
              <a:t>业务核心</a:t>
            </a:r>
            <a:r>
              <a:rPr kumimoji="1" lang="zh-CN" altLang="en-US" dirty="0">
                <a:solidFill>
                  <a:schemeClr val="tx1"/>
                </a:solidFill>
              </a:rPr>
              <a:t>痛点</a:t>
            </a:r>
          </a:p>
        </p:txBody>
      </p:sp>
      <p:graphicFrame>
        <p:nvGraphicFramePr>
          <p:cNvPr id="7" name="图示 6"/>
          <p:cNvGraphicFramePr/>
          <p:nvPr/>
        </p:nvGraphicFramePr>
        <p:xfrm>
          <a:off x="1631576" y="2799313"/>
          <a:ext cx="8973671" cy="34376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业务蓝图说明</a:t>
            </a:r>
          </a:p>
        </p:txBody>
      </p:sp>
      <p:sp>
        <p:nvSpPr>
          <p:cNvPr id="6" name="文本占位符 2"/>
          <p:cNvSpPr>
            <a:spLocks noGrp="1"/>
          </p:cNvSpPr>
          <p:nvPr>
            <p:ph type="body" sz="quarter" idx="28"/>
          </p:nvPr>
        </p:nvSpPr>
        <p:spPr>
          <a:xfrm>
            <a:off x="398094" y="682625"/>
            <a:ext cx="7793672" cy="285046"/>
          </a:xfrm>
        </p:spPr>
        <p:txBody>
          <a:bodyPr/>
          <a:lstStyle/>
          <a:p>
            <a:r>
              <a:rPr kumimoji="1" lang="zh-CN" altLang="en-US" dirty="0"/>
              <a:t>核心业务流程</a:t>
            </a:r>
            <a:r>
              <a:rPr kumimoji="1" lang="en-US" altLang="zh-CN" dirty="0"/>
              <a:t>1</a:t>
            </a:r>
            <a:r>
              <a:rPr kumimoji="1" lang="zh-CN" altLang="en-US" dirty="0"/>
              <a:t>：差旅报销流程</a:t>
            </a:r>
          </a:p>
        </p:txBody>
      </p:sp>
      <p:sp>
        <p:nvSpPr>
          <p:cNvPr id="7" name="矩形 6"/>
          <p:cNvSpPr/>
          <p:nvPr/>
        </p:nvSpPr>
        <p:spPr>
          <a:xfrm>
            <a:off x="412951" y="1039906"/>
            <a:ext cx="1041154" cy="36218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应用场景</a:t>
            </a:r>
          </a:p>
        </p:txBody>
      </p:sp>
      <p:cxnSp>
        <p:nvCxnSpPr>
          <p:cNvPr id="8" name="直接连接符 7"/>
          <p:cNvCxnSpPr/>
          <p:nvPr/>
        </p:nvCxnSpPr>
        <p:spPr>
          <a:xfrm>
            <a:off x="412951" y="1402088"/>
            <a:ext cx="25161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文本框 8"/>
          <p:cNvSpPr txBox="1"/>
          <p:nvPr/>
        </p:nvSpPr>
        <p:spPr>
          <a:xfrm>
            <a:off x="412951" y="1419699"/>
            <a:ext cx="2429358" cy="1805942"/>
          </a:xfrm>
          <a:prstGeom prst="rect">
            <a:avLst/>
          </a:prstGeom>
          <a:noFill/>
        </p:spPr>
        <p:txBody>
          <a:bodyPr wrap="square" rtlCol="0">
            <a:spAutoFit/>
          </a:bodyPr>
          <a:lstStyle/>
          <a:p>
            <a:pPr>
              <a:lnSpc>
                <a:spcPct val="130000"/>
              </a:lnSpc>
            </a:pPr>
            <a:r>
              <a:rPr lang="zh-CN" altLang="zh-CN" sz="1000" dirty="0">
                <a:latin typeface="微软雅黑" panose="020B0503020204020204" charset="-122"/>
                <a:ea typeface="微软雅黑" panose="020B0503020204020204" charset="-122"/>
              </a:rPr>
              <a:t>适用于员工出差申请及差旅费报销。</a:t>
            </a:r>
          </a:p>
          <a:p>
            <a:pPr>
              <a:lnSpc>
                <a:spcPct val="130000"/>
              </a:lnSpc>
            </a:pPr>
            <a:r>
              <a:rPr lang="zh-CN" altLang="zh-CN" sz="1000" dirty="0">
                <a:latin typeface="微软雅黑" panose="020B0503020204020204" charset="-122"/>
                <a:ea typeface="微软雅黑" panose="020B0503020204020204" charset="-122"/>
              </a:rPr>
              <a:t>员工出差前提交出差申请，经相关业务领导审批后按行程出差，员工可通过商旅预订服务在线进行机票、酒店、火车票、用车的预订服务，出关行程结束，发起差旅费报销流程，报销经业务领导逐级审批后出纳付款及会计进行核算记账。</a:t>
            </a:r>
          </a:p>
        </p:txBody>
      </p:sp>
      <p:sp>
        <p:nvSpPr>
          <p:cNvPr id="10" name="矩形 9"/>
          <p:cNvSpPr/>
          <p:nvPr/>
        </p:nvSpPr>
        <p:spPr>
          <a:xfrm>
            <a:off x="499713" y="3173061"/>
            <a:ext cx="1041154" cy="36218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客户痛点</a:t>
            </a:r>
          </a:p>
        </p:txBody>
      </p:sp>
      <p:cxnSp>
        <p:nvCxnSpPr>
          <p:cNvPr id="11" name="直接连接符 10"/>
          <p:cNvCxnSpPr/>
          <p:nvPr/>
        </p:nvCxnSpPr>
        <p:spPr>
          <a:xfrm>
            <a:off x="499714" y="3574287"/>
            <a:ext cx="25161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文本框 11"/>
          <p:cNvSpPr txBox="1"/>
          <p:nvPr/>
        </p:nvSpPr>
        <p:spPr>
          <a:xfrm>
            <a:off x="398095" y="3574913"/>
            <a:ext cx="2516121" cy="931429"/>
          </a:xfrm>
          <a:prstGeom prst="rect">
            <a:avLst/>
          </a:prstGeom>
          <a:noFill/>
        </p:spPr>
        <p:txBody>
          <a:bodyPr wrap="square" rtlCol="0">
            <a:spAutoFit/>
          </a:bodyPr>
          <a:lstStyle/>
          <a:p>
            <a:pPr>
              <a:lnSpc>
                <a:spcPct val="130000"/>
              </a:lnSpc>
            </a:pPr>
            <a:r>
              <a:rPr lang="zh-CN" altLang="zh-CN" sz="1000" dirty="0">
                <a:latin typeface="微软雅黑" panose="020B0503020204020204" charset="-122"/>
                <a:ea typeface="微软雅黑" panose="020B0503020204020204" charset="-122"/>
              </a:rPr>
              <a:t>员工垫资出差，回来各种发票报销很麻烦，财务审核很麻烦，总有发票不合规，业务领导不能把控差旅实际情况，造成差旅管理成本不可控，效率还十分低下。</a:t>
            </a:r>
          </a:p>
        </p:txBody>
      </p:sp>
      <p:sp>
        <p:nvSpPr>
          <p:cNvPr id="41" name="矩形 40"/>
          <p:cNvSpPr/>
          <p:nvPr/>
        </p:nvSpPr>
        <p:spPr>
          <a:xfrm>
            <a:off x="587633" y="4611318"/>
            <a:ext cx="1022222" cy="3394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流程说明</a:t>
            </a:r>
          </a:p>
        </p:txBody>
      </p:sp>
      <p:cxnSp>
        <p:nvCxnSpPr>
          <p:cNvPr id="42" name="直接连接符 41"/>
          <p:cNvCxnSpPr/>
          <p:nvPr/>
        </p:nvCxnSpPr>
        <p:spPr>
          <a:xfrm>
            <a:off x="600561" y="4991896"/>
            <a:ext cx="247037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文本框 42"/>
          <p:cNvSpPr txBox="1"/>
          <p:nvPr/>
        </p:nvSpPr>
        <p:spPr>
          <a:xfrm>
            <a:off x="587633" y="4970922"/>
            <a:ext cx="2470370" cy="1015663"/>
          </a:xfrm>
          <a:prstGeom prst="rect">
            <a:avLst/>
          </a:prstGeom>
          <a:noFill/>
        </p:spPr>
        <p:txBody>
          <a:bodyPr wrap="square" rtlCol="0">
            <a:spAutoFit/>
          </a:bodyPr>
          <a:lstStyle/>
          <a:p>
            <a:r>
              <a:rPr kumimoji="1" lang="zh-CN" altLang="en-US" sz="1000" dirty="0">
                <a:latin typeface="微软雅黑" panose="020B0503020204020204" charset="-122"/>
                <a:ea typeface="微软雅黑" panose="020B0503020204020204" charset="-122"/>
              </a:rPr>
              <a:t>此处简要说明流程亮点，如：</a:t>
            </a:r>
            <a:endParaRPr kumimoji="1" lang="en-US" altLang="zh-CN" sz="1000" dirty="0">
              <a:latin typeface="微软雅黑" panose="020B0503020204020204" charset="-122"/>
              <a:ea typeface="微软雅黑" panose="020B0503020204020204" charset="-122"/>
            </a:endParaRPr>
          </a:p>
          <a:p>
            <a:r>
              <a:rPr kumimoji="1" lang="en-US" altLang="zh-CN" sz="1000" dirty="0">
                <a:latin typeface="微软雅黑" panose="020B0503020204020204" charset="-122"/>
                <a:ea typeface="微软雅黑" panose="020B0503020204020204" charset="-122"/>
              </a:rPr>
              <a:t>1</a:t>
            </a:r>
            <a:r>
              <a:rPr kumimoji="1" lang="zh-CN" altLang="en-US" sz="1000" dirty="0">
                <a:latin typeface="微软雅黑" panose="020B0503020204020204" charset="-122"/>
                <a:ea typeface="微软雅黑" panose="020B0503020204020204" charset="-122"/>
              </a:rPr>
              <a:t>、员工出差申请完成后可通过商旅平台订票，无需垫资。</a:t>
            </a:r>
            <a:endParaRPr kumimoji="1" lang="en-US" altLang="zh-CN" sz="1000" dirty="0">
              <a:latin typeface="微软雅黑" panose="020B0503020204020204" charset="-122"/>
              <a:ea typeface="微软雅黑" panose="020B0503020204020204" charset="-122"/>
            </a:endParaRPr>
          </a:p>
          <a:p>
            <a:r>
              <a:rPr kumimoji="1" lang="en-US" altLang="zh-CN" sz="1000" dirty="0">
                <a:latin typeface="微软雅黑" panose="020B0503020204020204" charset="-122"/>
                <a:ea typeface="微软雅黑" panose="020B0503020204020204" charset="-122"/>
              </a:rPr>
              <a:t>2</a:t>
            </a:r>
            <a:r>
              <a:rPr kumimoji="1" lang="zh-CN" altLang="en-US" sz="1000" dirty="0">
                <a:latin typeface="微软雅黑" panose="020B0503020204020204" charset="-122"/>
                <a:ea typeface="微软雅黑" panose="020B0503020204020204" charset="-122"/>
              </a:rPr>
              <a:t>、通过发票云提前进行发票查验，可降低财务发票查验工作量。</a:t>
            </a:r>
            <a:endParaRPr kumimoji="1" lang="en-US" altLang="zh-CN" sz="1000" dirty="0">
              <a:latin typeface="微软雅黑" panose="020B0503020204020204" charset="-122"/>
              <a:ea typeface="微软雅黑" panose="020B0503020204020204" charset="-122"/>
            </a:endParaRPr>
          </a:p>
          <a:p>
            <a:r>
              <a:rPr kumimoji="1" lang="en-US" altLang="zh-CN" sz="1000" dirty="0">
                <a:latin typeface="微软雅黑" panose="020B0503020204020204" charset="-122"/>
                <a:ea typeface="微软雅黑" panose="020B0503020204020204" charset="-122"/>
              </a:rPr>
              <a:t>……..</a:t>
            </a:r>
            <a:endParaRPr kumimoji="1" lang="zh-CN" altLang="en-US" sz="1000" dirty="0">
              <a:latin typeface="微软雅黑" panose="020B0503020204020204" charset="-122"/>
              <a:ea typeface="微软雅黑" panose="020B0503020204020204" charset="-122"/>
            </a:endParaRPr>
          </a:p>
        </p:txBody>
      </p:sp>
      <p:pic>
        <p:nvPicPr>
          <p:cNvPr id="44" name="图片 43"/>
          <p:cNvPicPr>
            <a:picLocks noChangeAspect="1"/>
          </p:cNvPicPr>
          <p:nvPr/>
        </p:nvPicPr>
        <p:blipFill>
          <a:blip r:embed="rId2"/>
          <a:stretch>
            <a:fillRect/>
          </a:stretch>
        </p:blipFill>
        <p:spPr>
          <a:xfrm>
            <a:off x="4168587" y="889511"/>
            <a:ext cx="6696635" cy="4929282"/>
          </a:xfrm>
          <a:prstGeom prst="rect">
            <a:avLst/>
          </a:prstGeom>
        </p:spPr>
      </p:pic>
      <p:sp>
        <p:nvSpPr>
          <p:cNvPr id="45" name="文本框 44"/>
          <p:cNvSpPr txBox="1"/>
          <p:nvPr/>
        </p:nvSpPr>
        <p:spPr>
          <a:xfrm>
            <a:off x="4168587" y="5986585"/>
            <a:ext cx="6696635" cy="369332"/>
          </a:xfrm>
          <a:prstGeom prst="rect">
            <a:avLst/>
          </a:prstGeom>
          <a:noFill/>
        </p:spPr>
        <p:txBody>
          <a:bodyPr wrap="square" rtlCol="0">
            <a:spAutoFit/>
          </a:bodyPr>
          <a:lstStyle/>
          <a:p>
            <a:r>
              <a:rPr lang="zh-CN" altLang="en-US" dirty="0"/>
              <a:t>本处可截取业务蓝图中流程图或直接通过</a:t>
            </a:r>
            <a:r>
              <a:rPr lang="en-US" altLang="zh-CN" dirty="0"/>
              <a:t>PPT</a:t>
            </a:r>
            <a:r>
              <a:rPr lang="zh-CN" altLang="en-US" dirty="0"/>
              <a:t>画出流程图</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业务蓝图说明</a:t>
            </a:r>
          </a:p>
        </p:txBody>
      </p:sp>
      <p:sp>
        <p:nvSpPr>
          <p:cNvPr id="6" name="文本占位符 2"/>
          <p:cNvSpPr>
            <a:spLocks noGrp="1"/>
          </p:cNvSpPr>
          <p:nvPr>
            <p:ph type="body" sz="quarter" idx="28"/>
          </p:nvPr>
        </p:nvSpPr>
        <p:spPr>
          <a:xfrm>
            <a:off x="398094" y="682625"/>
            <a:ext cx="7793672" cy="285046"/>
          </a:xfrm>
        </p:spPr>
        <p:txBody>
          <a:bodyPr/>
          <a:lstStyle/>
          <a:p>
            <a:r>
              <a:rPr kumimoji="1" lang="zh-CN" altLang="en-US" dirty="0"/>
              <a:t>核心业务流程</a:t>
            </a:r>
            <a:r>
              <a:rPr kumimoji="1" lang="en-US" altLang="zh-CN" dirty="0"/>
              <a:t>2</a:t>
            </a:r>
            <a:r>
              <a:rPr kumimoji="1" lang="zh-CN" altLang="en-US" dirty="0"/>
              <a:t>：共享审核流程</a:t>
            </a:r>
          </a:p>
        </p:txBody>
      </p:sp>
      <p:sp>
        <p:nvSpPr>
          <p:cNvPr id="7" name="矩形 6"/>
          <p:cNvSpPr/>
          <p:nvPr/>
        </p:nvSpPr>
        <p:spPr>
          <a:xfrm>
            <a:off x="412951" y="1039906"/>
            <a:ext cx="1041154" cy="36218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应用场景</a:t>
            </a:r>
          </a:p>
        </p:txBody>
      </p:sp>
      <p:cxnSp>
        <p:nvCxnSpPr>
          <p:cNvPr id="8" name="直接连接符 7"/>
          <p:cNvCxnSpPr/>
          <p:nvPr/>
        </p:nvCxnSpPr>
        <p:spPr>
          <a:xfrm>
            <a:off x="412951" y="1402088"/>
            <a:ext cx="25161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文本框 8"/>
          <p:cNvSpPr txBox="1"/>
          <p:nvPr/>
        </p:nvSpPr>
        <p:spPr>
          <a:xfrm>
            <a:off x="412951" y="1419699"/>
            <a:ext cx="2429358" cy="1473224"/>
          </a:xfrm>
          <a:prstGeom prst="rect">
            <a:avLst/>
          </a:prstGeom>
          <a:noFill/>
        </p:spPr>
        <p:txBody>
          <a:bodyPr wrap="square" rtlCol="0">
            <a:spAutoFit/>
          </a:bodyPr>
          <a:lstStyle/>
          <a:p>
            <a:pPr>
              <a:lnSpc>
                <a:spcPct val="130000"/>
              </a:lnSpc>
            </a:pPr>
            <a:r>
              <a:rPr kumimoji="1" lang="zh-CN" altLang="zh-CN" sz="1000" dirty="0">
                <a:latin typeface="微软雅黑" panose="020B0503020204020204" charset="-122"/>
                <a:ea typeface="微软雅黑" panose="020B0503020204020204" charset="-122"/>
              </a:rPr>
              <a:t>业务单据提交后进入到工作流，通过工作流的推送生成共享任务进入到共享平台中。派单模式下：任务通过分配规则分配给业务员进行处理；抢单模式下：任务通过拉取方式主动获取。业务员可通过单据与影像的匹配对任务进行审批</a:t>
            </a:r>
            <a:endParaRPr kumimoji="1" lang="zh-CN" altLang="en-US" sz="1000" dirty="0">
              <a:latin typeface="微软雅黑" panose="020B0503020204020204" charset="-122"/>
              <a:ea typeface="微软雅黑" panose="020B0503020204020204" charset="-122"/>
            </a:endParaRPr>
          </a:p>
          <a:p>
            <a:pPr>
              <a:lnSpc>
                <a:spcPct val="130000"/>
              </a:lnSpc>
            </a:pPr>
            <a:endParaRPr lang="zh-CN" altLang="zh-CN" sz="1000" dirty="0">
              <a:latin typeface="微软雅黑" panose="020B0503020204020204" charset="-122"/>
              <a:ea typeface="微软雅黑" panose="020B0503020204020204" charset="-122"/>
            </a:endParaRPr>
          </a:p>
        </p:txBody>
      </p:sp>
      <p:sp>
        <p:nvSpPr>
          <p:cNvPr id="10" name="矩形 9"/>
          <p:cNvSpPr/>
          <p:nvPr/>
        </p:nvSpPr>
        <p:spPr>
          <a:xfrm>
            <a:off x="499713" y="3173061"/>
            <a:ext cx="1041154" cy="36218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客户痛点</a:t>
            </a:r>
          </a:p>
        </p:txBody>
      </p:sp>
      <p:cxnSp>
        <p:nvCxnSpPr>
          <p:cNvPr id="11" name="直接连接符 10"/>
          <p:cNvCxnSpPr/>
          <p:nvPr/>
        </p:nvCxnSpPr>
        <p:spPr>
          <a:xfrm>
            <a:off x="499714" y="3574287"/>
            <a:ext cx="25161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文本框 11"/>
          <p:cNvSpPr txBox="1"/>
          <p:nvPr/>
        </p:nvSpPr>
        <p:spPr>
          <a:xfrm>
            <a:off x="398095" y="3574913"/>
            <a:ext cx="2516121" cy="492443"/>
          </a:xfrm>
          <a:prstGeom prst="rect">
            <a:avLst/>
          </a:prstGeom>
          <a:noFill/>
        </p:spPr>
        <p:txBody>
          <a:bodyPr wrap="square" rtlCol="0">
            <a:spAutoFit/>
          </a:bodyPr>
          <a:lstStyle/>
          <a:p>
            <a:pPr>
              <a:lnSpc>
                <a:spcPct val="130000"/>
              </a:lnSpc>
            </a:pPr>
            <a:r>
              <a:rPr lang="zh-CN" altLang="en-US" sz="1000" dirty="0">
                <a:latin typeface="微软雅黑" panose="020B0503020204020204" charset="-122"/>
                <a:ea typeface="微软雅黑" panose="020B0503020204020204" charset="-122"/>
              </a:rPr>
              <a:t>共享人员存在分单不均，绩效考核困难的问题，需加强共享人员工作积极性</a:t>
            </a:r>
            <a:r>
              <a:rPr lang="zh-CN" altLang="zh-CN" sz="1000" dirty="0">
                <a:latin typeface="微软雅黑" panose="020B0503020204020204" charset="-122"/>
                <a:ea typeface="微软雅黑" panose="020B0503020204020204" charset="-122"/>
              </a:rPr>
              <a:t>。</a:t>
            </a:r>
          </a:p>
        </p:txBody>
      </p:sp>
      <p:sp>
        <p:nvSpPr>
          <p:cNvPr id="41" name="矩形 40"/>
          <p:cNvSpPr/>
          <p:nvPr/>
        </p:nvSpPr>
        <p:spPr>
          <a:xfrm>
            <a:off x="587633" y="4611318"/>
            <a:ext cx="1022222" cy="3394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solidFill>
                  <a:schemeClr val="bg1"/>
                </a:solidFill>
                <a:latin typeface="微软雅黑" panose="020B0503020204020204" charset="-122"/>
                <a:ea typeface="微软雅黑" panose="020B0503020204020204" charset="-122"/>
              </a:rPr>
              <a:t>流程说明</a:t>
            </a:r>
          </a:p>
        </p:txBody>
      </p:sp>
      <p:cxnSp>
        <p:nvCxnSpPr>
          <p:cNvPr id="42" name="直接连接符 41"/>
          <p:cNvCxnSpPr/>
          <p:nvPr/>
        </p:nvCxnSpPr>
        <p:spPr>
          <a:xfrm>
            <a:off x="600561" y="4991896"/>
            <a:ext cx="247037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文本框 42"/>
          <p:cNvSpPr txBox="1"/>
          <p:nvPr/>
        </p:nvSpPr>
        <p:spPr>
          <a:xfrm>
            <a:off x="587633" y="4970922"/>
            <a:ext cx="2470370" cy="861774"/>
          </a:xfrm>
          <a:prstGeom prst="rect">
            <a:avLst/>
          </a:prstGeom>
          <a:noFill/>
        </p:spPr>
        <p:txBody>
          <a:bodyPr wrap="square" rtlCol="0">
            <a:spAutoFit/>
          </a:bodyPr>
          <a:lstStyle/>
          <a:p>
            <a:r>
              <a:rPr kumimoji="1" lang="en-US" altLang="zh-CN" sz="1000" dirty="0">
                <a:latin typeface="微软雅黑" panose="020B0503020204020204" charset="-122"/>
                <a:ea typeface="微软雅黑" panose="020B0503020204020204" charset="-122"/>
              </a:rPr>
              <a:t>1</a:t>
            </a:r>
            <a:r>
              <a:rPr kumimoji="1" lang="zh-CN" altLang="en-US" sz="1000" dirty="0">
                <a:latin typeface="微软雅黑" panose="020B0503020204020204" charset="-122"/>
                <a:ea typeface="微软雅黑" panose="020B0503020204020204" charset="-122"/>
              </a:rPr>
              <a:t>、实现派单和抢单模式。</a:t>
            </a:r>
            <a:endParaRPr kumimoji="1" lang="en-US" altLang="zh-CN" sz="1000" dirty="0">
              <a:latin typeface="微软雅黑" panose="020B0503020204020204" charset="-122"/>
              <a:ea typeface="微软雅黑" panose="020B0503020204020204" charset="-122"/>
            </a:endParaRPr>
          </a:p>
          <a:p>
            <a:r>
              <a:rPr kumimoji="1" lang="en-US" altLang="zh-CN" sz="1000" dirty="0">
                <a:latin typeface="微软雅黑" panose="020B0503020204020204" charset="-122"/>
                <a:ea typeface="微软雅黑" panose="020B0503020204020204" charset="-122"/>
              </a:rPr>
              <a:t>2</a:t>
            </a:r>
            <a:r>
              <a:rPr kumimoji="1" lang="zh-CN" altLang="en-US" sz="1000" dirty="0">
                <a:latin typeface="微软雅黑" panose="020B0503020204020204" charset="-122"/>
                <a:ea typeface="微软雅黑" panose="020B0503020204020204" charset="-122"/>
              </a:rPr>
              <a:t>、实现多种派工规则设置。</a:t>
            </a:r>
            <a:endParaRPr kumimoji="1" lang="en-US" altLang="zh-CN" sz="1000" dirty="0">
              <a:latin typeface="微软雅黑" panose="020B0503020204020204" charset="-122"/>
              <a:ea typeface="微软雅黑" panose="020B0503020204020204" charset="-122"/>
            </a:endParaRPr>
          </a:p>
          <a:p>
            <a:r>
              <a:rPr kumimoji="1" lang="en-US" altLang="zh-CN" sz="1000" dirty="0">
                <a:latin typeface="微软雅黑" panose="020B0503020204020204" charset="-122"/>
                <a:ea typeface="微软雅黑" panose="020B0503020204020204" charset="-122"/>
              </a:rPr>
              <a:t>3</a:t>
            </a:r>
            <a:r>
              <a:rPr kumimoji="1" lang="zh-CN" altLang="en-US" sz="1000" dirty="0">
                <a:latin typeface="微软雅黑" panose="020B0503020204020204" charset="-122"/>
                <a:ea typeface="微软雅黑" panose="020B0503020204020204" charset="-122"/>
              </a:rPr>
              <a:t>、实现多个业务模块单据及异构     系统单据的接入。</a:t>
            </a:r>
          </a:p>
          <a:p>
            <a:endParaRPr kumimoji="1" lang="zh-CN" altLang="en-US" sz="1000" dirty="0">
              <a:latin typeface="微软雅黑" panose="020B0503020204020204" charset="-122"/>
              <a:ea typeface="微软雅黑" panose="020B0503020204020204" charset="-122"/>
            </a:endParaRPr>
          </a:p>
        </p:txBody>
      </p:sp>
      <p:grpSp>
        <p:nvGrpSpPr>
          <p:cNvPr id="15" name="组合 14"/>
          <p:cNvGrpSpPr/>
          <p:nvPr/>
        </p:nvGrpSpPr>
        <p:grpSpPr>
          <a:xfrm>
            <a:off x="3779911" y="930093"/>
            <a:ext cx="7408041" cy="4753531"/>
            <a:chOff x="2267744" y="699542"/>
            <a:chExt cx="6402926" cy="4099381"/>
          </a:xfrm>
        </p:grpSpPr>
        <p:sp>
          <p:nvSpPr>
            <p:cNvPr id="16" name="流程图: 终止 15"/>
            <p:cNvSpPr/>
            <p:nvPr/>
          </p:nvSpPr>
          <p:spPr>
            <a:xfrm>
              <a:off x="2267744" y="2408760"/>
              <a:ext cx="864096" cy="288032"/>
            </a:xfrm>
            <a:prstGeom prst="flowChartTerminator">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t>开始</a:t>
              </a:r>
            </a:p>
          </p:txBody>
        </p:sp>
        <p:sp>
          <p:nvSpPr>
            <p:cNvPr id="17" name="流程图: 预定义过程 16"/>
            <p:cNvSpPr/>
            <p:nvPr/>
          </p:nvSpPr>
          <p:spPr>
            <a:xfrm>
              <a:off x="3347864" y="1568103"/>
              <a:ext cx="864096" cy="432048"/>
            </a:xfrm>
            <a:prstGeom prst="flowChartPredefinedProcess">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业务系统流程</a:t>
              </a:r>
            </a:p>
          </p:txBody>
        </p:sp>
        <p:sp>
          <p:nvSpPr>
            <p:cNvPr id="18" name="流程图: 文档 17"/>
            <p:cNvSpPr/>
            <p:nvPr/>
          </p:nvSpPr>
          <p:spPr>
            <a:xfrm>
              <a:off x="3347864" y="3121214"/>
              <a:ext cx="864096" cy="432048"/>
            </a:xfrm>
            <a:prstGeom prst="flowChartDocumen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共享任务</a:t>
              </a:r>
            </a:p>
          </p:txBody>
        </p:sp>
        <p:sp>
          <p:nvSpPr>
            <p:cNvPr id="19" name="流程图: 过程 18"/>
            <p:cNvSpPr/>
            <p:nvPr/>
          </p:nvSpPr>
          <p:spPr>
            <a:xfrm>
              <a:off x="4572000" y="2335223"/>
              <a:ext cx="864096" cy="36004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加急任务</a:t>
              </a:r>
              <a:endParaRPr kumimoji="1" lang="en-US" altLang="zh-CN" sz="1000" dirty="0"/>
            </a:p>
            <a:p>
              <a:pPr algn="ctr"/>
              <a:r>
                <a:rPr kumimoji="1" lang="zh-CN" altLang="en-US" sz="1000" dirty="0"/>
                <a:t>优先分配</a:t>
              </a:r>
            </a:p>
          </p:txBody>
        </p:sp>
        <p:cxnSp>
          <p:nvCxnSpPr>
            <p:cNvPr id="20" name="肘形连接符 19"/>
            <p:cNvCxnSpPr>
              <a:stCxn id="16" idx="3"/>
              <a:endCxn id="17" idx="1"/>
            </p:cNvCxnSpPr>
            <p:nvPr/>
          </p:nvCxnSpPr>
          <p:spPr>
            <a:xfrm flipV="1">
              <a:off x="3131840" y="1784127"/>
              <a:ext cx="216024" cy="7686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p:cNvCxnSpPr>
              <a:stCxn id="17" idx="2"/>
              <a:endCxn id="18" idx="0"/>
            </p:cNvCxnSpPr>
            <p:nvPr/>
          </p:nvCxnSpPr>
          <p:spPr>
            <a:xfrm>
              <a:off x="3779912" y="2000151"/>
              <a:ext cx="0" cy="11210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文本框 21"/>
            <p:cNvSpPr txBox="1"/>
            <p:nvPr/>
          </p:nvSpPr>
          <p:spPr>
            <a:xfrm>
              <a:off x="3423854" y="2401492"/>
              <a:ext cx="720080" cy="276999"/>
            </a:xfrm>
            <a:prstGeom prst="rect">
              <a:avLst/>
            </a:prstGeom>
            <a:noFill/>
          </p:spPr>
          <p:txBody>
            <a:bodyPr wrap="square" rtlCol="0">
              <a:spAutoFit/>
            </a:bodyPr>
            <a:lstStyle/>
            <a:p>
              <a:pPr algn="ctr"/>
              <a:r>
                <a:rPr kumimoji="1" lang="zh-CN" altLang="en-US" sz="1200" dirty="0">
                  <a:latin typeface="+mn-ea"/>
                  <a:ea typeface="+mn-ea"/>
                </a:rPr>
                <a:t>生成</a:t>
              </a:r>
            </a:p>
          </p:txBody>
        </p:sp>
        <p:cxnSp>
          <p:nvCxnSpPr>
            <p:cNvPr id="23" name="肘形连接符 22"/>
            <p:cNvCxnSpPr>
              <a:stCxn id="18" idx="3"/>
              <a:endCxn id="19" idx="1"/>
            </p:cNvCxnSpPr>
            <p:nvPr/>
          </p:nvCxnSpPr>
          <p:spPr>
            <a:xfrm flipV="1">
              <a:off x="4211960" y="2515243"/>
              <a:ext cx="360040" cy="82199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流程图: 过程 23"/>
            <p:cNvSpPr/>
            <p:nvPr/>
          </p:nvSpPr>
          <p:spPr>
            <a:xfrm>
              <a:off x="5734546" y="2796212"/>
              <a:ext cx="864096" cy="360040"/>
            </a:xfrm>
            <a:prstGeom prst="flowChartProcess">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抢单模式</a:t>
              </a:r>
            </a:p>
          </p:txBody>
        </p:sp>
        <p:sp>
          <p:nvSpPr>
            <p:cNvPr id="25" name="流程图: 过程 24"/>
            <p:cNvSpPr/>
            <p:nvPr/>
          </p:nvSpPr>
          <p:spPr>
            <a:xfrm>
              <a:off x="5724128" y="1551517"/>
              <a:ext cx="864096" cy="360040"/>
            </a:xfrm>
            <a:prstGeom prst="flowChartProcess">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派单模式</a:t>
              </a:r>
            </a:p>
          </p:txBody>
        </p:sp>
        <p:cxnSp>
          <p:nvCxnSpPr>
            <p:cNvPr id="26" name="肘形连接符 25"/>
            <p:cNvCxnSpPr>
              <a:stCxn id="19" idx="3"/>
              <a:endCxn id="25" idx="1"/>
            </p:cNvCxnSpPr>
            <p:nvPr/>
          </p:nvCxnSpPr>
          <p:spPr>
            <a:xfrm flipV="1">
              <a:off x="5436096" y="1731537"/>
              <a:ext cx="288032" cy="78370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肘形连接符 26"/>
            <p:cNvCxnSpPr>
              <a:stCxn id="19" idx="3"/>
              <a:endCxn id="24" idx="1"/>
            </p:cNvCxnSpPr>
            <p:nvPr/>
          </p:nvCxnSpPr>
          <p:spPr>
            <a:xfrm>
              <a:off x="5436096" y="2515243"/>
              <a:ext cx="298450" cy="46098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流程图: 决策 27"/>
            <p:cNvSpPr/>
            <p:nvPr/>
          </p:nvSpPr>
          <p:spPr>
            <a:xfrm>
              <a:off x="6156176" y="699542"/>
              <a:ext cx="1512168" cy="436513"/>
            </a:xfrm>
            <a:prstGeom prst="flowChartDecision">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是否符合派工规则</a:t>
              </a:r>
            </a:p>
          </p:txBody>
        </p:sp>
        <p:cxnSp>
          <p:nvCxnSpPr>
            <p:cNvPr id="29" name="肘形连接符 28"/>
            <p:cNvCxnSpPr>
              <a:endCxn id="28" idx="1"/>
            </p:cNvCxnSpPr>
            <p:nvPr/>
          </p:nvCxnSpPr>
          <p:spPr>
            <a:xfrm rot="5400000" flipH="1" flipV="1">
              <a:off x="5748920" y="1151393"/>
              <a:ext cx="640849" cy="17366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流程图: 过程 29"/>
            <p:cNvSpPr/>
            <p:nvPr/>
          </p:nvSpPr>
          <p:spPr>
            <a:xfrm>
              <a:off x="7259969" y="2498471"/>
              <a:ext cx="864096" cy="36004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按默认规则派工</a:t>
              </a:r>
            </a:p>
          </p:txBody>
        </p:sp>
        <p:sp>
          <p:nvSpPr>
            <p:cNvPr id="31" name="流程图: 过程 30"/>
            <p:cNvSpPr/>
            <p:nvPr/>
          </p:nvSpPr>
          <p:spPr>
            <a:xfrm>
              <a:off x="7668344" y="1637827"/>
              <a:ext cx="864096" cy="36004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按分配规则派工</a:t>
              </a:r>
            </a:p>
          </p:txBody>
        </p:sp>
        <p:cxnSp>
          <p:nvCxnSpPr>
            <p:cNvPr id="32" name="肘形连接符 31"/>
            <p:cNvCxnSpPr>
              <a:stCxn id="28" idx="3"/>
              <a:endCxn id="31" idx="0"/>
            </p:cNvCxnSpPr>
            <p:nvPr/>
          </p:nvCxnSpPr>
          <p:spPr>
            <a:xfrm>
              <a:off x="7668344" y="917799"/>
              <a:ext cx="432048" cy="72002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肘形连接符 32"/>
            <p:cNvCxnSpPr>
              <a:stCxn id="28" idx="2"/>
              <a:endCxn id="30" idx="1"/>
            </p:cNvCxnSpPr>
            <p:nvPr/>
          </p:nvCxnSpPr>
          <p:spPr>
            <a:xfrm rot="16200000" flipH="1">
              <a:off x="6314896" y="1733418"/>
              <a:ext cx="1542436" cy="34770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6761887" y="1720868"/>
              <a:ext cx="720080" cy="276999"/>
            </a:xfrm>
            <a:prstGeom prst="rect">
              <a:avLst/>
            </a:prstGeom>
            <a:noFill/>
          </p:spPr>
          <p:txBody>
            <a:bodyPr wrap="square" rtlCol="0">
              <a:spAutoFit/>
            </a:bodyPr>
            <a:lstStyle/>
            <a:p>
              <a:pPr algn="ctr"/>
              <a:r>
                <a:rPr kumimoji="1" lang="zh-CN" altLang="en-US" sz="1200" dirty="0">
                  <a:latin typeface="+mn-ea"/>
                  <a:ea typeface="+mn-ea"/>
                </a:rPr>
                <a:t>否</a:t>
              </a:r>
            </a:p>
          </p:txBody>
        </p:sp>
        <p:sp>
          <p:nvSpPr>
            <p:cNvPr id="35" name="文本框 34"/>
            <p:cNvSpPr txBox="1"/>
            <p:nvPr/>
          </p:nvSpPr>
          <p:spPr>
            <a:xfrm>
              <a:off x="7950590" y="917798"/>
              <a:ext cx="720080" cy="276999"/>
            </a:xfrm>
            <a:prstGeom prst="rect">
              <a:avLst/>
            </a:prstGeom>
            <a:noFill/>
          </p:spPr>
          <p:txBody>
            <a:bodyPr wrap="square" rtlCol="0">
              <a:spAutoFit/>
            </a:bodyPr>
            <a:lstStyle/>
            <a:p>
              <a:pPr algn="ctr"/>
              <a:r>
                <a:rPr kumimoji="1" lang="zh-CN" altLang="en-US" sz="1200" dirty="0">
                  <a:latin typeface="+mn-ea"/>
                  <a:ea typeface="+mn-ea"/>
                </a:rPr>
                <a:t>是</a:t>
              </a:r>
            </a:p>
          </p:txBody>
        </p:sp>
        <p:sp>
          <p:nvSpPr>
            <p:cNvPr id="36" name="流程图: 过程 35"/>
            <p:cNvSpPr/>
            <p:nvPr/>
          </p:nvSpPr>
          <p:spPr>
            <a:xfrm>
              <a:off x="6912259" y="4040907"/>
              <a:ext cx="864096" cy="36004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业务员审批</a:t>
              </a:r>
            </a:p>
          </p:txBody>
        </p:sp>
        <p:cxnSp>
          <p:nvCxnSpPr>
            <p:cNvPr id="37" name="肘形连接符 36"/>
            <p:cNvCxnSpPr>
              <a:stCxn id="30" idx="2"/>
              <a:endCxn id="36" idx="0"/>
            </p:cNvCxnSpPr>
            <p:nvPr/>
          </p:nvCxnSpPr>
          <p:spPr>
            <a:xfrm rot="5400000">
              <a:off x="6926964" y="3275854"/>
              <a:ext cx="1182396" cy="34771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肘形连接符 37"/>
            <p:cNvCxnSpPr>
              <a:stCxn id="31" idx="3"/>
              <a:endCxn id="36" idx="3"/>
            </p:cNvCxnSpPr>
            <p:nvPr/>
          </p:nvCxnSpPr>
          <p:spPr>
            <a:xfrm flipH="1">
              <a:off x="7776355" y="1817847"/>
              <a:ext cx="756085" cy="2403080"/>
            </a:xfrm>
            <a:prstGeom prst="bentConnector3">
              <a:avLst>
                <a:gd name="adj1" fmla="val -13867"/>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流程图: 终止 38"/>
            <p:cNvSpPr/>
            <p:nvPr/>
          </p:nvSpPr>
          <p:spPr>
            <a:xfrm>
              <a:off x="5447250" y="4510891"/>
              <a:ext cx="864096" cy="288032"/>
            </a:xfrm>
            <a:prstGeom prst="flowChartTerminator">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1200" dirty="0"/>
                <a:t>结束</a:t>
              </a:r>
            </a:p>
          </p:txBody>
        </p:sp>
        <p:cxnSp>
          <p:nvCxnSpPr>
            <p:cNvPr id="40" name="肘形连接符 39"/>
            <p:cNvCxnSpPr>
              <a:stCxn id="36" idx="2"/>
              <a:endCxn id="39" idx="3"/>
            </p:cNvCxnSpPr>
            <p:nvPr/>
          </p:nvCxnSpPr>
          <p:spPr>
            <a:xfrm rot="5400000">
              <a:off x="6700847" y="4011447"/>
              <a:ext cx="253960" cy="103296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流程图: 过程 45"/>
            <p:cNvSpPr/>
            <p:nvPr/>
          </p:nvSpPr>
          <p:spPr>
            <a:xfrm>
              <a:off x="5734546" y="3539135"/>
              <a:ext cx="864096" cy="36004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sz="1000" dirty="0"/>
                <a:t>业务员抢单</a:t>
              </a:r>
            </a:p>
          </p:txBody>
        </p:sp>
        <p:cxnSp>
          <p:nvCxnSpPr>
            <p:cNvPr id="47" name="直接箭头连接符 46"/>
            <p:cNvCxnSpPr>
              <a:stCxn id="24" idx="2"/>
              <a:endCxn id="46" idx="0"/>
            </p:cNvCxnSpPr>
            <p:nvPr/>
          </p:nvCxnSpPr>
          <p:spPr>
            <a:xfrm>
              <a:off x="6166594" y="3156252"/>
              <a:ext cx="0" cy="382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肘形连接符 47"/>
            <p:cNvCxnSpPr>
              <a:stCxn id="46" idx="2"/>
              <a:endCxn id="36" idx="1"/>
            </p:cNvCxnSpPr>
            <p:nvPr/>
          </p:nvCxnSpPr>
          <p:spPr>
            <a:xfrm rot="16200000" flipH="1">
              <a:off x="6378550" y="3687218"/>
              <a:ext cx="321752" cy="74566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后续推进说明</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0704548-23CD-B0DA-C6B2-B5DE754F25D1}"/>
              </a:ext>
            </a:extLst>
          </p:cNvPr>
          <p:cNvSpPr>
            <a:spLocks noGrp="1"/>
          </p:cNvSpPr>
          <p:nvPr>
            <p:ph type="title"/>
          </p:nvPr>
        </p:nvSpPr>
        <p:spPr/>
        <p:txBody>
          <a:bodyPr/>
          <a:lstStyle/>
          <a:p>
            <a:r>
              <a:rPr lang="zh-CN" altLang="en-US" dirty="0"/>
              <a:t>待决策事项</a:t>
            </a:r>
          </a:p>
        </p:txBody>
      </p:sp>
      <p:graphicFrame>
        <p:nvGraphicFramePr>
          <p:cNvPr id="5" name="表格 4">
            <a:extLst>
              <a:ext uri="{FF2B5EF4-FFF2-40B4-BE49-F238E27FC236}">
                <a16:creationId xmlns:a16="http://schemas.microsoft.com/office/drawing/2014/main" id="{585553C8-C600-7828-182F-5C1F3D6E5875}"/>
              </a:ext>
            </a:extLst>
          </p:cNvPr>
          <p:cNvGraphicFramePr/>
          <p:nvPr>
            <p:custDataLst>
              <p:tags r:id="rId1"/>
            </p:custDataLst>
            <p:extLst>
              <p:ext uri="{D42A27DB-BD31-4B8C-83A1-F6EECF244321}">
                <p14:modId xmlns:p14="http://schemas.microsoft.com/office/powerpoint/2010/main" val="840459637"/>
              </p:ext>
            </p:extLst>
          </p:nvPr>
        </p:nvGraphicFramePr>
        <p:xfrm>
          <a:off x="656590" y="1143000"/>
          <a:ext cx="10698480" cy="4974685"/>
        </p:xfrm>
        <a:graphic>
          <a:graphicData uri="http://schemas.openxmlformats.org/drawingml/2006/table">
            <a:tbl>
              <a:tblPr firstRow="1" bandRow="1">
                <a:tableStyleId>{21E4AEA4-8DFA-4A89-87EB-49C32662AFE0}</a:tableStyleId>
              </a:tblPr>
              <a:tblGrid>
                <a:gridCol w="777875">
                  <a:extLst>
                    <a:ext uri="{9D8B030D-6E8A-4147-A177-3AD203B41FA5}">
                      <a16:colId xmlns:a16="http://schemas.microsoft.com/office/drawing/2014/main" val="20000"/>
                    </a:ext>
                  </a:extLst>
                </a:gridCol>
                <a:gridCol w="1067435">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2020570">
                  <a:extLst>
                    <a:ext uri="{9D8B030D-6E8A-4147-A177-3AD203B41FA5}">
                      <a16:colId xmlns:a16="http://schemas.microsoft.com/office/drawing/2014/main" val="20003"/>
                    </a:ext>
                  </a:extLst>
                </a:gridCol>
                <a:gridCol w="5144135">
                  <a:extLst>
                    <a:ext uri="{9D8B030D-6E8A-4147-A177-3AD203B41FA5}">
                      <a16:colId xmlns:a16="http://schemas.microsoft.com/office/drawing/2014/main" val="20004"/>
                    </a:ext>
                  </a:extLst>
                </a:gridCol>
              </a:tblGrid>
              <a:tr h="654685">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序号</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业务模块</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业务内容</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待决策事项</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事项内容</a:t>
                      </a:r>
                    </a:p>
                  </a:txBody>
                  <a:tcPr marL="68582" marR="68582" marT="34288" marB="34288" anchor="ctr">
                    <a:solidFill>
                      <a:srgbClr val="2971EB"/>
                    </a:solidFill>
                  </a:tcPr>
                </a:tc>
                <a:extLst>
                  <a:ext uri="{0D108BD9-81ED-4DB2-BD59-A6C34878D82A}">
                    <a16:rowId xmlns:a16="http://schemas.microsoft.com/office/drawing/2014/main" val="10000"/>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1</a:t>
                      </a:r>
                    </a:p>
                  </a:txBody>
                  <a:tcPr marL="51438" marR="51438" marT="0" marB="0" anchor="ctr">
                    <a:solidFill>
                      <a:srgbClr val="E5EDFC"/>
                    </a:solidFill>
                  </a:tcPr>
                </a:tc>
                <a:tc>
                  <a:txBody>
                    <a:bodyPr/>
                    <a:lstStyle/>
                    <a:p>
                      <a:pPr algn="l">
                        <a:spcAft>
                          <a:spcPts val="1000"/>
                        </a:spcAft>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1"/>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2</a:t>
                      </a:r>
                    </a:p>
                  </a:txBody>
                  <a:tcPr marL="51438" marR="51438" marT="0" marB="0" anchor="ctr">
                    <a:solidFill>
                      <a:srgbClr val="E5EDFC"/>
                    </a:solidFill>
                  </a:tcPr>
                </a:tc>
                <a:tc>
                  <a:txBody>
                    <a:bodyPr/>
                    <a:lstStyle/>
                    <a:p>
                      <a:pPr algn="l">
                        <a:spcAft>
                          <a:spcPts val="1000"/>
                        </a:spcAft>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2"/>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3</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3"/>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4</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4218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后续推进计划</a:t>
            </a:r>
          </a:p>
        </p:txBody>
      </p:sp>
      <p:sp>
        <p:nvSpPr>
          <p:cNvPr id="2" name="文本框 1"/>
          <p:cNvSpPr txBox="1"/>
          <p:nvPr/>
        </p:nvSpPr>
        <p:spPr>
          <a:xfrm>
            <a:off x="1201270" y="1586281"/>
            <a:ext cx="9852212" cy="36830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提供下一阶段推进的概述计划以及资源配合要求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后续推进计划</a:t>
            </a:r>
          </a:p>
        </p:txBody>
      </p:sp>
      <p:sp>
        <p:nvSpPr>
          <p:cNvPr id="2" name="文本框 1"/>
          <p:cNvSpPr txBox="1"/>
          <p:nvPr/>
        </p:nvSpPr>
        <p:spPr>
          <a:xfrm>
            <a:off x="1201270" y="1586281"/>
            <a:ext cx="9852212" cy="36830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提供后续推进的详细</a:t>
            </a:r>
            <a:r>
              <a:rPr lang="en-US" altLang="zh-CN" dirty="0">
                <a:latin typeface="微软雅黑" panose="020B0503020204020204" charset="-122"/>
                <a:ea typeface="微软雅黑" panose="020B0503020204020204" charset="-122"/>
              </a:rPr>
              <a:t>WBS</a:t>
            </a:r>
            <a:r>
              <a:rPr lang="zh-CN" altLang="en-US" dirty="0">
                <a:latin typeface="微软雅黑" panose="020B0503020204020204" charset="-122"/>
                <a:ea typeface="微软雅黑" panose="020B0503020204020204" charset="-122"/>
              </a:rPr>
              <a:t>并明确后续阶段节点</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YwMmNhN2U3NTYzYjEzNDMxODA3OWFmNzQ3MGE5OTM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a27a2004-fc34-41f5-8241-b0a5eb784842}"/>
  <p:tag name="TABLE_ENDDRAG_ORIGIN_RECT" val="842*281"/>
  <p:tag name="TABLE_ENDDRAG_RECT" val="31*82*842*281"/>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590</Words>
  <Application>Microsoft Office PowerPoint</Application>
  <PresentationFormat>宽屏</PresentationFormat>
  <Paragraphs>91</Paragraphs>
  <Slides>19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等线</vt:lpstr>
      <vt:lpstr>微软雅黑</vt:lpstr>
      <vt:lpstr>微软雅黑 Light</vt:lpstr>
      <vt:lpstr>Arial</vt:lpstr>
      <vt:lpstr>Wingdings</vt:lpstr>
      <vt:lpstr>1_Office 主题​​</vt:lpstr>
      <vt:lpstr>XXX集团XXX业务蓝图汇报</vt:lpstr>
      <vt:lpstr>目 录</vt:lpstr>
      <vt:lpstr>项目背景与目标</vt:lpstr>
      <vt:lpstr>项目背景与目标</vt:lpstr>
      <vt:lpstr>项目背景与目标</vt:lpstr>
      <vt:lpstr>项目历程回顾</vt:lpstr>
      <vt:lpstr>项目历程回顾</vt:lpstr>
      <vt:lpstr>项目历程回顾</vt:lpstr>
      <vt:lpstr>业务蓝图说明</vt:lpstr>
      <vt:lpstr>业务蓝图说明</vt:lpstr>
      <vt:lpstr>业务蓝图说明</vt:lpstr>
      <vt:lpstr>业务蓝图说明</vt:lpstr>
      <vt:lpstr>业务蓝图说明</vt:lpstr>
      <vt:lpstr>后续推进说明</vt:lpstr>
      <vt:lpstr>待决策事项</vt:lpstr>
      <vt:lpstr>后续推进计划</vt:lpstr>
      <vt:lpstr>后续推进计划</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479</cp:revision>
  <dcterms:created xsi:type="dcterms:W3CDTF">2022-05-26T11:12:00Z</dcterms:created>
  <dcterms:modified xsi:type="dcterms:W3CDTF">2023-02-09T09:24:04Z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2052-11.1.0.12019</vt:lpwstr>
  </property>
</Properties>
</file>