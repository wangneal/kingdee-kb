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31"/>
  </p:notesMasterIdLst>
  <p:handoutMasterIdLst>
    <p:handoutMasterId r:id="rId32"/>
  </p:handoutMasterIdLst>
  <p:sldIdLst>
    <p:sldId id="1726328028" r:id="rId2"/>
    <p:sldId id="256" r:id="rId3"/>
    <p:sldId id="1726328113" r:id="rId4"/>
    <p:sldId id="1726328116" r:id="rId5"/>
    <p:sldId id="1726328029" r:id="rId6"/>
    <p:sldId id="1726327933" r:id="rId7"/>
    <p:sldId id="1726328114" r:id="rId8"/>
    <p:sldId id="1726328117" r:id="rId9"/>
    <p:sldId id="1726328118" r:id="rId10"/>
    <p:sldId id="1726328115" r:id="rId11"/>
    <p:sldId id="1726328119" r:id="rId12"/>
    <p:sldId id="1726328032" r:id="rId13"/>
    <p:sldId id="1726328120" r:id="rId14"/>
    <p:sldId id="1726328121" r:id="rId15"/>
    <p:sldId id="1726328122" r:id="rId16"/>
    <p:sldId id="1726328034" r:id="rId17"/>
    <p:sldId id="1726328123" r:id="rId18"/>
    <p:sldId id="1726328124" r:id="rId19"/>
    <p:sldId id="1726328125" r:id="rId20"/>
    <p:sldId id="1726328036" r:id="rId21"/>
    <p:sldId id="1726328126" r:id="rId22"/>
    <p:sldId id="1726328127" r:id="rId23"/>
    <p:sldId id="1726328128" r:id="rId24"/>
    <p:sldId id="1726328130" r:id="rId25"/>
    <p:sldId id="1726328129" r:id="rId26"/>
    <p:sldId id="1726328131" r:id="rId27"/>
    <p:sldId id="1726328132" r:id="rId28"/>
    <p:sldId id="1726327939" r:id="rId29"/>
    <p:sldId id="1726328031"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028"/>
            <p14:sldId id="256"/>
            <p14:sldId id="1726328113"/>
            <p14:sldId id="1726328116"/>
            <p14:sldId id="1726328029"/>
            <p14:sldId id="1726327933"/>
            <p14:sldId id="1726328114"/>
            <p14:sldId id="1726328117"/>
            <p14:sldId id="1726328118"/>
            <p14:sldId id="1726328115"/>
            <p14:sldId id="1726328119"/>
            <p14:sldId id="1726328032"/>
            <p14:sldId id="1726328120"/>
            <p14:sldId id="1726328121"/>
            <p14:sldId id="1726328122"/>
            <p14:sldId id="1726328034"/>
            <p14:sldId id="1726328123"/>
            <p14:sldId id="1726328124"/>
            <p14:sldId id="1726328125"/>
            <p14:sldId id="1726328036"/>
            <p14:sldId id="1726328126"/>
            <p14:sldId id="1726328127"/>
            <p14:sldId id="1726328128"/>
            <p14:sldId id="1726328130"/>
            <p14:sldId id="1726328129"/>
            <p14:sldId id="1726328131"/>
            <p14:sldId id="1726328132"/>
            <p14:sldId id="1726327939"/>
            <p14:sldId id="17263280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8EF7"/>
    <a:srgbClr val="00CDFF"/>
    <a:srgbClr val="DFE8FB"/>
    <a:srgbClr val="2970EB"/>
    <a:srgbClr val="2A70EB"/>
    <a:srgbClr val="A16EFF"/>
    <a:srgbClr val="08C8C8"/>
    <a:srgbClr val="22AAFE"/>
    <a:srgbClr val="2287F5"/>
    <a:srgbClr val="00B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67" d="100"/>
          <a:sy n="67" d="100"/>
        </p:scale>
        <p:origin x="836" y="52"/>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2022/9/19</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2022/9/19</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①</a:t>
            </a:r>
            <a:r>
              <a:rPr lang="zh-CN" altLang="en-US" sz="900" b="0" i="0" dirty="0">
                <a:solidFill>
                  <a:schemeClr val="accent1">
                    <a:lumMod val="75000"/>
                  </a:schemeClr>
                </a:solidFill>
                <a:latin typeface="Microsoft YaHei" panose="020B0503020204020204" pitchFamily="34" charset="-122"/>
                <a:ea typeface="Microsoft YaHei" panose="020B0503020204020204" pitchFamily="34" charset="-122"/>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a:extLst>
              <a:ext uri="{FF2B5EF4-FFF2-40B4-BE49-F238E27FC236}">
                <a16:creationId xmlns:a16="http://schemas.microsoft.com/office/drawing/2014/main" id="{AD19EED1-AAAC-A1FE-9BAE-B9C20CF9B2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a:extLst>
              <a:ext uri="{FF2B5EF4-FFF2-40B4-BE49-F238E27FC236}">
                <a16:creationId xmlns:a16="http://schemas.microsoft.com/office/drawing/2014/main" id="{0976E708-6CF7-6847-2394-20918CB0D4AB}"/>
              </a:ext>
            </a:extLst>
          </p:cNvPr>
          <p:cNvSpPr txBox="1"/>
          <p:nvPr userDrawn="1"/>
        </p:nvSpPr>
        <p:spPr>
          <a:xfrm>
            <a:off x="10174753" y="6416764"/>
            <a:ext cx="1213281" cy="173511"/>
          </a:xfrm>
          <a:prstGeom prst="rect">
            <a:avLst/>
          </a:prstGeom>
          <a:ln w="12700">
            <a:miter lim="400000"/>
          </a:ln>
          <a:extLst>
            <a:ext uri="{C572A759-6A51-4108-AA02-DFA0A04FC94B}">
              <ma14:wrappingTextBoxFlag xmlns="" xmlns:ma14="http://schemas.microsoft.com/office/mac/drawingml/2011/main"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a:extLst>
              <a:ext uri="{FF2B5EF4-FFF2-40B4-BE49-F238E27FC236}">
                <a16:creationId xmlns:a16="http://schemas.microsoft.com/office/drawing/2014/main" id="{F61968CA-8D86-F945-9EB3-F3D29E61C940}"/>
              </a:ext>
            </a:extLst>
          </p:cNvPr>
          <p:cNvSpPr txBox="1"/>
          <p:nvPr userDrawn="1"/>
        </p:nvSpPr>
        <p:spPr>
          <a:xfrm>
            <a:off x="10174753" y="6416764"/>
            <a:ext cx="1213281" cy="173511"/>
          </a:xfrm>
          <a:prstGeom prst="rect">
            <a:avLst/>
          </a:prstGeom>
          <a:ln w="12700">
            <a:miter lim="400000"/>
          </a:ln>
          <a:extLst>
            <a:ext uri="{C572A759-6A51-4108-AA02-DFA0A04FC94B}">
              <ma14:wrappingTextBoxFlag xmlns="" xmlns:ma14="http://schemas.microsoft.com/office/mac/drawingml/2011/main"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369423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a:extLst>
              <a:ext uri="{FF2B5EF4-FFF2-40B4-BE49-F238E27FC236}">
                <a16:creationId xmlns:a16="http://schemas.microsoft.com/office/drawing/2014/main" id="{99936485-FE25-6D43-9E35-A85C40AFD73C}"/>
              </a:ext>
            </a:extLst>
          </p:cNvPr>
          <p:cNvSpPr txBox="1"/>
          <p:nvPr userDrawn="1"/>
        </p:nvSpPr>
        <p:spPr>
          <a:xfrm>
            <a:off x="10174753" y="6416764"/>
            <a:ext cx="1213281" cy="173511"/>
          </a:xfrm>
          <a:prstGeom prst="rect">
            <a:avLst/>
          </a:prstGeom>
          <a:ln w="12700">
            <a:miter lim="400000"/>
          </a:ln>
          <a:extLst>
            <a:ext uri="{C572A759-6A51-4108-AA02-DFA0A04FC94B}">
              <ma14:wrappingTextBoxFlag xmlns="" xmlns:ma14="http://schemas.microsoft.com/office/mac/drawingml/2011/main"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marL="0" marR="0" lvl="0" indent="0" algn="l" defTabSz="914400" rtl="0" eaLnBrk="1" fontAlgn="auto" latinLnBrk="0" hangingPunct="1">
              <a:lnSpc>
                <a:spcPts val="1333"/>
              </a:lnSpc>
              <a:spcBef>
                <a:spcPts val="0"/>
              </a:spcBef>
              <a:spcAft>
                <a:spcPts val="0"/>
              </a:spcAft>
              <a:buClrTx/>
              <a:buSzTx/>
              <a:buFontTx/>
              <a:buNone/>
              <a:tabLst/>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7663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201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9828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73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80783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pic>
        <p:nvPicPr>
          <p:cNvPr id="20" name="图片 19">
            <a:extLst>
              <a:ext uri="{FF2B5EF4-FFF2-40B4-BE49-F238E27FC236}">
                <a16:creationId xmlns:a16="http://schemas.microsoft.com/office/drawing/2014/main" id="{20C8B9F2-2F70-E82A-EB35-C9C417327A6A}"/>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a:extLst>
              <a:ext uri="{FF2B5EF4-FFF2-40B4-BE49-F238E27FC236}">
                <a16:creationId xmlns:a16="http://schemas.microsoft.com/office/drawing/2014/main" id="{0E9B2F5C-CE29-1522-BC42-BBA2EFDD20E4}"/>
              </a:ext>
            </a:extLst>
          </p:cNvPr>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45956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zh-CN" sz="1800" b="1" i="0" dirty="0">
                <a:solidFill>
                  <a:srgbClr val="FFC000"/>
                </a:solidFill>
                <a:latin typeface="Microsoft YaHei" panose="020B0503020204020204" pitchFamily="34" charset="-122"/>
                <a:ea typeface="Microsoft YaHei" panose="020B0503020204020204" pitchFamily="34" charset="-122"/>
              </a:rPr>
              <a:t>①</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zh-CN" sz="1800" b="1" i="0" dirty="0">
                <a:solidFill>
                  <a:srgbClr val="FFC000"/>
                </a:solidFill>
                <a:latin typeface="Microsoft YaHei" panose="020B0503020204020204" pitchFamily="34" charset="-122"/>
                <a:ea typeface="Microsoft YaHei" panose="020B0503020204020204" pitchFamily="34" charset="-122"/>
              </a:rPr>
              <a:t>绝密信息 严禁泄露</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©1993-2022 </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67006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667523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6E9E13-5CCB-335F-6147-4586DCA0D57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C7FC87-9B36-A305-A0BD-9C53584BF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78758D7-3124-02A4-354F-871D88A3A579}"/>
              </a:ext>
            </a:extLst>
          </p:cNvPr>
          <p:cNvSpPr>
            <a:spLocks noGrp="1"/>
          </p:cNvSpPr>
          <p:nvPr>
            <p:ph type="dt" sz="half" idx="10"/>
          </p:nvPr>
        </p:nvSpPr>
        <p:spPr/>
        <p:txBody>
          <a:bodyPr/>
          <a:lstStyle/>
          <a:p>
            <a:fld id="{2ABC72A0-2D13-438F-B987-873298CA0D13}" type="datetimeFigureOut">
              <a:rPr lang="zh-CN" altLang="en-US" smtClean="0"/>
              <a:t>2022/9/19</a:t>
            </a:fld>
            <a:endParaRPr lang="zh-CN" altLang="en-US"/>
          </a:p>
        </p:txBody>
      </p:sp>
      <p:sp>
        <p:nvSpPr>
          <p:cNvPr id="5" name="页脚占位符 4">
            <a:extLst>
              <a:ext uri="{FF2B5EF4-FFF2-40B4-BE49-F238E27FC236}">
                <a16:creationId xmlns:a16="http://schemas.microsoft.com/office/drawing/2014/main" id="{5B2031DB-DE27-62FE-8194-4E5BAE36D2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007EC2-A195-D467-DD08-32B8487FFAB8}"/>
              </a:ext>
            </a:extLst>
          </p:cNvPr>
          <p:cNvSpPr>
            <a:spLocks noGrp="1"/>
          </p:cNvSpPr>
          <p:nvPr>
            <p:ph type="sldNum" sz="quarter" idx="12"/>
          </p:nvPr>
        </p:nvSpPr>
        <p:spPr/>
        <p:txBody>
          <a:bodyPr/>
          <a:lstStyle/>
          <a:p>
            <a:fld id="{BFCF3779-EE8A-4FCF-9D81-0BD03181C8EC}" type="slidenum">
              <a:rPr lang="zh-CN" altLang="en-US" smtClean="0"/>
              <a:t>‹#›</a:t>
            </a:fld>
            <a:endParaRPr lang="zh-CN" altLang="en-US"/>
          </a:p>
        </p:txBody>
      </p:sp>
    </p:spTree>
    <p:extLst>
      <p:ext uri="{BB962C8B-B14F-4D97-AF65-F5344CB8AC3E}">
        <p14:creationId xmlns:p14="http://schemas.microsoft.com/office/powerpoint/2010/main" val="245914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40" r:id="rId11"/>
    <p:sldLayoutId id="2147483716" r:id="rId12"/>
    <p:sldLayoutId id="2147483739" r:id="rId13"/>
    <p:sldLayoutId id="2147483717" r:id="rId14"/>
    <p:sldLayoutId id="2147483741"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normAutofit fontScale="90000"/>
          </a:bodyPr>
          <a:lstStyle/>
          <a:p>
            <a:pPr algn="ctr"/>
            <a:r>
              <a:rPr kumimoji="1" lang="en-US" altLang="zh-CN" dirty="0"/>
              <a:t>XX</a:t>
            </a:r>
            <a:r>
              <a:rPr kumimoji="1" lang="zh-CN" altLang="en-US" dirty="0"/>
              <a:t>客户</a:t>
            </a:r>
            <a:r>
              <a:rPr kumimoji="1" lang="en-US" altLang="zh-CN" dirty="0"/>
              <a:t>XX</a:t>
            </a:r>
            <a:r>
              <a:rPr kumimoji="1" lang="zh-CN" altLang="en-US" dirty="0"/>
              <a:t>系统实施项目</a:t>
            </a:r>
            <a:br>
              <a:rPr kumimoji="1" lang="en-US" altLang="zh-CN" dirty="0"/>
            </a:br>
            <a:r>
              <a:rPr kumimoji="1" lang="zh-CN" altLang="en-US" dirty="0"/>
              <a:t>关键用户欢迎会</a:t>
            </a:r>
          </a:p>
        </p:txBody>
      </p:sp>
      <p:sp>
        <p:nvSpPr>
          <p:cNvPr id="3" name="内容占位符 2">
            <a:extLst>
              <a:ext uri="{FF2B5EF4-FFF2-40B4-BE49-F238E27FC236}">
                <a16:creationId xmlns:a16="http://schemas.microsoft.com/office/drawing/2014/main" id="{03B7CFF6-79B8-B1D1-C6CD-454408BA7962}"/>
              </a:ext>
            </a:extLst>
          </p:cNvPr>
          <p:cNvSpPr>
            <a:spLocks noGrp="1"/>
          </p:cNvSpPr>
          <p:nvPr>
            <p:ph sz="quarter" idx="12"/>
          </p:nvPr>
        </p:nvSpPr>
        <p:spPr/>
        <p:txBody>
          <a:bodyPr/>
          <a:lstStyle/>
          <a:p>
            <a:endParaRPr kumimoji="1" lang="zh-CN" altLang="en-US" dirty="0"/>
          </a:p>
        </p:txBody>
      </p:sp>
      <p:sp>
        <p:nvSpPr>
          <p:cNvPr id="4" name="内容占位符 3">
            <a:extLst>
              <a:ext uri="{FF2B5EF4-FFF2-40B4-BE49-F238E27FC236}">
                <a16:creationId xmlns:a16="http://schemas.microsoft.com/office/drawing/2014/main" id="{808DB0A7-C6D0-935D-ACB8-13514CBD412C}"/>
              </a:ext>
            </a:extLst>
          </p:cNvPr>
          <p:cNvSpPr>
            <a:spLocks noGrp="1"/>
          </p:cNvSpPr>
          <p:nvPr>
            <p:ph sz="quarter" idx="13"/>
          </p:nvPr>
        </p:nvSpPr>
        <p:spPr/>
        <p:txBody>
          <a:bodyPr/>
          <a:lstStyle/>
          <a:p>
            <a:endParaRPr kumimoji="1" lang="zh-CN" altLang="en-US" dirty="0"/>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p:txBody>
          <a:bodyPr/>
          <a:lstStyle/>
          <a:p>
            <a:endParaRPr kumimoji="1" lang="zh-CN" altLang="en-US" dirty="0"/>
          </a:p>
        </p:txBody>
      </p:sp>
    </p:spTree>
    <p:extLst>
      <p:ext uri="{BB962C8B-B14F-4D97-AF65-F5344CB8AC3E}">
        <p14:creationId xmlns:p14="http://schemas.microsoft.com/office/powerpoint/2010/main" val="20898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48695-EC06-8D82-2D73-31A72694749C}"/>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4453E5C-7641-028C-FFD8-494081C6DD5F}"/>
              </a:ext>
            </a:extLst>
          </p:cNvPr>
          <p:cNvSpPr>
            <a:spLocks noGrp="1"/>
          </p:cNvSpPr>
          <p:nvPr>
            <p:ph type="subTitle" idx="1"/>
          </p:nvPr>
        </p:nvSpPr>
        <p:spPr/>
        <p:txBody>
          <a:bodyPr/>
          <a:lstStyle/>
          <a:p>
            <a:endParaRPr lang="zh-CN" altLang="en-US"/>
          </a:p>
        </p:txBody>
      </p:sp>
      <p:sp>
        <p:nvSpPr>
          <p:cNvPr id="4" name="object 1">
            <a:extLst>
              <a:ext uri="{FF2B5EF4-FFF2-40B4-BE49-F238E27FC236}">
                <a16:creationId xmlns:a16="http://schemas.microsoft.com/office/drawing/2014/main" id="{5A93D173-A307-7E6C-C231-C75CDD50B069}"/>
              </a:ext>
            </a:extLst>
          </p:cNvPr>
          <p:cNvSpPr/>
          <p:nvPr/>
        </p:nvSpPr>
        <p:spPr>
          <a:xfrm>
            <a:off x="-1" y="0"/>
            <a:ext cx="12304295"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5" name="内容占位符 2">
            <a:extLst>
              <a:ext uri="{FF2B5EF4-FFF2-40B4-BE49-F238E27FC236}">
                <a16:creationId xmlns:a16="http://schemas.microsoft.com/office/drawing/2014/main" id="{FDDC120E-07A0-5584-7E6F-A841851F2C21}"/>
              </a:ext>
            </a:extLst>
          </p:cNvPr>
          <p:cNvSpPr txBox="1">
            <a:spLocks/>
          </p:cNvSpPr>
          <p:nvPr/>
        </p:nvSpPr>
        <p:spPr>
          <a:xfrm>
            <a:off x="1262347" y="2515824"/>
            <a:ext cx="9291659" cy="1307510"/>
          </a:xfrm>
        </p:spPr>
        <p:txBody>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b="1" dirty="0">
                <a:solidFill>
                  <a:schemeClr val="bg1"/>
                </a:solidFill>
              </a:rPr>
              <a:t>欢迎加入</a:t>
            </a:r>
            <a:r>
              <a:rPr lang="en-US" altLang="zh-CN" sz="4000" b="1" dirty="0">
                <a:solidFill>
                  <a:schemeClr val="bg1"/>
                </a:solidFill>
              </a:rPr>
              <a:t>XX</a:t>
            </a:r>
            <a:r>
              <a:rPr lang="zh-CN" altLang="en-US" sz="4000" b="1" dirty="0">
                <a:solidFill>
                  <a:schemeClr val="bg1"/>
                </a:solidFill>
              </a:rPr>
              <a:t>客户 </a:t>
            </a:r>
            <a:r>
              <a:rPr lang="en-US" altLang="zh-CN" sz="4000" b="1" dirty="0">
                <a:solidFill>
                  <a:schemeClr val="bg1"/>
                </a:solidFill>
              </a:rPr>
              <a:t>ERP </a:t>
            </a:r>
            <a:r>
              <a:rPr lang="zh-CN" altLang="en-US" sz="4000" b="1" dirty="0">
                <a:solidFill>
                  <a:schemeClr val="bg1"/>
                </a:solidFill>
              </a:rPr>
              <a:t>二期大家庭</a:t>
            </a:r>
            <a:endParaRPr lang="en-US" altLang="zh-CN" sz="4000" b="1" dirty="0">
              <a:solidFill>
                <a:schemeClr val="bg1"/>
              </a:solidFill>
            </a:endParaRPr>
          </a:p>
          <a:p>
            <a:r>
              <a:rPr lang="en-US" altLang="zh-CN" dirty="0">
                <a:solidFill>
                  <a:schemeClr val="bg1"/>
                </a:solidFill>
              </a:rPr>
              <a:t>——</a:t>
            </a:r>
            <a:r>
              <a:rPr lang="zh-CN" altLang="en-US" dirty="0">
                <a:solidFill>
                  <a:schemeClr val="bg1"/>
                </a:solidFill>
              </a:rPr>
              <a:t>请按照组别清单依次介绍</a:t>
            </a:r>
            <a:r>
              <a:rPr lang="en-US" altLang="zh-CN" dirty="0">
                <a:solidFill>
                  <a:schemeClr val="bg1"/>
                </a:solidFill>
              </a:rPr>
              <a:t>——</a:t>
            </a:r>
            <a:endParaRPr lang="zh-HK" altLang="en-US" sz="2800" dirty="0">
              <a:solidFill>
                <a:schemeClr val="bg1"/>
              </a:solidFill>
            </a:endParaRPr>
          </a:p>
        </p:txBody>
      </p:sp>
    </p:spTree>
    <p:extLst>
      <p:ext uri="{BB962C8B-B14F-4D97-AF65-F5344CB8AC3E}">
        <p14:creationId xmlns:p14="http://schemas.microsoft.com/office/powerpoint/2010/main" val="4198900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项目组织架构</a:t>
            </a:r>
          </a:p>
        </p:txBody>
      </p:sp>
      <p:grpSp>
        <p:nvGrpSpPr>
          <p:cNvPr id="107" name="组合 106">
            <a:extLst>
              <a:ext uri="{FF2B5EF4-FFF2-40B4-BE49-F238E27FC236}">
                <a16:creationId xmlns:a16="http://schemas.microsoft.com/office/drawing/2014/main" id="{6865D774-A981-D0A1-F8B2-B1449943CF88}"/>
              </a:ext>
            </a:extLst>
          </p:cNvPr>
          <p:cNvGrpSpPr/>
          <p:nvPr/>
        </p:nvGrpSpPr>
        <p:grpSpPr>
          <a:xfrm>
            <a:off x="779635" y="866776"/>
            <a:ext cx="10783715" cy="5519252"/>
            <a:chOff x="779635" y="1074070"/>
            <a:chExt cx="8779781" cy="5311957"/>
          </a:xfrm>
        </p:grpSpPr>
        <p:sp>
          <p:nvSpPr>
            <p:cNvPr id="60" name="Rectangle 107">
              <a:extLst>
                <a:ext uri="{FF2B5EF4-FFF2-40B4-BE49-F238E27FC236}">
                  <a16:creationId xmlns:a16="http://schemas.microsoft.com/office/drawing/2014/main" id="{170243C3-8D0C-127E-725C-BEA063CA1616}"/>
                </a:ext>
              </a:extLst>
            </p:cNvPr>
            <p:cNvSpPr>
              <a:spLocks noChangeArrowheads="1"/>
            </p:cNvSpPr>
            <p:nvPr/>
          </p:nvSpPr>
          <p:spPr bwMode="auto">
            <a:xfrm>
              <a:off x="779635" y="5796080"/>
              <a:ext cx="8777693" cy="276728"/>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1000"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各个</a:t>
              </a:r>
              <a:r>
                <a:rPr lang="zh-CN" altLang="en-US" sz="1000" b="1">
                  <a:solidFill>
                    <a:prstClr val="white"/>
                  </a:solidFill>
                  <a:latin typeface="微软雅黑" panose="020B0503020204020204" pitchFamily="34" charset="-122"/>
                  <a:ea typeface="微软雅黑" panose="020B0503020204020204" pitchFamily="34" charset="-122"/>
                  <a:cs typeface="Arial" panose="020B0604020202020204" pitchFamily="34" charset="0"/>
                </a:rPr>
                <a:t>区域公司</a:t>
              </a:r>
              <a:r>
                <a:rPr lang="en-US" altLang="zh-CN" sz="1000"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000" b="1">
                  <a:solidFill>
                    <a:prstClr val="white"/>
                  </a:solidFill>
                  <a:latin typeface="微软雅黑" panose="020B0503020204020204" pitchFamily="34" charset="-122"/>
                  <a:ea typeface="微软雅黑" panose="020B0503020204020204" pitchFamily="34" charset="-122"/>
                  <a:cs typeface="Arial" panose="020B0604020202020204" pitchFamily="34" charset="0"/>
                </a:rPr>
                <a:t>区域工作组</a:t>
              </a:r>
              <a:endParaRPr lang="en-GB" altLang="zh-CN" sz="1000"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1" name="Rectangle 107">
              <a:extLst>
                <a:ext uri="{FF2B5EF4-FFF2-40B4-BE49-F238E27FC236}">
                  <a16:creationId xmlns:a16="http://schemas.microsoft.com/office/drawing/2014/main" id="{563BDC0D-510A-47CF-CA9A-274F9022697E}"/>
                </a:ext>
              </a:extLst>
            </p:cNvPr>
            <p:cNvSpPr>
              <a:spLocks noChangeArrowheads="1"/>
            </p:cNvSpPr>
            <p:nvPr/>
          </p:nvSpPr>
          <p:spPr bwMode="auto">
            <a:xfrm>
              <a:off x="781723" y="6109299"/>
              <a:ext cx="8777693" cy="276728"/>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1000"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各个</a:t>
              </a:r>
              <a:r>
                <a:rPr lang="zh-CN" altLang="en-US" sz="1000" b="1">
                  <a:solidFill>
                    <a:prstClr val="white"/>
                  </a:solidFill>
                  <a:latin typeface="微软雅黑" panose="020B0503020204020204" pitchFamily="34" charset="-122"/>
                  <a:ea typeface="微软雅黑" panose="020B0503020204020204" pitchFamily="34" charset="-122"/>
                  <a:cs typeface="Arial" panose="020B0604020202020204" pitchFamily="34" charset="0"/>
                </a:rPr>
                <a:t>现场公司</a:t>
              </a:r>
              <a:r>
                <a:rPr lang="en-US" altLang="zh-CN" sz="1000" b="1">
                  <a:solidFill>
                    <a:prstClr val="white"/>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000" b="1">
                  <a:solidFill>
                    <a:prstClr val="white"/>
                  </a:solidFill>
                  <a:latin typeface="微软雅黑" panose="020B0503020204020204" pitchFamily="34" charset="-122"/>
                  <a:ea typeface="微软雅黑" panose="020B0503020204020204" pitchFamily="34" charset="-122"/>
                  <a:cs typeface="Arial" panose="020B0604020202020204" pitchFamily="34" charset="0"/>
                </a:rPr>
                <a:t>现场工作组</a:t>
              </a:r>
              <a:endParaRPr lang="en-GB" altLang="zh-CN" sz="1000"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Rectangle 125">
              <a:extLst>
                <a:ext uri="{FF2B5EF4-FFF2-40B4-BE49-F238E27FC236}">
                  <a16:creationId xmlns:a16="http://schemas.microsoft.com/office/drawing/2014/main" id="{F0A1262D-E7A4-854D-C796-D73C43D79354}"/>
                </a:ext>
              </a:extLst>
            </p:cNvPr>
            <p:cNvSpPr>
              <a:spLocks noChangeArrowheads="1"/>
            </p:cNvSpPr>
            <p:nvPr/>
          </p:nvSpPr>
          <p:spPr bwMode="auto">
            <a:xfrm>
              <a:off x="3646917" y="3098471"/>
              <a:ext cx="2726968" cy="559579"/>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panose="020B0503020204020204" pitchFamily="34" charset="-122"/>
                <a:ea typeface="宋体" panose="02010600030101010101" pitchFamily="2" charset="-122"/>
              </a:endParaRPr>
            </a:p>
          </p:txBody>
        </p:sp>
        <p:sp>
          <p:nvSpPr>
            <p:cNvPr id="63" name="Rectangle 125">
              <a:extLst>
                <a:ext uri="{FF2B5EF4-FFF2-40B4-BE49-F238E27FC236}">
                  <a16:creationId xmlns:a16="http://schemas.microsoft.com/office/drawing/2014/main" id="{6DC1CE5B-77C4-C687-A575-C11D4CBFF040}"/>
                </a:ext>
              </a:extLst>
            </p:cNvPr>
            <p:cNvSpPr>
              <a:spLocks noChangeArrowheads="1"/>
            </p:cNvSpPr>
            <p:nvPr/>
          </p:nvSpPr>
          <p:spPr bwMode="auto">
            <a:xfrm>
              <a:off x="3644226" y="1318010"/>
              <a:ext cx="2726968" cy="573857"/>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panose="020B0503020204020204" pitchFamily="34" charset="-122"/>
                <a:ea typeface="宋体" panose="02010600030101010101" pitchFamily="2" charset="-122"/>
              </a:endParaRPr>
            </a:p>
          </p:txBody>
        </p:sp>
        <p:sp>
          <p:nvSpPr>
            <p:cNvPr id="64" name="Rectangle 125">
              <a:extLst>
                <a:ext uri="{FF2B5EF4-FFF2-40B4-BE49-F238E27FC236}">
                  <a16:creationId xmlns:a16="http://schemas.microsoft.com/office/drawing/2014/main" id="{4F3E741B-3980-EBF4-A2BF-60923BB8077A}"/>
                </a:ext>
              </a:extLst>
            </p:cNvPr>
            <p:cNvSpPr>
              <a:spLocks noChangeArrowheads="1"/>
            </p:cNvSpPr>
            <p:nvPr/>
          </p:nvSpPr>
          <p:spPr bwMode="auto">
            <a:xfrm>
              <a:off x="1507727" y="2741659"/>
              <a:ext cx="1712595" cy="982345"/>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panose="020B0503020204020204" pitchFamily="34" charset="-122"/>
                <a:ea typeface="宋体" panose="02010600030101010101" pitchFamily="2" charset="-122"/>
              </a:endParaRPr>
            </a:p>
          </p:txBody>
        </p:sp>
        <p:sp>
          <p:nvSpPr>
            <p:cNvPr id="65" name="Rectangle 107">
              <a:extLst>
                <a:ext uri="{FF2B5EF4-FFF2-40B4-BE49-F238E27FC236}">
                  <a16:creationId xmlns:a16="http://schemas.microsoft.com/office/drawing/2014/main" id="{41F10A7F-97AB-57A5-401D-6D24DCEBE19B}"/>
                </a:ext>
              </a:extLst>
            </p:cNvPr>
            <p:cNvSpPr>
              <a:spLocks noChangeArrowheads="1"/>
            </p:cNvSpPr>
            <p:nvPr/>
          </p:nvSpPr>
          <p:spPr bwMode="auto">
            <a:xfrm>
              <a:off x="3628986" y="1074070"/>
              <a:ext cx="2726968" cy="236795"/>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项目指导委员会</a:t>
              </a:r>
              <a:endParaRPr lang="en-GB"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6" name="Rectangle 125">
              <a:extLst>
                <a:ext uri="{FF2B5EF4-FFF2-40B4-BE49-F238E27FC236}">
                  <a16:creationId xmlns:a16="http://schemas.microsoft.com/office/drawing/2014/main" id="{F988A29C-A899-91A5-8DD4-76F095B1CE45}"/>
                </a:ext>
              </a:extLst>
            </p:cNvPr>
            <p:cNvSpPr>
              <a:spLocks noChangeArrowheads="1"/>
            </p:cNvSpPr>
            <p:nvPr/>
          </p:nvSpPr>
          <p:spPr bwMode="auto">
            <a:xfrm>
              <a:off x="6792832" y="3036299"/>
              <a:ext cx="1497965" cy="635000"/>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panose="020B0503020204020204" pitchFamily="34" charset="-122"/>
                <a:ea typeface="宋体" panose="02010600030101010101" pitchFamily="2" charset="-122"/>
              </a:endParaRPr>
            </a:p>
          </p:txBody>
        </p:sp>
        <p:sp>
          <p:nvSpPr>
            <p:cNvPr id="67" name="Rectangle 121">
              <a:extLst>
                <a:ext uri="{FF2B5EF4-FFF2-40B4-BE49-F238E27FC236}">
                  <a16:creationId xmlns:a16="http://schemas.microsoft.com/office/drawing/2014/main" id="{7B8E6D20-EC8A-B757-EFD2-E99CFDB0F7A0}"/>
                </a:ext>
              </a:extLst>
            </p:cNvPr>
            <p:cNvSpPr>
              <a:spLocks noChangeArrowheads="1"/>
            </p:cNvSpPr>
            <p:nvPr/>
          </p:nvSpPr>
          <p:spPr bwMode="auto">
            <a:xfrm>
              <a:off x="6792832" y="2741024"/>
              <a:ext cx="1498600" cy="295275"/>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质量监督组</a:t>
              </a:r>
              <a:endParaRPr lang="en-GB"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8" name="Rectangle 122">
              <a:extLst>
                <a:ext uri="{FF2B5EF4-FFF2-40B4-BE49-F238E27FC236}">
                  <a16:creationId xmlns:a16="http://schemas.microsoft.com/office/drawing/2014/main" id="{DE43F2FF-411C-988A-9C9B-26279510ED2A}"/>
                </a:ext>
              </a:extLst>
            </p:cNvPr>
            <p:cNvSpPr>
              <a:spLocks noChangeArrowheads="1"/>
            </p:cNvSpPr>
            <p:nvPr/>
          </p:nvSpPr>
          <p:spPr bwMode="auto">
            <a:xfrm>
              <a:off x="6848691" y="3098552"/>
              <a:ext cx="165705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prstClr val="black"/>
                </a:buClr>
                <a:buSzPct val="110000"/>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董事总经理：</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9" name="Rectangle 107">
              <a:extLst>
                <a:ext uri="{FF2B5EF4-FFF2-40B4-BE49-F238E27FC236}">
                  <a16:creationId xmlns:a16="http://schemas.microsoft.com/office/drawing/2014/main" id="{C4879233-50D2-086A-9275-009AB56F8EAE}"/>
                </a:ext>
              </a:extLst>
            </p:cNvPr>
            <p:cNvSpPr>
              <a:spLocks noChangeArrowheads="1"/>
            </p:cNvSpPr>
            <p:nvPr/>
          </p:nvSpPr>
          <p:spPr bwMode="auto">
            <a:xfrm>
              <a:off x="3646917" y="2825537"/>
              <a:ext cx="2726968" cy="279138"/>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项目管理办公室</a:t>
              </a:r>
              <a:endParaRPr lang="en-GB"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0" name="Rectangle 116">
              <a:extLst>
                <a:ext uri="{FF2B5EF4-FFF2-40B4-BE49-F238E27FC236}">
                  <a16:creationId xmlns:a16="http://schemas.microsoft.com/office/drawing/2014/main" id="{38D1B293-C573-EB98-03C2-A957B894182D}"/>
                </a:ext>
              </a:extLst>
            </p:cNvPr>
            <p:cNvSpPr>
              <a:spLocks noChangeArrowheads="1"/>
            </p:cNvSpPr>
            <p:nvPr/>
          </p:nvSpPr>
          <p:spPr bwMode="auto">
            <a:xfrm>
              <a:off x="2256392" y="4076429"/>
              <a:ext cx="1389380" cy="226060"/>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a:solidFill>
                    <a:prstClr val="white"/>
                  </a:solidFill>
                  <a:latin typeface="微软雅黑" panose="020B0503020204020204" pitchFamily="34" charset="-122"/>
                  <a:ea typeface="微软雅黑" panose="020B0503020204020204" pitchFamily="34" charset="-122"/>
                  <a:cs typeface="Arial" panose="020B0604020202020204" pitchFamily="34" charset="0"/>
                </a:rPr>
                <a:t>物资</a:t>
              </a:r>
              <a:r>
                <a:rPr lang="en-US"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925" b="1">
                  <a:solidFill>
                    <a:prstClr val="white"/>
                  </a:solidFill>
                  <a:latin typeface="微软雅黑" panose="020B0503020204020204" pitchFamily="34" charset="-122"/>
                  <a:ea typeface="微软雅黑" panose="020B0503020204020204" pitchFamily="34" charset="-122"/>
                  <a:cs typeface="Arial" panose="020B0604020202020204" pitchFamily="34" charset="0"/>
                </a:rPr>
                <a:t>增值组</a:t>
              </a:r>
              <a:r>
                <a:rPr lang="en-US"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 </a:t>
              </a:r>
              <a:endParaRPr lang="zh-CN" altLang="en-GB"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1" name="Rectangle 116">
              <a:extLst>
                <a:ext uri="{FF2B5EF4-FFF2-40B4-BE49-F238E27FC236}">
                  <a16:creationId xmlns:a16="http://schemas.microsoft.com/office/drawing/2014/main" id="{25A8D46D-AFA7-214F-F25D-8E3FAA8530F3}"/>
                </a:ext>
              </a:extLst>
            </p:cNvPr>
            <p:cNvSpPr>
              <a:spLocks noChangeArrowheads="1"/>
            </p:cNvSpPr>
            <p:nvPr/>
          </p:nvSpPr>
          <p:spPr bwMode="auto">
            <a:xfrm>
              <a:off x="3764073" y="4076389"/>
              <a:ext cx="1086646" cy="225969"/>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设备组</a:t>
              </a:r>
              <a:endParaRPr lang="zh-CN" altLang="en-GB"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2" name="Rectangle 116">
              <a:extLst>
                <a:ext uri="{FF2B5EF4-FFF2-40B4-BE49-F238E27FC236}">
                  <a16:creationId xmlns:a16="http://schemas.microsoft.com/office/drawing/2014/main" id="{26310E7C-8C17-35C1-8532-51B28252D7E5}"/>
                </a:ext>
              </a:extLst>
            </p:cNvPr>
            <p:cNvSpPr>
              <a:spLocks noChangeArrowheads="1"/>
            </p:cNvSpPr>
            <p:nvPr/>
          </p:nvSpPr>
          <p:spPr bwMode="auto">
            <a:xfrm>
              <a:off x="5164085" y="4076389"/>
              <a:ext cx="1089969" cy="225969"/>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财务集成组 </a:t>
              </a:r>
              <a:endParaRPr lang="zh-CN" altLang="en-GB"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3" name="Rectangle 116">
              <a:extLst>
                <a:ext uri="{FF2B5EF4-FFF2-40B4-BE49-F238E27FC236}">
                  <a16:creationId xmlns:a16="http://schemas.microsoft.com/office/drawing/2014/main" id="{10D5FE98-FDAC-E7D7-ADBB-4F21917807A2}"/>
                </a:ext>
              </a:extLst>
            </p:cNvPr>
            <p:cNvSpPr>
              <a:spLocks noChangeArrowheads="1"/>
            </p:cNvSpPr>
            <p:nvPr/>
          </p:nvSpPr>
          <p:spPr bwMode="auto">
            <a:xfrm>
              <a:off x="7967432" y="4076389"/>
              <a:ext cx="1086646" cy="225969"/>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技术组</a:t>
              </a:r>
              <a:endParaRPr lang="zh-CN" altLang="en-GB"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4" name="Rectangle 116">
              <a:extLst>
                <a:ext uri="{FF2B5EF4-FFF2-40B4-BE49-F238E27FC236}">
                  <a16:creationId xmlns:a16="http://schemas.microsoft.com/office/drawing/2014/main" id="{170DAFEF-53D6-69F8-2EE5-32CF6488F656}"/>
                </a:ext>
              </a:extLst>
            </p:cNvPr>
            <p:cNvSpPr>
              <a:spLocks noChangeArrowheads="1"/>
            </p:cNvSpPr>
            <p:nvPr/>
          </p:nvSpPr>
          <p:spPr bwMode="auto">
            <a:xfrm>
              <a:off x="6567421" y="4076389"/>
              <a:ext cx="1086646" cy="225969"/>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门户组</a:t>
              </a:r>
            </a:p>
          </p:txBody>
        </p:sp>
        <p:sp>
          <p:nvSpPr>
            <p:cNvPr id="75" name="Rectangle 116">
              <a:extLst>
                <a:ext uri="{FF2B5EF4-FFF2-40B4-BE49-F238E27FC236}">
                  <a16:creationId xmlns:a16="http://schemas.microsoft.com/office/drawing/2014/main" id="{036530B3-3585-F3EA-E5C6-0D51B246D59F}"/>
                </a:ext>
              </a:extLst>
            </p:cNvPr>
            <p:cNvSpPr>
              <a:spLocks noChangeArrowheads="1"/>
            </p:cNvSpPr>
            <p:nvPr/>
          </p:nvSpPr>
          <p:spPr bwMode="auto">
            <a:xfrm>
              <a:off x="964048" y="4076389"/>
              <a:ext cx="1086646" cy="225969"/>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项目组</a:t>
              </a:r>
              <a:endParaRPr lang="zh-CN" altLang="en-GB"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6" name="Rectangle 108">
              <a:extLst>
                <a:ext uri="{FF2B5EF4-FFF2-40B4-BE49-F238E27FC236}">
                  <a16:creationId xmlns:a16="http://schemas.microsoft.com/office/drawing/2014/main" id="{D51280F4-6665-09E1-ABD6-065921EEFF5B}"/>
                </a:ext>
              </a:extLst>
            </p:cNvPr>
            <p:cNvSpPr>
              <a:spLocks noChangeArrowheads="1"/>
            </p:cNvSpPr>
            <p:nvPr/>
          </p:nvSpPr>
          <p:spPr bwMode="auto">
            <a:xfrm>
              <a:off x="3721793" y="3138804"/>
              <a:ext cx="2193373" cy="78024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7" name="Rectangle 124">
              <a:extLst>
                <a:ext uri="{FF2B5EF4-FFF2-40B4-BE49-F238E27FC236}">
                  <a16:creationId xmlns:a16="http://schemas.microsoft.com/office/drawing/2014/main" id="{A9F70041-13ED-A9E6-3D20-5730BB83F5BB}"/>
                </a:ext>
              </a:extLst>
            </p:cNvPr>
            <p:cNvSpPr>
              <a:spLocks noChangeArrowheads="1"/>
            </p:cNvSpPr>
            <p:nvPr/>
          </p:nvSpPr>
          <p:spPr bwMode="auto">
            <a:xfrm>
              <a:off x="1508362" y="2456544"/>
              <a:ext cx="1711960" cy="302895"/>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a:solidFill>
                    <a:prstClr val="white"/>
                  </a:solidFill>
                  <a:latin typeface="微软雅黑" panose="020B0503020204020204" pitchFamily="34" charset="-122"/>
                  <a:ea typeface="微软雅黑" panose="020B0503020204020204" pitchFamily="34" charset="-122"/>
                  <a:cs typeface="Arial" panose="020B0604020202020204" pitchFamily="34" charset="0"/>
                </a:rPr>
                <a:t>专家组</a:t>
              </a:r>
              <a:endParaRPr lang="en-GB"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8" name="Rectangle 108">
              <a:extLst>
                <a:ext uri="{FF2B5EF4-FFF2-40B4-BE49-F238E27FC236}">
                  <a16:creationId xmlns:a16="http://schemas.microsoft.com/office/drawing/2014/main" id="{6291A8EA-441F-4F0D-D7E6-3E40023A6683}"/>
                </a:ext>
              </a:extLst>
            </p:cNvPr>
            <p:cNvSpPr>
              <a:spLocks noChangeArrowheads="1"/>
            </p:cNvSpPr>
            <p:nvPr/>
          </p:nvSpPr>
          <p:spPr bwMode="auto">
            <a:xfrm>
              <a:off x="5121896" y="3129053"/>
              <a:ext cx="1401450" cy="2522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9" name="Rectangle 108">
              <a:extLst>
                <a:ext uri="{FF2B5EF4-FFF2-40B4-BE49-F238E27FC236}">
                  <a16:creationId xmlns:a16="http://schemas.microsoft.com/office/drawing/2014/main" id="{2097A00B-7E11-43BE-CE38-068D3AC870A1}"/>
                </a:ext>
              </a:extLst>
            </p:cNvPr>
            <p:cNvSpPr>
              <a:spLocks noChangeArrowheads="1"/>
            </p:cNvSpPr>
            <p:nvPr/>
          </p:nvSpPr>
          <p:spPr bwMode="auto">
            <a:xfrm>
              <a:off x="1507092" y="2822939"/>
              <a:ext cx="1583055" cy="9010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项目</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物资：</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增值业务管理：</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cxxx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设备管理：</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en-US" altLang="zh-CN" sz="1000" dirty="0">
                <a:solidFill>
                  <a:srgbClr val="000000"/>
                </a:solidFill>
                <a:latin typeface="微软雅黑" panose="020B0503020204020204" pitchFamily="34" charset="-122"/>
                <a:ea typeface="微软雅黑" panose="020B0503020204020204" pitchFamily="34" charset="-122"/>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1000" dirty="0">
                  <a:solidFill>
                    <a:srgbClr val="000000"/>
                  </a:solidFill>
                  <a:latin typeface="微软雅黑" panose="020B0503020204020204" pitchFamily="34" charset="-122"/>
                  <a:ea typeface="微软雅黑" panose="020B0503020204020204" pitchFamily="34" charset="-122"/>
                </a:rPr>
                <a:t>财务集成：</a:t>
              </a:r>
              <a:r>
                <a:rPr lang="en-US" altLang="zh-CN" sz="1000" dirty="0">
                  <a:solidFill>
                    <a:srgbClr val="000000"/>
                  </a:solidFill>
                  <a:latin typeface="微软雅黑" panose="020B0503020204020204" pitchFamily="34" charset="-122"/>
                  <a:ea typeface="微软雅黑" panose="020B0503020204020204" pitchFamily="34" charset="-122"/>
                </a:rPr>
                <a:t>xx</a:t>
              </a:r>
              <a:endParaRPr lang="zh-CN" altLang="en-US" sz="1000" dirty="0">
                <a:solidFill>
                  <a:srgbClr val="000000"/>
                </a:solidFill>
                <a:latin typeface="微软雅黑" panose="020B0503020204020204" pitchFamily="34" charset="-122"/>
                <a:ea typeface="微软雅黑" panose="020B0503020204020204" pitchFamily="34" charset="-122"/>
              </a:endParaRPr>
            </a:p>
            <a:p>
              <a:pPr defTabSz="779145">
                <a:lnSpc>
                  <a:spcPct val="110000"/>
                </a:lnSpc>
                <a:buClr>
                  <a:srgbClr val="C00000"/>
                </a:buClr>
                <a:buSzPct val="110000"/>
                <a:buFont typeface="Wingdings" panose="05000000000000000000" pitchFamily="2" charset="2"/>
                <a:buChar char="§"/>
              </a:pPr>
              <a:endParaRPr lang="en-US" altLang="zh-CN" sz="1000" dirty="0">
                <a:solidFill>
                  <a:srgbClr val="000000"/>
                </a:solidFill>
                <a:latin typeface="微软雅黑" panose="020B0503020204020204" pitchFamily="34" charset="-122"/>
                <a:ea typeface="微软雅黑" panose="020B0503020204020204" pitchFamily="34" charset="-122"/>
              </a:endParaRPr>
            </a:p>
            <a:p>
              <a:pPr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80" name="Straight Connector 26">
              <a:extLst>
                <a:ext uri="{FF2B5EF4-FFF2-40B4-BE49-F238E27FC236}">
                  <a16:creationId xmlns:a16="http://schemas.microsoft.com/office/drawing/2014/main" id="{BE6CCCAD-F138-79BF-91A5-C7DC6A2DE32C}"/>
                </a:ext>
              </a:extLst>
            </p:cNvPr>
            <p:cNvCxnSpPr>
              <a:cxnSpLocks/>
              <a:stCxn id="63" idx="2"/>
              <a:endCxn id="90" idx="0"/>
            </p:cNvCxnSpPr>
            <p:nvPr/>
          </p:nvCxnSpPr>
          <p:spPr bwMode="auto">
            <a:xfrm>
              <a:off x="5007710" y="1891867"/>
              <a:ext cx="1495" cy="116019"/>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81" name="Straight Connector 32">
              <a:extLst>
                <a:ext uri="{FF2B5EF4-FFF2-40B4-BE49-F238E27FC236}">
                  <a16:creationId xmlns:a16="http://schemas.microsoft.com/office/drawing/2014/main" id="{4677BB0F-E6C6-CBAE-66B7-8E2F9AD1DE1A}"/>
                </a:ext>
              </a:extLst>
            </p:cNvPr>
            <p:cNvCxnSpPr/>
            <p:nvPr/>
          </p:nvCxnSpPr>
          <p:spPr bwMode="auto">
            <a:xfrm flipH="1">
              <a:off x="6388325" y="3241595"/>
              <a:ext cx="395814"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82" name="Straight Connector 35">
              <a:extLst>
                <a:ext uri="{FF2B5EF4-FFF2-40B4-BE49-F238E27FC236}">
                  <a16:creationId xmlns:a16="http://schemas.microsoft.com/office/drawing/2014/main" id="{2C0BA47D-15C7-2AEA-6C0E-3AD933420077}"/>
                </a:ext>
              </a:extLst>
            </p:cNvPr>
            <p:cNvCxnSpPr/>
            <p:nvPr/>
          </p:nvCxnSpPr>
          <p:spPr bwMode="auto">
            <a:xfrm>
              <a:off x="3234263" y="3241595"/>
              <a:ext cx="420466" cy="0"/>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83" name="Rectangle 117">
              <a:extLst>
                <a:ext uri="{FF2B5EF4-FFF2-40B4-BE49-F238E27FC236}">
                  <a16:creationId xmlns:a16="http://schemas.microsoft.com/office/drawing/2014/main" id="{B5BA052B-294F-3F3B-7344-9286EC755D3A}"/>
                </a:ext>
              </a:extLst>
            </p:cNvPr>
            <p:cNvSpPr>
              <a:spLocks noChangeArrowheads="1"/>
            </p:cNvSpPr>
            <p:nvPr/>
          </p:nvSpPr>
          <p:spPr bwMode="auto">
            <a:xfrm>
              <a:off x="2256392" y="4305029"/>
              <a:ext cx="13849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物资：</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增值：</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副组长：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功能顾问多名</a:t>
              </a:r>
              <a:endParaRPr lang="zh-CN"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4" name="Rectangle 117">
              <a:extLst>
                <a:ext uri="{FF2B5EF4-FFF2-40B4-BE49-F238E27FC236}">
                  <a16:creationId xmlns:a16="http://schemas.microsoft.com/office/drawing/2014/main" id="{DF5B0D74-D249-72F0-FFBF-604FBD0CB106}"/>
                </a:ext>
              </a:extLst>
            </p:cNvPr>
            <p:cNvSpPr>
              <a:spLocks noChangeArrowheads="1"/>
            </p:cNvSpPr>
            <p:nvPr/>
          </p:nvSpPr>
          <p:spPr bwMode="auto">
            <a:xfrm>
              <a:off x="960357" y="4305029"/>
              <a:ext cx="10801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 </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algn="l"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功能顾问多名</a:t>
              </a:r>
            </a:p>
            <a:p>
              <a:pPr marL="146050" indent="-146050" algn="l" defTabSz="779145">
                <a:lnSpc>
                  <a:spcPct val="110000"/>
                </a:lnSpc>
                <a:buFont typeface="Arial" panose="020B0604020202020204" pitchFamily="34" charset="0"/>
                <a:buChar char="•"/>
              </a:pP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5" name="Rectangle 117">
              <a:extLst>
                <a:ext uri="{FF2B5EF4-FFF2-40B4-BE49-F238E27FC236}">
                  <a16:creationId xmlns:a16="http://schemas.microsoft.com/office/drawing/2014/main" id="{18B9C9CD-3E0D-4380-6A0F-765F5ABD15F4}"/>
                </a:ext>
              </a:extLst>
            </p:cNvPr>
            <p:cNvSpPr>
              <a:spLocks noChangeArrowheads="1"/>
            </p:cNvSpPr>
            <p:nvPr/>
          </p:nvSpPr>
          <p:spPr bwMode="auto">
            <a:xfrm>
              <a:off x="3763202" y="43051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功能顾问多名</a:t>
              </a:r>
              <a:endParaRPr lang="zh-CN"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endParaRPr lang="zh-CN"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6" name="Rectangle 117">
              <a:extLst>
                <a:ext uri="{FF2B5EF4-FFF2-40B4-BE49-F238E27FC236}">
                  <a16:creationId xmlns:a16="http://schemas.microsoft.com/office/drawing/2014/main" id="{CFB102A0-0D07-B2B0-26FC-25CFF71DE0E8}"/>
                </a:ext>
              </a:extLst>
            </p:cNvPr>
            <p:cNvSpPr>
              <a:spLocks noChangeArrowheads="1"/>
            </p:cNvSpPr>
            <p:nvPr/>
          </p:nvSpPr>
          <p:spPr bwMode="auto">
            <a:xfrm>
              <a:off x="5164696" y="43051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功能顾问多名</a:t>
              </a:r>
              <a:endParaRPr lang="zh-CN"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7" name="Rectangle 117">
              <a:extLst>
                <a:ext uri="{FF2B5EF4-FFF2-40B4-BE49-F238E27FC236}">
                  <a16:creationId xmlns:a16="http://schemas.microsoft.com/office/drawing/2014/main" id="{595524B5-CF11-66C6-3A31-5B4EB60698D3}"/>
                </a:ext>
              </a:extLst>
            </p:cNvPr>
            <p:cNvSpPr>
              <a:spLocks noChangeArrowheads="1"/>
            </p:cNvSpPr>
            <p:nvPr/>
          </p:nvSpPr>
          <p:spPr bwMode="auto">
            <a:xfrm>
              <a:off x="6572219" y="4305164"/>
              <a:ext cx="1081849"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latin typeface="微软雅黑" panose="020B0503020204020204" pitchFamily="34" charset="-122"/>
                  <a:ea typeface="微软雅黑" panose="020B0503020204020204" pitchFamily="34" charset="-122"/>
                  <a:cs typeface="Arial" panose="020B0604020202020204" pitchFamily="34" charset="0"/>
                </a:rPr>
                <a:t>组长（待定）   </a:t>
              </a:r>
              <a:endParaRPr lang="en-US" altLang="zh-CN" sz="925" dirty="0">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功能顾问多名 </a:t>
              </a: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8" name="Rectangle 117">
              <a:extLst>
                <a:ext uri="{FF2B5EF4-FFF2-40B4-BE49-F238E27FC236}">
                  <a16:creationId xmlns:a16="http://schemas.microsoft.com/office/drawing/2014/main" id="{891F47C0-6518-D7B0-0A3B-EBFD7252A735}"/>
                </a:ext>
              </a:extLst>
            </p:cNvPr>
            <p:cNvSpPr>
              <a:spLocks noChangeArrowheads="1"/>
            </p:cNvSpPr>
            <p:nvPr/>
          </p:nvSpPr>
          <p:spPr bwMode="auto">
            <a:xfrm>
              <a:off x="7967684" y="4305164"/>
              <a:ext cx="1106988"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p>
            <a:p>
              <a:pPr defTabSz="779145">
                <a:lnSpc>
                  <a:spcPct val="110000"/>
                </a:lnSpc>
              </a:pPr>
              <a:endPar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组长：</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技术顾问多名</a:t>
              </a:r>
              <a:endParaRPr lang="zh-CN"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9" name="Rectangle 125">
              <a:extLst>
                <a:ext uri="{FF2B5EF4-FFF2-40B4-BE49-F238E27FC236}">
                  <a16:creationId xmlns:a16="http://schemas.microsoft.com/office/drawing/2014/main" id="{7961C0F1-4FB5-496C-95A5-532C25AB0879}"/>
                </a:ext>
              </a:extLst>
            </p:cNvPr>
            <p:cNvSpPr>
              <a:spLocks noChangeArrowheads="1"/>
            </p:cNvSpPr>
            <p:nvPr/>
          </p:nvSpPr>
          <p:spPr bwMode="auto">
            <a:xfrm>
              <a:off x="3645721" y="2242095"/>
              <a:ext cx="2726968" cy="499593"/>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panose="020B0503020204020204" pitchFamily="34" charset="-122"/>
                <a:ea typeface="宋体" panose="02010600030101010101" pitchFamily="2" charset="-122"/>
              </a:endParaRPr>
            </a:p>
          </p:txBody>
        </p:sp>
        <p:sp>
          <p:nvSpPr>
            <p:cNvPr id="90" name="Rectangle 107">
              <a:extLst>
                <a:ext uri="{FF2B5EF4-FFF2-40B4-BE49-F238E27FC236}">
                  <a16:creationId xmlns:a16="http://schemas.microsoft.com/office/drawing/2014/main" id="{3A37056C-A99C-3B2C-5104-E4AA0480BB5A}"/>
                </a:ext>
              </a:extLst>
            </p:cNvPr>
            <p:cNvSpPr>
              <a:spLocks noChangeArrowheads="1"/>
            </p:cNvSpPr>
            <p:nvPr/>
          </p:nvSpPr>
          <p:spPr bwMode="auto">
            <a:xfrm>
              <a:off x="3645721" y="2007886"/>
              <a:ext cx="2726968" cy="236795"/>
            </a:xfrm>
            <a:prstGeom prst="rect">
              <a:avLst/>
            </a:prstGeom>
            <a:solidFill>
              <a:srgbClr val="238EF7"/>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a:solidFill>
                    <a:prstClr val="white"/>
                  </a:solidFill>
                  <a:latin typeface="微软雅黑" panose="020B0503020204020204" pitchFamily="34" charset="-122"/>
                  <a:ea typeface="微软雅黑" panose="020B0503020204020204" pitchFamily="34" charset="-122"/>
                  <a:cs typeface="Arial" panose="020B0604020202020204" pitchFamily="34" charset="0"/>
                </a:rPr>
                <a:t>项目指挥部</a:t>
              </a:r>
              <a:endParaRPr lang="en-GB" altLang="zh-CN" sz="925"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1" name="Rectangle 108">
              <a:extLst>
                <a:ext uri="{FF2B5EF4-FFF2-40B4-BE49-F238E27FC236}">
                  <a16:creationId xmlns:a16="http://schemas.microsoft.com/office/drawing/2014/main" id="{9F0648E1-E016-796B-4959-53834C96D72E}"/>
                </a:ext>
              </a:extLst>
            </p:cNvPr>
            <p:cNvSpPr>
              <a:spLocks noChangeArrowheads="1"/>
            </p:cNvSpPr>
            <p:nvPr/>
          </p:nvSpPr>
          <p:spPr bwMode="auto">
            <a:xfrm>
              <a:off x="3666727" y="2267949"/>
              <a:ext cx="1468120" cy="47180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项目总指挥：</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p:txBody>
        </p:sp>
        <p:sp>
          <p:nvSpPr>
            <p:cNvPr id="92" name="Rectangle 108">
              <a:extLst>
                <a:ext uri="{FF2B5EF4-FFF2-40B4-BE49-F238E27FC236}">
                  <a16:creationId xmlns:a16="http://schemas.microsoft.com/office/drawing/2014/main" id="{9AD83E1A-1ED4-6D85-1573-13BE6C3842AF}"/>
                </a:ext>
              </a:extLst>
            </p:cNvPr>
            <p:cNvSpPr>
              <a:spLocks noChangeArrowheads="1"/>
            </p:cNvSpPr>
            <p:nvPr/>
          </p:nvSpPr>
          <p:spPr bwMode="auto">
            <a:xfrm>
              <a:off x="5112888" y="2281344"/>
              <a:ext cx="1408484" cy="334928"/>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项目总监：</a:t>
              </a:r>
              <a:r>
                <a:rPr lang="en-US" altLang="zh-CN" sz="925" dirty="0">
                  <a:latin typeface="微软雅黑" panose="020B0503020204020204" pitchFamily="34" charset="-122"/>
                  <a:ea typeface="微软雅黑" panose="020B0503020204020204" pitchFamily="34" charset="-122"/>
                </a:rPr>
                <a:t>xxx</a:t>
              </a:r>
            </a:p>
            <a:p>
              <a:pPr marL="146050" indent="-146050" defTabSz="779145">
                <a:lnSpc>
                  <a:spcPct val="110000"/>
                </a:lnSpc>
                <a:buFont typeface="Arial" panose="020B0604020202020204" pitchFamily="34" charset="0"/>
                <a:buChar char="•"/>
              </a:pP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93" name="Straight Connector 26">
              <a:extLst>
                <a:ext uri="{FF2B5EF4-FFF2-40B4-BE49-F238E27FC236}">
                  <a16:creationId xmlns:a16="http://schemas.microsoft.com/office/drawing/2014/main" id="{E5DDE6AF-8FB5-480E-6044-B229E15E2F68}"/>
                </a:ext>
              </a:extLst>
            </p:cNvPr>
            <p:cNvCxnSpPr>
              <a:stCxn id="89" idx="2"/>
              <a:endCxn id="69" idx="0"/>
            </p:cNvCxnSpPr>
            <p:nvPr/>
          </p:nvCxnSpPr>
          <p:spPr bwMode="auto">
            <a:xfrm>
              <a:off x="5009205" y="2741688"/>
              <a:ext cx="1196" cy="83849"/>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94" name="Rectangle 108">
              <a:extLst>
                <a:ext uri="{FF2B5EF4-FFF2-40B4-BE49-F238E27FC236}">
                  <a16:creationId xmlns:a16="http://schemas.microsoft.com/office/drawing/2014/main" id="{7E192607-B89C-AC54-4816-EBA7D4B08558}"/>
                </a:ext>
              </a:extLst>
            </p:cNvPr>
            <p:cNvSpPr>
              <a:spLocks noChangeArrowheads="1"/>
            </p:cNvSpPr>
            <p:nvPr/>
          </p:nvSpPr>
          <p:spPr bwMode="auto">
            <a:xfrm>
              <a:off x="5134985" y="3334325"/>
              <a:ext cx="1183384" cy="422826"/>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项目经理：</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5" name="Rectangle 108">
              <a:extLst>
                <a:ext uri="{FF2B5EF4-FFF2-40B4-BE49-F238E27FC236}">
                  <a16:creationId xmlns:a16="http://schemas.microsoft.com/office/drawing/2014/main" id="{0709819F-2591-6E9E-EDF7-5353EB56F3D3}"/>
                </a:ext>
              </a:extLst>
            </p:cNvPr>
            <p:cNvSpPr>
              <a:spLocks noChangeArrowheads="1"/>
            </p:cNvSpPr>
            <p:nvPr/>
          </p:nvSpPr>
          <p:spPr bwMode="auto">
            <a:xfrm>
              <a:off x="3695689" y="3310169"/>
              <a:ext cx="1327737" cy="427730"/>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项目主任：</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执行主任：</a:t>
              </a: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xx</a:t>
              </a:r>
            </a:p>
          </p:txBody>
        </p:sp>
        <p:cxnSp>
          <p:nvCxnSpPr>
            <p:cNvPr id="96" name="直接连接符 95">
              <a:extLst>
                <a:ext uri="{FF2B5EF4-FFF2-40B4-BE49-F238E27FC236}">
                  <a16:creationId xmlns:a16="http://schemas.microsoft.com/office/drawing/2014/main" id="{DAB3FBF4-3F33-E500-D1D9-1BA84D40D59F}"/>
                </a:ext>
              </a:extLst>
            </p:cNvPr>
            <p:cNvCxnSpPr/>
            <p:nvPr/>
          </p:nvCxnSpPr>
          <p:spPr bwMode="auto">
            <a:xfrm>
              <a:off x="8506376"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grpSp>
          <p:nvGrpSpPr>
            <p:cNvPr id="97" name="组合 96">
              <a:extLst>
                <a:ext uri="{FF2B5EF4-FFF2-40B4-BE49-F238E27FC236}">
                  <a16:creationId xmlns:a16="http://schemas.microsoft.com/office/drawing/2014/main" id="{96EF0069-90F0-A492-B58B-F9195ACF3C47}"/>
                </a:ext>
              </a:extLst>
            </p:cNvPr>
            <p:cNvGrpSpPr/>
            <p:nvPr/>
          </p:nvGrpSpPr>
          <p:grpSpPr>
            <a:xfrm>
              <a:off x="1506613" y="3671257"/>
              <a:ext cx="6999763" cy="405132"/>
              <a:chOff x="1101881" y="3731218"/>
              <a:chExt cx="6999763" cy="405132"/>
            </a:xfrm>
          </p:grpSpPr>
          <p:cxnSp>
            <p:nvCxnSpPr>
              <p:cNvPr id="98" name="直接连接符 97">
                <a:extLst>
                  <a:ext uri="{FF2B5EF4-FFF2-40B4-BE49-F238E27FC236}">
                    <a16:creationId xmlns:a16="http://schemas.microsoft.com/office/drawing/2014/main" id="{C6DA175D-DDB1-AFCD-760A-351B4072F09D}"/>
                  </a:ext>
                </a:extLst>
              </p:cNvPr>
              <p:cNvCxnSpPr/>
              <p:nvPr/>
            </p:nvCxnSpPr>
            <p:spPr bwMode="auto">
              <a:xfrm>
                <a:off x="1102639" y="3956957"/>
                <a:ext cx="699900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99" name="直接连接符 98">
                <a:extLst>
                  <a:ext uri="{FF2B5EF4-FFF2-40B4-BE49-F238E27FC236}">
                    <a16:creationId xmlns:a16="http://schemas.microsoft.com/office/drawing/2014/main" id="{4091A457-606C-77B5-9CC6-F166CABCD5C6}"/>
                  </a:ext>
                </a:extLst>
              </p:cNvPr>
              <p:cNvCxnSpPr/>
              <p:nvPr/>
            </p:nvCxnSpPr>
            <p:spPr bwMode="auto">
              <a:xfrm>
                <a:off x="1101881" y="3947783"/>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00" name="直接连接符 99">
                <a:extLst>
                  <a:ext uri="{FF2B5EF4-FFF2-40B4-BE49-F238E27FC236}">
                    <a16:creationId xmlns:a16="http://schemas.microsoft.com/office/drawing/2014/main" id="{8C3559A2-5CDF-7681-F863-49F5111D499C}"/>
                  </a:ext>
                </a:extLst>
              </p:cNvPr>
              <p:cNvCxnSpPr/>
              <p:nvPr/>
            </p:nvCxnSpPr>
            <p:spPr bwMode="auto">
              <a:xfrm>
                <a:off x="2582588" y="3956957"/>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01" name="直接连接符 100">
                <a:extLst>
                  <a:ext uri="{FF2B5EF4-FFF2-40B4-BE49-F238E27FC236}">
                    <a16:creationId xmlns:a16="http://schemas.microsoft.com/office/drawing/2014/main" id="{272A5F32-AA19-C800-C3EA-221194D2D685}"/>
                  </a:ext>
                </a:extLst>
              </p:cNvPr>
              <p:cNvCxnSpPr/>
              <p:nvPr/>
            </p:nvCxnSpPr>
            <p:spPr bwMode="auto">
              <a:xfrm>
                <a:off x="3915393" y="3956957"/>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02" name="直接连接符 101">
                <a:extLst>
                  <a:ext uri="{FF2B5EF4-FFF2-40B4-BE49-F238E27FC236}">
                    <a16:creationId xmlns:a16="http://schemas.microsoft.com/office/drawing/2014/main" id="{A6F2BB7C-C872-996B-D638-F1D1EA6B7429}"/>
                  </a:ext>
                </a:extLst>
              </p:cNvPr>
              <p:cNvCxnSpPr/>
              <p:nvPr/>
            </p:nvCxnSpPr>
            <p:spPr bwMode="auto">
              <a:xfrm>
                <a:off x="5327721" y="3956957"/>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03" name="直接连接符 102">
                <a:extLst>
                  <a:ext uri="{FF2B5EF4-FFF2-40B4-BE49-F238E27FC236}">
                    <a16:creationId xmlns:a16="http://schemas.microsoft.com/office/drawing/2014/main" id="{1F65F017-345D-FA7B-B518-62247E3FE765}"/>
                  </a:ext>
                </a:extLst>
              </p:cNvPr>
              <p:cNvCxnSpPr/>
              <p:nvPr/>
            </p:nvCxnSpPr>
            <p:spPr bwMode="auto">
              <a:xfrm>
                <a:off x="6718450" y="3956957"/>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04" name="直接连接符 103">
                <a:extLst>
                  <a:ext uri="{FF2B5EF4-FFF2-40B4-BE49-F238E27FC236}">
                    <a16:creationId xmlns:a16="http://schemas.microsoft.com/office/drawing/2014/main" id="{8241A2DA-F3D2-0E0D-BDE4-EF4FE0AF7A24}"/>
                  </a:ext>
                </a:extLst>
              </p:cNvPr>
              <p:cNvCxnSpPr/>
              <p:nvPr/>
            </p:nvCxnSpPr>
            <p:spPr bwMode="auto">
              <a:xfrm>
                <a:off x="4618698" y="3731218"/>
                <a:ext cx="0" cy="225739"/>
              </a:xfrm>
              <a:prstGeom prst="line">
                <a:avLst/>
              </a:prstGeom>
              <a:solidFill>
                <a:schemeClr val="bg1"/>
              </a:solidFill>
              <a:ln w="9525" cap="flat" cmpd="sng" algn="ctr">
                <a:solidFill>
                  <a:schemeClr val="tx1"/>
                </a:solidFill>
                <a:prstDash val="solid"/>
                <a:round/>
                <a:headEnd type="none" w="med" len="med"/>
                <a:tailEnd type="none" w="med" len="med"/>
              </a:ln>
              <a:effectLst/>
            </p:spPr>
          </p:cxnSp>
        </p:grpSp>
        <p:sp>
          <p:nvSpPr>
            <p:cNvPr id="105" name="Rectangle 122">
              <a:extLst>
                <a:ext uri="{FF2B5EF4-FFF2-40B4-BE49-F238E27FC236}">
                  <a16:creationId xmlns:a16="http://schemas.microsoft.com/office/drawing/2014/main" id="{9914C957-1FA0-3DE2-7E8B-198815DED8CD}"/>
                </a:ext>
              </a:extLst>
            </p:cNvPr>
            <p:cNvSpPr>
              <a:spLocks noChangeArrowheads="1"/>
            </p:cNvSpPr>
            <p:nvPr/>
          </p:nvSpPr>
          <p:spPr bwMode="auto">
            <a:xfrm>
              <a:off x="5236446" y="1350114"/>
              <a:ext cx="1081923"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金蝶</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76213" defTabSz="779145">
                <a:lnSpc>
                  <a:spcPct val="110000"/>
                </a:lnSpc>
                <a:buClr>
                  <a:prstClr val="black"/>
                </a:buClr>
                <a:buSzPct val="110000"/>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146050" indent="-146050" defTabSz="779145">
                <a:lnSpc>
                  <a:spcPct val="110000"/>
                </a:lnSpc>
                <a:buClr>
                  <a:prstClr val="black"/>
                </a:buClr>
                <a:buSzPct val="110000"/>
                <a:buFont typeface="Arial" panose="020B0604020202020204" pitchFamily="34" charset="0"/>
                <a:buChar char="•"/>
              </a:pP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6" name="Rectangle 122">
              <a:extLst>
                <a:ext uri="{FF2B5EF4-FFF2-40B4-BE49-F238E27FC236}">
                  <a16:creationId xmlns:a16="http://schemas.microsoft.com/office/drawing/2014/main" id="{5F37F327-0116-154C-575A-670641F55E0A}"/>
                </a:ext>
              </a:extLst>
            </p:cNvPr>
            <p:cNvSpPr>
              <a:spLocks noChangeArrowheads="1"/>
            </p:cNvSpPr>
            <p:nvPr/>
          </p:nvSpPr>
          <p:spPr bwMode="auto">
            <a:xfrm>
              <a:off x="3666727" y="1356130"/>
              <a:ext cx="159222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r>
                <a:rPr lang="zh-CN" altLang="en-US"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客户</a:t>
              </a:r>
              <a:endParaRPr lang="en-US" altLang="zh-CN" sz="92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23838" defTabSz="779145">
                <a:lnSpc>
                  <a:spcPct val="110000"/>
                </a:lnSpc>
                <a:buClr>
                  <a:prstClr val="black"/>
                </a:buClr>
                <a:buSzPct val="110000"/>
              </a:pPr>
              <a:r>
                <a:rPr lang="en-US" altLang="zh-CN"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92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2132169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项目组成员</a:t>
            </a:r>
          </a:p>
        </p:txBody>
      </p:sp>
      <p:graphicFrame>
        <p:nvGraphicFramePr>
          <p:cNvPr id="3" name="Table 4">
            <a:extLst>
              <a:ext uri="{FF2B5EF4-FFF2-40B4-BE49-F238E27FC236}">
                <a16:creationId xmlns:a16="http://schemas.microsoft.com/office/drawing/2014/main" id="{56C3A8B4-CD04-5D7A-B338-B84B5DA7D303}"/>
              </a:ext>
            </a:extLst>
          </p:cNvPr>
          <p:cNvGraphicFramePr>
            <a:graphicFrameLocks noGrp="1"/>
          </p:cNvGraphicFramePr>
          <p:nvPr>
            <p:extLst>
              <p:ext uri="{D42A27DB-BD31-4B8C-83A1-F6EECF244321}">
                <p14:modId xmlns:p14="http://schemas.microsoft.com/office/powerpoint/2010/main" val="2402327179"/>
              </p:ext>
            </p:extLst>
          </p:nvPr>
        </p:nvGraphicFramePr>
        <p:xfrm>
          <a:off x="622189" y="970439"/>
          <a:ext cx="11221467" cy="5241670"/>
        </p:xfrm>
        <a:graphic>
          <a:graphicData uri="http://schemas.openxmlformats.org/drawingml/2006/table">
            <a:tbl>
              <a:tblPr firstRow="1" bandRow="1">
                <a:tableStyleId>{5C22544A-7EE6-4342-B048-85BDC9FD1C3A}</a:tableStyleId>
              </a:tblPr>
              <a:tblGrid>
                <a:gridCol w="1144052">
                  <a:extLst>
                    <a:ext uri="{9D8B030D-6E8A-4147-A177-3AD203B41FA5}">
                      <a16:colId xmlns:a16="http://schemas.microsoft.com/office/drawing/2014/main" val="2786600969"/>
                    </a:ext>
                  </a:extLst>
                </a:gridCol>
                <a:gridCol w="2878330">
                  <a:extLst>
                    <a:ext uri="{9D8B030D-6E8A-4147-A177-3AD203B41FA5}">
                      <a16:colId xmlns:a16="http://schemas.microsoft.com/office/drawing/2014/main" val="2775610408"/>
                    </a:ext>
                  </a:extLst>
                </a:gridCol>
                <a:gridCol w="2351315">
                  <a:extLst>
                    <a:ext uri="{9D8B030D-6E8A-4147-A177-3AD203B41FA5}">
                      <a16:colId xmlns:a16="http://schemas.microsoft.com/office/drawing/2014/main" val="1819032658"/>
                    </a:ext>
                  </a:extLst>
                </a:gridCol>
                <a:gridCol w="4847770">
                  <a:extLst>
                    <a:ext uri="{9D8B030D-6E8A-4147-A177-3AD203B41FA5}">
                      <a16:colId xmlns:a16="http://schemas.microsoft.com/office/drawing/2014/main" val="621274873"/>
                    </a:ext>
                  </a:extLst>
                </a:gridCol>
              </a:tblGrid>
              <a:tr h="454914">
                <a:tc>
                  <a:txBody>
                    <a:bodyPr/>
                    <a:lstStyle/>
                    <a:p>
                      <a:pPr algn="ctr" fontAlgn="b"/>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序号</a:t>
                      </a:r>
                    </a:p>
                  </a:txBody>
                  <a:tcPr marL="9525" marR="9525" marT="9525" marB="0" anchor="ctr"/>
                </a:tc>
                <a:tc>
                  <a:txBody>
                    <a:bodyPr/>
                    <a:lstStyle/>
                    <a:p>
                      <a:pPr algn="ctr" fontAlgn="b"/>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角色</a:t>
                      </a:r>
                    </a:p>
                  </a:txBody>
                  <a:tcPr marL="9525" marR="9525" marT="9525" marB="0" anchor="ctr"/>
                </a:tc>
                <a:tc>
                  <a:txBody>
                    <a:bodyPr/>
                    <a:lstStyle/>
                    <a:p>
                      <a:pPr algn="ctr" fontAlgn="b"/>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姓名</a:t>
                      </a:r>
                    </a:p>
                  </a:txBody>
                  <a:tcPr marL="9525" marR="9525" marT="9525" marB="0" anchor="ctr"/>
                </a:tc>
                <a:tc>
                  <a:txBody>
                    <a:bodyPr/>
                    <a:lstStyle/>
                    <a:p>
                      <a:pPr algn="ctr" fontAlgn="b"/>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公司名称</a:t>
                      </a:r>
                    </a:p>
                  </a:txBody>
                  <a:tcPr marL="9525" marR="9525" marT="9525" marB="0" anchor="ctr"/>
                </a:tc>
                <a:extLst>
                  <a:ext uri="{0D108BD9-81ED-4DB2-BD59-A6C34878D82A}">
                    <a16:rowId xmlns:a16="http://schemas.microsoft.com/office/drawing/2014/main" val="1296022367"/>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a:t>
                      </a:r>
                    </a:p>
                  </a:txBody>
                  <a:tcPr marL="108000" marR="9525" marT="9525" marB="36000" anchor="ctr"/>
                </a:tc>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PMO</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（组长）</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675312712"/>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顾问（组长）</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extLst>
                  <a:ext uri="{0D108BD9-81ED-4DB2-BD59-A6C34878D82A}">
                    <a16:rowId xmlns:a16="http://schemas.microsoft.com/office/drawing/2014/main" val="136716371"/>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顾问</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extLst>
                  <a:ext uri="{0D108BD9-81ED-4DB2-BD59-A6C34878D82A}">
                    <a16:rowId xmlns:a16="http://schemas.microsoft.com/office/drawing/2014/main" val="2961782167"/>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顾问</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extLst>
                  <a:ext uri="{0D108BD9-81ED-4DB2-BD59-A6C34878D82A}">
                    <a16:rowId xmlns:a16="http://schemas.microsoft.com/office/drawing/2014/main" val="4218915914"/>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a:t>
                      </a: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顾问</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extLst>
                  <a:ext uri="{0D108BD9-81ED-4DB2-BD59-A6C34878D82A}">
                    <a16:rowId xmlns:a16="http://schemas.microsoft.com/office/drawing/2014/main" val="1271156719"/>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a:t>
                      </a: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顾问</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3847365604"/>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a:t>
                      </a: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PMO</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3563888012"/>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a:t>
                      </a: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PMO</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3220137059"/>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9</a:t>
                      </a:r>
                    </a:p>
                  </a:txBody>
                  <a:tcPr marL="108000" marR="9525" marT="9525" marB="36000" anchor="ctr"/>
                </a:tc>
                <a:tc>
                  <a:txBody>
                    <a:bodyPr/>
                    <a:lstStyle/>
                    <a:p>
                      <a:pPr marL="0" marR="0" lvl="0" indent="0" algn="ctr" defTabSz="914395" rtl="0" eaLnBrk="1" fontAlgn="b"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PMO</a:t>
                      </a: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103622633"/>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西南区域</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关键用户</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南宁</a:t>
                      </a: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XX</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客户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extLst>
                  <a:ext uri="{0D108BD9-81ED-4DB2-BD59-A6C34878D82A}">
                    <a16:rowId xmlns:a16="http://schemas.microsoft.com/office/drawing/2014/main" val="2597182677"/>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东北区域</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关键用户</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宽甸</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XX</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客户</a:t>
                      </a:r>
                    </a:p>
                  </a:txBody>
                  <a:tcPr marL="108000" marR="9525" marT="9525" marB="36000" anchor="ctr"/>
                </a:tc>
                <a:extLst>
                  <a:ext uri="{0D108BD9-81ED-4DB2-BD59-A6C34878D82A}">
                    <a16:rowId xmlns:a16="http://schemas.microsoft.com/office/drawing/2014/main" val="1416375313"/>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福建区域</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关键用户</a:t>
                      </a:r>
                    </a:p>
                  </a:txBody>
                  <a:tcPr marL="108000" marR="9525" marT="9525" marB="36000" anchor="ctr"/>
                </a:tc>
                <a:tc>
                  <a:txBody>
                    <a:bodyPr/>
                    <a:lstStyle/>
                    <a:p>
                      <a:pPr algn="ctr" fontAlgn="b"/>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漳州安然</a:t>
                      </a:r>
                    </a:p>
                  </a:txBody>
                  <a:tcPr marL="108000" marR="9525" marT="9525" marB="36000" anchor="ctr"/>
                </a:tc>
                <a:extLst>
                  <a:ext uri="{0D108BD9-81ED-4DB2-BD59-A6C34878D82A}">
                    <a16:rowId xmlns:a16="http://schemas.microsoft.com/office/drawing/2014/main" val="1587012714"/>
                  </a:ext>
                </a:extLst>
              </a:tr>
              <a:tr h="368212">
                <a:tc>
                  <a:txBody>
                    <a:bodyPr/>
                    <a:lstStyle/>
                    <a:p>
                      <a:pPr algn="ctr" fontAlgn="b"/>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13</a:t>
                      </a: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华东区域</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关键用户</a:t>
                      </a:r>
                    </a:p>
                  </a:txBody>
                  <a:tcPr marL="108000" marR="9525" marT="9525" marB="36000" anchor="ctr"/>
                </a:tc>
                <a:tc>
                  <a:txBody>
                    <a:bodyPr/>
                    <a:lstStyle/>
                    <a:p>
                      <a:pPr algn="ctr" fontAlgn="b"/>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08000" marR="9525" marT="9525" marB="36000" anchor="ctr"/>
                </a:tc>
                <a:tc>
                  <a:txBody>
                    <a:bodyPr/>
                    <a:lstStyle/>
                    <a:p>
                      <a:pPr algn="ctr" fontAlgn="b"/>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杭州</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XX</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客户</a:t>
                      </a:r>
                    </a:p>
                  </a:txBody>
                  <a:tcPr marL="108000" marR="9525" marT="9525" marB="36000" anchor="ctr"/>
                </a:tc>
                <a:extLst>
                  <a:ext uri="{0D108BD9-81ED-4DB2-BD59-A6C34878D82A}">
                    <a16:rowId xmlns:a16="http://schemas.microsoft.com/office/drawing/2014/main" val="1399493027"/>
                  </a:ext>
                </a:extLst>
              </a:tr>
            </a:tbl>
          </a:graphicData>
        </a:graphic>
      </p:graphicFrame>
    </p:spTree>
    <p:extLst>
      <p:ext uri="{BB962C8B-B14F-4D97-AF65-F5344CB8AC3E}">
        <p14:creationId xmlns:p14="http://schemas.microsoft.com/office/powerpoint/2010/main" val="3864107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p:txBody>
          <a:bodyPr/>
          <a:lstStyle/>
          <a:p>
            <a:r>
              <a:rPr kumimoji="1" lang="zh-CN" altLang="en-US" dirty="0"/>
              <a:t>项目实施背景及目标</a:t>
            </a:r>
          </a:p>
        </p:txBody>
      </p:sp>
      <p:sp>
        <p:nvSpPr>
          <p:cNvPr id="5" name="文本占位符 4">
            <a:extLst>
              <a:ext uri="{FF2B5EF4-FFF2-40B4-BE49-F238E27FC236}">
                <a16:creationId xmlns:a16="http://schemas.microsoft.com/office/drawing/2014/main" id="{89A9CC2C-79E0-D1D0-EDF9-31ED7A0B03CF}"/>
              </a:ext>
            </a:extLst>
          </p:cNvPr>
          <p:cNvSpPr>
            <a:spLocks noGrp="1"/>
          </p:cNvSpPr>
          <p:nvPr>
            <p:ph type="body" sz="quarter" idx="16"/>
          </p:nvPr>
        </p:nvSpPr>
        <p:spPr/>
        <p:txBody>
          <a:bodyPr/>
          <a:lstStyle/>
          <a:p>
            <a:endParaRPr kumimoji="1" lang="zh-CN" altLang="en-US"/>
          </a:p>
        </p:txBody>
      </p:sp>
      <p:sp>
        <p:nvSpPr>
          <p:cNvPr id="6" name="文本占位符 5">
            <a:extLst>
              <a:ext uri="{FF2B5EF4-FFF2-40B4-BE49-F238E27FC236}">
                <a16:creationId xmlns:a16="http://schemas.microsoft.com/office/drawing/2014/main" id="{2C09C90A-9F04-0D8D-0E41-C55EE053D054}"/>
              </a:ext>
            </a:extLst>
          </p:cNvPr>
          <p:cNvSpPr>
            <a:spLocks noGrp="1"/>
          </p:cNvSpPr>
          <p:nvPr>
            <p:ph type="body" sz="quarter" idx="18"/>
          </p:nvPr>
        </p:nvSpPr>
        <p:spPr/>
        <p:txBody>
          <a:bodyPr/>
          <a:lstStyle/>
          <a:p>
            <a:endParaRPr kumimoji="1" lang="zh-CN" altLang="en-US"/>
          </a:p>
        </p:txBody>
      </p:sp>
      <p:sp>
        <p:nvSpPr>
          <p:cNvPr id="7" name="文本占位符 6">
            <a:extLst>
              <a:ext uri="{FF2B5EF4-FFF2-40B4-BE49-F238E27FC236}">
                <a16:creationId xmlns:a16="http://schemas.microsoft.com/office/drawing/2014/main" id="{46432844-FB46-1690-615F-B6C2961C3D29}"/>
              </a:ext>
            </a:extLst>
          </p:cNvPr>
          <p:cNvSpPr>
            <a:spLocks noGrp="1"/>
          </p:cNvSpPr>
          <p:nvPr>
            <p:ph type="body" sz="quarter" idx="20"/>
          </p:nvPr>
        </p:nvSpPr>
        <p:spPr/>
        <p:txBody>
          <a:bodyPr/>
          <a:lstStyle/>
          <a:p>
            <a:endParaRPr kumimoji="1" lang="zh-CN" altLang="en-US"/>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p:txBody>
          <a:bodyPr/>
          <a:lstStyle/>
          <a:p>
            <a:r>
              <a:rPr kumimoji="1" lang="en-US" altLang="zh-CN" dirty="0"/>
              <a:t>04</a:t>
            </a:r>
            <a:endParaRPr kumimoji="1" lang="zh-CN" altLang="en-US" dirty="0"/>
          </a:p>
        </p:txBody>
      </p:sp>
      <p:sp>
        <p:nvSpPr>
          <p:cNvPr id="9" name="文本占位符 8">
            <a:extLst>
              <a:ext uri="{FF2B5EF4-FFF2-40B4-BE49-F238E27FC236}">
                <a16:creationId xmlns:a16="http://schemas.microsoft.com/office/drawing/2014/main" id="{19BE1E1F-E656-6E8E-72A7-D1D18C74FF58}"/>
              </a:ext>
            </a:extLst>
          </p:cNvPr>
          <p:cNvSpPr>
            <a:spLocks noGrp="1"/>
          </p:cNvSpPr>
          <p:nvPr>
            <p:ph type="body" sz="quarter" idx="23"/>
          </p:nvPr>
        </p:nvSpPr>
        <p:spPr/>
        <p:txBody>
          <a:bodyPr/>
          <a:lstStyle/>
          <a:p>
            <a:endParaRPr kumimoji="1" lang="zh-CN" altLang="en-US"/>
          </a:p>
        </p:txBody>
      </p:sp>
      <p:sp>
        <p:nvSpPr>
          <p:cNvPr id="10" name="文本占位符 9">
            <a:extLst>
              <a:ext uri="{FF2B5EF4-FFF2-40B4-BE49-F238E27FC236}">
                <a16:creationId xmlns:a16="http://schemas.microsoft.com/office/drawing/2014/main" id="{52B2A11A-69BA-FABE-67C8-80344AD28A99}"/>
              </a:ext>
            </a:extLst>
          </p:cNvPr>
          <p:cNvSpPr>
            <a:spLocks noGrp="1"/>
          </p:cNvSpPr>
          <p:nvPr>
            <p:ph type="body" sz="quarter" idx="24"/>
          </p:nvPr>
        </p:nvSpPr>
        <p:spPr/>
        <p:txBody>
          <a:bodyPr/>
          <a:lstStyle/>
          <a:p>
            <a:endParaRPr kumimoji="1" lang="zh-CN" altLang="en-US"/>
          </a:p>
        </p:txBody>
      </p:sp>
      <p:sp>
        <p:nvSpPr>
          <p:cNvPr id="11" name="文本占位符 10">
            <a:extLst>
              <a:ext uri="{FF2B5EF4-FFF2-40B4-BE49-F238E27FC236}">
                <a16:creationId xmlns:a16="http://schemas.microsoft.com/office/drawing/2014/main" id="{C9177A24-92ED-FBEF-1F1E-77DD330136B2}"/>
              </a:ext>
            </a:extLst>
          </p:cNvPr>
          <p:cNvSpPr>
            <a:spLocks noGrp="1"/>
          </p:cNvSpPr>
          <p:nvPr>
            <p:ph type="body" sz="quarter" idx="25"/>
          </p:nvPr>
        </p:nvSpPr>
        <p:spPr/>
        <p:txBody>
          <a:bodyPr/>
          <a:lstStyle/>
          <a:p>
            <a:endParaRPr kumimoji="1" lang="zh-CN" altLang="en-US"/>
          </a:p>
        </p:txBody>
      </p:sp>
      <p:sp>
        <p:nvSpPr>
          <p:cNvPr id="12" name="文本占位符 11">
            <a:extLst>
              <a:ext uri="{FF2B5EF4-FFF2-40B4-BE49-F238E27FC236}">
                <a16:creationId xmlns:a16="http://schemas.microsoft.com/office/drawing/2014/main" id="{23783BE0-2470-F5E1-1057-CEF446F0B5F6}"/>
              </a:ext>
            </a:extLst>
          </p:cNvPr>
          <p:cNvSpPr>
            <a:spLocks noGrp="1"/>
          </p:cNvSpPr>
          <p:nvPr>
            <p:ph type="body" sz="quarter" idx="26"/>
          </p:nvPr>
        </p:nvSpPr>
        <p:spPr/>
        <p:txBody>
          <a:bodyPr/>
          <a:lstStyle/>
          <a:p>
            <a:endParaRPr kumimoji="1" lang="zh-CN" altLang="en-US"/>
          </a:p>
        </p:txBody>
      </p:sp>
      <p:sp>
        <p:nvSpPr>
          <p:cNvPr id="13" name="文本占位符 12">
            <a:extLst>
              <a:ext uri="{FF2B5EF4-FFF2-40B4-BE49-F238E27FC236}">
                <a16:creationId xmlns:a16="http://schemas.microsoft.com/office/drawing/2014/main" id="{F4E6B27A-D073-72C4-014C-E25D87695C2C}"/>
              </a:ext>
            </a:extLst>
          </p:cNvPr>
          <p:cNvSpPr>
            <a:spLocks noGrp="1"/>
          </p:cNvSpPr>
          <p:nvPr>
            <p:ph type="body" sz="quarter" idx="27"/>
          </p:nvPr>
        </p:nvSpPr>
        <p:spPr/>
        <p:txBody>
          <a:bodyPr/>
          <a:lstStyle/>
          <a:p>
            <a:endParaRPr kumimoji="1" lang="zh-CN" altLang="en-US"/>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p:txBody>
          <a:bodyPr/>
          <a:lstStyle/>
          <a:p>
            <a:r>
              <a:rPr kumimoji="1" lang="zh-CN" altLang="en-US" dirty="0"/>
              <a:t>项目实施概况</a:t>
            </a:r>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p:txBody>
          <a:bodyPr/>
          <a:lstStyle/>
          <a:p>
            <a:r>
              <a:rPr kumimoji="1" lang="zh-CN" altLang="en-US" dirty="0"/>
              <a:t>对于关键用户工作的基本要求</a:t>
            </a:r>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p:txBody>
          <a:bodyPr/>
          <a:lstStyle/>
          <a:p>
            <a:r>
              <a:rPr kumimoji="1" lang="zh-CN" altLang="en-US" dirty="0"/>
              <a:t>近期关键用户重点工作</a:t>
            </a:r>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95717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a:xfrm>
            <a:off x="472054" y="2705628"/>
            <a:ext cx="9939958" cy="609812"/>
          </a:xfrm>
        </p:spPr>
        <p:txBody>
          <a:bodyPr/>
          <a:lstStyle/>
          <a:p>
            <a:r>
              <a:rPr lang="zh-CN" altLang="en-US" dirty="0"/>
              <a:t>基本规范</a:t>
            </a:r>
            <a:endParaRPr lang="en-CN" dirty="0"/>
          </a:p>
        </p:txBody>
      </p:sp>
      <p:sp>
        <p:nvSpPr>
          <p:cNvPr id="3" name="文本占位符 2">
            <a:extLst>
              <a:ext uri="{FF2B5EF4-FFF2-40B4-BE49-F238E27FC236}">
                <a16:creationId xmlns:a16="http://schemas.microsoft.com/office/drawing/2014/main" id="{01BDC426-899D-B827-C655-D0CB41F4FC74}"/>
              </a:ext>
            </a:extLst>
          </p:cNvPr>
          <p:cNvSpPr>
            <a:spLocks noGrp="1"/>
          </p:cNvSpPr>
          <p:nvPr>
            <p:ph type="body" sz="quarter" idx="17"/>
          </p:nvPr>
        </p:nvSpPr>
        <p:spPr>
          <a:xfrm>
            <a:off x="472054" y="3305280"/>
            <a:ext cx="4724718" cy="1276660"/>
          </a:xfrm>
        </p:spPr>
        <p:txBody>
          <a:bodyPr/>
          <a:lstStyle/>
          <a:p>
            <a:endParaRPr lang="zh-CN" altLang="en-US" dirty="0"/>
          </a:p>
        </p:txBody>
      </p:sp>
    </p:spTree>
    <p:extLst>
      <p:ext uri="{BB962C8B-B14F-4D97-AF65-F5344CB8AC3E}">
        <p14:creationId xmlns:p14="http://schemas.microsoft.com/office/powerpoint/2010/main" val="3022523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项目实施背景</a:t>
            </a:r>
          </a:p>
        </p:txBody>
      </p:sp>
    </p:spTree>
    <p:extLst>
      <p:ext uri="{BB962C8B-B14F-4D97-AF65-F5344CB8AC3E}">
        <p14:creationId xmlns:p14="http://schemas.microsoft.com/office/powerpoint/2010/main" val="3333705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项目目标</a:t>
            </a:r>
          </a:p>
        </p:txBody>
      </p:sp>
    </p:spTree>
    <p:extLst>
      <p:ext uri="{BB962C8B-B14F-4D97-AF65-F5344CB8AC3E}">
        <p14:creationId xmlns:p14="http://schemas.microsoft.com/office/powerpoint/2010/main" val="895700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项目建设总体思路</a:t>
            </a:r>
          </a:p>
        </p:txBody>
      </p:sp>
    </p:spTree>
    <p:extLst>
      <p:ext uri="{BB962C8B-B14F-4D97-AF65-F5344CB8AC3E}">
        <p14:creationId xmlns:p14="http://schemas.microsoft.com/office/powerpoint/2010/main" val="908850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项目功能范围</a:t>
            </a:r>
          </a:p>
        </p:txBody>
      </p:sp>
    </p:spTree>
    <p:extLst>
      <p:ext uri="{BB962C8B-B14F-4D97-AF65-F5344CB8AC3E}">
        <p14:creationId xmlns:p14="http://schemas.microsoft.com/office/powerpoint/2010/main" val="27225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试点公司范围</a:t>
            </a:r>
          </a:p>
        </p:txBody>
      </p:sp>
      <p:graphicFrame>
        <p:nvGraphicFramePr>
          <p:cNvPr id="3" name="内容占位符 3">
            <a:extLst>
              <a:ext uri="{FF2B5EF4-FFF2-40B4-BE49-F238E27FC236}">
                <a16:creationId xmlns:a16="http://schemas.microsoft.com/office/drawing/2014/main" id="{BD369C6D-5163-9F89-AE23-E1A7364208DF}"/>
              </a:ext>
            </a:extLst>
          </p:cNvPr>
          <p:cNvGraphicFramePr>
            <a:graphicFrameLocks/>
          </p:cNvGraphicFramePr>
          <p:nvPr>
            <p:extLst>
              <p:ext uri="{D42A27DB-BD31-4B8C-83A1-F6EECF244321}">
                <p14:modId xmlns:p14="http://schemas.microsoft.com/office/powerpoint/2010/main" val="1800320837"/>
              </p:ext>
            </p:extLst>
          </p:nvPr>
        </p:nvGraphicFramePr>
        <p:xfrm>
          <a:off x="581694" y="770680"/>
          <a:ext cx="11335484" cy="5165429"/>
        </p:xfrm>
        <a:graphic>
          <a:graphicData uri="http://schemas.openxmlformats.org/drawingml/2006/table">
            <a:tbl>
              <a:tblPr firstRow="1" firstCol="1" bandRow="1">
                <a:tableStyleId>{5C22544A-7EE6-4342-B048-85BDC9FD1C3A}</a:tableStyleId>
              </a:tblPr>
              <a:tblGrid>
                <a:gridCol w="731670">
                  <a:extLst>
                    <a:ext uri="{9D8B030D-6E8A-4147-A177-3AD203B41FA5}">
                      <a16:colId xmlns:a16="http://schemas.microsoft.com/office/drawing/2014/main" val="20000"/>
                    </a:ext>
                  </a:extLst>
                </a:gridCol>
                <a:gridCol w="3832360">
                  <a:extLst>
                    <a:ext uri="{9D8B030D-6E8A-4147-A177-3AD203B41FA5}">
                      <a16:colId xmlns:a16="http://schemas.microsoft.com/office/drawing/2014/main" val="20001"/>
                    </a:ext>
                  </a:extLst>
                </a:gridCol>
                <a:gridCol w="774146">
                  <a:extLst>
                    <a:ext uri="{9D8B030D-6E8A-4147-A177-3AD203B41FA5}">
                      <a16:colId xmlns:a16="http://schemas.microsoft.com/office/drawing/2014/main" val="20002"/>
                    </a:ext>
                  </a:extLst>
                </a:gridCol>
                <a:gridCol w="1468823">
                  <a:extLst>
                    <a:ext uri="{9D8B030D-6E8A-4147-A177-3AD203B41FA5}">
                      <a16:colId xmlns:a16="http://schemas.microsoft.com/office/drawing/2014/main" val="20003"/>
                    </a:ext>
                  </a:extLst>
                </a:gridCol>
                <a:gridCol w="1071474">
                  <a:extLst>
                    <a:ext uri="{9D8B030D-6E8A-4147-A177-3AD203B41FA5}">
                      <a16:colId xmlns:a16="http://schemas.microsoft.com/office/drawing/2014/main" val="20004"/>
                    </a:ext>
                  </a:extLst>
                </a:gridCol>
                <a:gridCol w="874194">
                  <a:extLst>
                    <a:ext uri="{9D8B030D-6E8A-4147-A177-3AD203B41FA5}">
                      <a16:colId xmlns:a16="http://schemas.microsoft.com/office/drawing/2014/main" val="20005"/>
                    </a:ext>
                  </a:extLst>
                </a:gridCol>
                <a:gridCol w="834429">
                  <a:extLst>
                    <a:ext uri="{9D8B030D-6E8A-4147-A177-3AD203B41FA5}">
                      <a16:colId xmlns:a16="http://schemas.microsoft.com/office/drawing/2014/main" val="20006"/>
                    </a:ext>
                  </a:extLst>
                </a:gridCol>
                <a:gridCol w="874194">
                  <a:extLst>
                    <a:ext uri="{9D8B030D-6E8A-4147-A177-3AD203B41FA5}">
                      <a16:colId xmlns:a16="http://schemas.microsoft.com/office/drawing/2014/main" val="20007"/>
                    </a:ext>
                  </a:extLst>
                </a:gridCol>
                <a:gridCol w="874194">
                  <a:extLst>
                    <a:ext uri="{9D8B030D-6E8A-4147-A177-3AD203B41FA5}">
                      <a16:colId xmlns:a16="http://schemas.microsoft.com/office/drawing/2014/main" val="20008"/>
                    </a:ext>
                  </a:extLst>
                </a:gridCol>
              </a:tblGrid>
              <a:tr h="480330">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序号</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公司名称</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地点</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板块</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区域</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项目管理</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物资采购</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增值业务</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设备管理</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0"/>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辽阳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1"/>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2</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孝感</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 </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2"/>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3</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深圳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3"/>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4</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深圳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4"/>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5</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深圳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5"/>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6</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深圳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专业公司</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总部</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 </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6"/>
                  </a:ext>
                </a:extLst>
              </a:tr>
              <a:tr h="50109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7</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沈阳</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城燃、</a:t>
                      </a:r>
                      <a:r>
                        <a:rPr lang="en-US" sz="1200" kern="0">
                          <a:effectLst/>
                          <a:latin typeface="微软雅黑" panose="020B0503020204020204" pitchFamily="34" charset="-122"/>
                          <a:ea typeface="微软雅黑" panose="020B0503020204020204" pitchFamily="34" charset="-122"/>
                        </a:rPr>
                        <a:t>PNG</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CNG</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东北</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7"/>
                  </a:ext>
                </a:extLst>
              </a:tr>
              <a:tr h="50109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8</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佳木斯</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城燃、</a:t>
                      </a:r>
                      <a:r>
                        <a:rPr lang="en-US" sz="1200" kern="0">
                          <a:effectLst/>
                          <a:latin typeface="微软雅黑" panose="020B0503020204020204" pitchFamily="34" charset="-122"/>
                          <a:ea typeface="微软雅黑" panose="020B0503020204020204" pitchFamily="34" charset="-122"/>
                        </a:rPr>
                        <a:t>PNG</a:t>
                      </a:r>
                      <a:r>
                        <a:rPr lang="zh-CN" sz="1200" kern="0">
                          <a:effectLst/>
                          <a:latin typeface="微软雅黑" panose="020B0503020204020204" pitchFamily="34" charset="-122"/>
                          <a:ea typeface="微软雅黑" panose="020B0503020204020204" pitchFamily="34" charset="-122"/>
                        </a:rPr>
                        <a:t>、</a:t>
                      </a:r>
                      <a:r>
                        <a:rPr lang="en-US" sz="1200" kern="0">
                          <a:effectLst/>
                          <a:latin typeface="微软雅黑" panose="020B0503020204020204" pitchFamily="34" charset="-122"/>
                          <a:ea typeface="微软雅黑" panose="020B0503020204020204" pitchFamily="34" charset="-122"/>
                        </a:rPr>
                        <a:t>CNG</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东北</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8"/>
                  </a:ext>
                </a:extLst>
              </a:tr>
              <a:tr h="50109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9</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佳木斯</a:t>
                      </a: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城燃、</a:t>
                      </a:r>
                      <a:r>
                        <a:rPr lang="en-US" sz="1200" kern="0" dirty="0">
                          <a:effectLst/>
                          <a:latin typeface="微软雅黑" panose="020B0503020204020204" pitchFamily="34" charset="-122"/>
                          <a:ea typeface="微软雅黑" panose="020B0503020204020204" pitchFamily="34" charset="-122"/>
                        </a:rPr>
                        <a:t>PNG</a:t>
                      </a:r>
                      <a:r>
                        <a:rPr lang="zh-CN" sz="1200" kern="0" dirty="0">
                          <a:effectLst/>
                          <a:latin typeface="微软雅黑" panose="020B0503020204020204" pitchFamily="34" charset="-122"/>
                          <a:ea typeface="微软雅黑" panose="020B0503020204020204" pitchFamily="34" charset="-122"/>
                        </a:rPr>
                        <a:t>、</a:t>
                      </a:r>
                      <a:r>
                        <a:rPr lang="en-US" sz="1200" kern="0" dirty="0">
                          <a:effectLst/>
                          <a:latin typeface="微软雅黑" panose="020B0503020204020204" pitchFamily="34" charset="-122"/>
                          <a:ea typeface="微软雅黑" panose="020B0503020204020204" pitchFamily="34" charset="-122"/>
                        </a:rPr>
                        <a:t>CNG</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东北</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09"/>
                  </a:ext>
                </a:extLst>
              </a:tr>
              <a:tr h="311375">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10</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保定</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气代煤</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华北</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10"/>
                  </a:ext>
                </a:extLst>
              </a:tr>
              <a:tr h="379442">
                <a:tc>
                  <a:txBody>
                    <a:bodyPr/>
                    <a:lstStyle/>
                    <a:p>
                      <a:pPr algn="ctr" fontAlgn="ctr">
                        <a:spcAft>
                          <a:spcPts val="0"/>
                        </a:spcAft>
                      </a:pPr>
                      <a:r>
                        <a:rPr lang="en-US" sz="1200" kern="0">
                          <a:effectLst/>
                          <a:latin typeface="微软雅黑" panose="020B0503020204020204" pitchFamily="34" charset="-122"/>
                          <a:ea typeface="微软雅黑" panose="020B0503020204020204" pitchFamily="34" charset="-122"/>
                        </a:rPr>
                        <a:t>11</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包头</a:t>
                      </a: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城燃</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西北</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11"/>
                  </a:ext>
                </a:extLst>
              </a:tr>
              <a:tr h="622747">
                <a:tc>
                  <a:txBody>
                    <a:bodyPr/>
                    <a:lstStyle/>
                    <a:p>
                      <a:pPr algn="ctr" fontAlgn="ctr">
                        <a:spcAft>
                          <a:spcPts val="0"/>
                        </a:spcAft>
                      </a:pPr>
                      <a:r>
                        <a:rPr lang="en-US" sz="1200" kern="0" dirty="0">
                          <a:effectLst/>
                          <a:latin typeface="微软雅黑" panose="020B0503020204020204" pitchFamily="34" charset="-122"/>
                          <a:ea typeface="微软雅黑" panose="020B0503020204020204" pitchFamily="34" charset="-122"/>
                        </a:rPr>
                        <a:t>12</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宝鸡</a:t>
                      </a: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城燃、</a:t>
                      </a:r>
                      <a:r>
                        <a:rPr lang="en-US" sz="1200" kern="0" dirty="0">
                          <a:effectLst/>
                          <a:latin typeface="微软雅黑" panose="020B0503020204020204" pitchFamily="34" charset="-122"/>
                          <a:ea typeface="微软雅黑" panose="020B0503020204020204" pitchFamily="34" charset="-122"/>
                        </a:rPr>
                        <a:t>PNG</a:t>
                      </a:r>
                      <a:r>
                        <a:rPr lang="zh-CN" sz="1200" kern="0" dirty="0">
                          <a:effectLst/>
                          <a:latin typeface="微软雅黑" panose="020B0503020204020204" pitchFamily="34" charset="-122"/>
                          <a:ea typeface="微软雅黑" panose="020B0503020204020204" pitchFamily="34" charset="-122"/>
                        </a:rPr>
                        <a:t>、</a:t>
                      </a:r>
                      <a:r>
                        <a:rPr lang="en-US" sz="1200" kern="0" dirty="0">
                          <a:effectLst/>
                          <a:latin typeface="微软雅黑" panose="020B0503020204020204" pitchFamily="34" charset="-122"/>
                          <a:ea typeface="微软雅黑" panose="020B0503020204020204" pitchFamily="34" charset="-122"/>
                        </a:rPr>
                        <a:t>CNG</a:t>
                      </a:r>
                      <a:r>
                        <a:rPr lang="zh-CN" sz="1200" kern="0" dirty="0">
                          <a:effectLst/>
                          <a:latin typeface="微软雅黑" panose="020B0503020204020204" pitchFamily="34" charset="-122"/>
                          <a:ea typeface="微软雅黑" panose="020B0503020204020204" pitchFamily="34" charset="-122"/>
                        </a:rPr>
                        <a:t>、</a:t>
                      </a:r>
                      <a:r>
                        <a:rPr lang="en-US" sz="1200" kern="0" dirty="0">
                          <a:effectLst/>
                          <a:latin typeface="微软雅黑" panose="020B0503020204020204" pitchFamily="34" charset="-122"/>
                          <a:ea typeface="微软雅黑" panose="020B0503020204020204" pitchFamily="34" charset="-122"/>
                        </a:rPr>
                        <a:t>LNG</a:t>
                      </a:r>
                      <a:r>
                        <a:rPr lang="zh-CN" sz="1200" kern="0" dirty="0">
                          <a:effectLst/>
                          <a:latin typeface="微软雅黑" panose="020B0503020204020204" pitchFamily="34" charset="-122"/>
                          <a:ea typeface="微软雅黑" panose="020B0503020204020204" pitchFamily="34" charset="-122"/>
                        </a:rPr>
                        <a:t>、热电</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西北</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a:effectLst/>
                          <a:latin typeface="微软雅黑" panose="020B0503020204020204" pitchFamily="34" charset="-122"/>
                          <a:ea typeface="微软雅黑" panose="020B0503020204020204" pitchFamily="34" charset="-122"/>
                        </a:rPr>
                        <a:t>√</a:t>
                      </a:r>
                      <a:endParaRPr lang="zh-CN" sz="1200" kern="10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tc>
                  <a:txBody>
                    <a:bodyPr/>
                    <a:lstStyle/>
                    <a:p>
                      <a:pPr algn="ctr" fontAlgn="ctr">
                        <a:spcAft>
                          <a:spcPts val="0"/>
                        </a:spcAft>
                      </a:pPr>
                      <a:r>
                        <a:rPr lang="zh-CN" sz="1200" kern="0" dirty="0">
                          <a:effectLst/>
                          <a:latin typeface="微软雅黑" panose="020B0503020204020204" pitchFamily="34" charset="-122"/>
                          <a:ea typeface="微软雅黑" panose="020B0503020204020204" pitchFamily="34" charset="-122"/>
                        </a:rPr>
                        <a:t>√</a:t>
                      </a:r>
                      <a:endParaRPr lang="zh-CN" sz="1200" kern="100" dirty="0">
                        <a:effectLst/>
                        <a:latin typeface="微软雅黑" panose="020B0503020204020204" pitchFamily="34" charset="-122"/>
                        <a:ea typeface="微软雅黑" panose="020B0503020204020204" pitchFamily="34" charset="-122"/>
                      </a:endParaRPr>
                    </a:p>
                  </a:txBody>
                  <a:tcPr marL="4310" marR="4310" marT="4310" marB="4310" anchor="ct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398543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42A68-A769-032E-FDFF-951BB7B19356}"/>
              </a:ext>
            </a:extLst>
          </p:cNvPr>
          <p:cNvSpPr>
            <a:spLocks noGrp="1"/>
          </p:cNvSpPr>
          <p:nvPr>
            <p:ph type="title"/>
          </p:nvPr>
        </p:nvSpPr>
        <p:spPr/>
        <p:txBody>
          <a:bodyPr/>
          <a:lstStyle/>
          <a:p>
            <a:r>
              <a:rPr kumimoji="1" lang="zh-CN" altLang="en-US" dirty="0"/>
              <a:t>项目实施概况</a:t>
            </a:r>
          </a:p>
        </p:txBody>
      </p:sp>
      <p:sp>
        <p:nvSpPr>
          <p:cNvPr id="3" name="文本占位符 2">
            <a:extLst>
              <a:ext uri="{FF2B5EF4-FFF2-40B4-BE49-F238E27FC236}">
                <a16:creationId xmlns:a16="http://schemas.microsoft.com/office/drawing/2014/main" id="{E9B6161F-5542-D094-F6FC-82B17301A6DE}"/>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279452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项目总体计划</a:t>
            </a:r>
          </a:p>
        </p:txBody>
      </p:sp>
      <p:sp>
        <p:nvSpPr>
          <p:cNvPr id="119" name="2017/8/9 18:33:351">
            <a:extLst>
              <a:ext uri="{FF2B5EF4-FFF2-40B4-BE49-F238E27FC236}">
                <a16:creationId xmlns:a16="http://schemas.microsoft.com/office/drawing/2014/main" id="{A2B3009D-9E91-9523-0447-E1B3042F902B}"/>
              </a:ext>
            </a:extLst>
          </p:cNvPr>
          <p:cNvSpPr/>
          <p:nvPr/>
        </p:nvSpPr>
        <p:spPr>
          <a:xfrm>
            <a:off x="2783886" y="3632871"/>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0" name="2017/8/9 18:33:351">
            <a:extLst>
              <a:ext uri="{FF2B5EF4-FFF2-40B4-BE49-F238E27FC236}">
                <a16:creationId xmlns:a16="http://schemas.microsoft.com/office/drawing/2014/main" id="{E9C2BF8E-081F-B495-3EA0-59A0CCBA44F3}"/>
              </a:ext>
            </a:extLst>
          </p:cNvPr>
          <p:cNvSpPr/>
          <p:nvPr/>
        </p:nvSpPr>
        <p:spPr>
          <a:xfrm>
            <a:off x="2769547" y="5395154"/>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1" name="2017/8/9 18:33:351">
            <a:extLst>
              <a:ext uri="{FF2B5EF4-FFF2-40B4-BE49-F238E27FC236}">
                <a16:creationId xmlns:a16="http://schemas.microsoft.com/office/drawing/2014/main" id="{F5E5FB01-A3C2-DCC8-6D3B-A094066471B7}"/>
              </a:ext>
            </a:extLst>
          </p:cNvPr>
          <p:cNvSpPr/>
          <p:nvPr/>
        </p:nvSpPr>
        <p:spPr>
          <a:xfrm>
            <a:off x="2785745" y="4519724"/>
            <a:ext cx="9002395"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2" name="2017/8/9 18:33:351">
            <a:extLst>
              <a:ext uri="{FF2B5EF4-FFF2-40B4-BE49-F238E27FC236}">
                <a16:creationId xmlns:a16="http://schemas.microsoft.com/office/drawing/2014/main" id="{31089397-2540-CF25-BD9C-F4BC21A415FE}"/>
              </a:ext>
            </a:extLst>
          </p:cNvPr>
          <p:cNvSpPr/>
          <p:nvPr/>
        </p:nvSpPr>
        <p:spPr>
          <a:xfrm>
            <a:off x="2785745" y="4808014"/>
            <a:ext cx="9002395"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3" name="2017/8/9 18:33:351">
            <a:extLst>
              <a:ext uri="{FF2B5EF4-FFF2-40B4-BE49-F238E27FC236}">
                <a16:creationId xmlns:a16="http://schemas.microsoft.com/office/drawing/2014/main" id="{C30C768C-0168-2B86-CDA4-B4CB841CC73E}"/>
              </a:ext>
            </a:extLst>
          </p:cNvPr>
          <p:cNvSpPr/>
          <p:nvPr/>
        </p:nvSpPr>
        <p:spPr>
          <a:xfrm>
            <a:off x="2785745" y="5096304"/>
            <a:ext cx="9002395"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4" name="2017/8/9 18:33:351">
            <a:extLst>
              <a:ext uri="{FF2B5EF4-FFF2-40B4-BE49-F238E27FC236}">
                <a16:creationId xmlns:a16="http://schemas.microsoft.com/office/drawing/2014/main" id="{71831F8E-1A89-99E0-B755-39C5EC451580}"/>
              </a:ext>
            </a:extLst>
          </p:cNvPr>
          <p:cNvSpPr/>
          <p:nvPr/>
        </p:nvSpPr>
        <p:spPr>
          <a:xfrm>
            <a:off x="2785745" y="5380149"/>
            <a:ext cx="900303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5" name="2017/8/9 18:33:351">
            <a:extLst>
              <a:ext uri="{FF2B5EF4-FFF2-40B4-BE49-F238E27FC236}">
                <a16:creationId xmlns:a16="http://schemas.microsoft.com/office/drawing/2014/main" id="{345CC400-1D5F-42FA-43E4-F1111F181C3C}"/>
              </a:ext>
            </a:extLst>
          </p:cNvPr>
          <p:cNvSpPr/>
          <p:nvPr/>
        </p:nvSpPr>
        <p:spPr>
          <a:xfrm>
            <a:off x="2787650" y="4231434"/>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6" name="2017/8/9 18:33:351">
            <a:extLst>
              <a:ext uri="{FF2B5EF4-FFF2-40B4-BE49-F238E27FC236}">
                <a16:creationId xmlns:a16="http://schemas.microsoft.com/office/drawing/2014/main" id="{2448FD95-1C5F-61D2-AFFA-865A2E64C365}"/>
              </a:ext>
            </a:extLst>
          </p:cNvPr>
          <p:cNvSpPr/>
          <p:nvPr/>
        </p:nvSpPr>
        <p:spPr>
          <a:xfrm>
            <a:off x="2787650" y="3945049"/>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7" name="2017/8/9 18:33:351">
            <a:extLst>
              <a:ext uri="{FF2B5EF4-FFF2-40B4-BE49-F238E27FC236}">
                <a16:creationId xmlns:a16="http://schemas.microsoft.com/office/drawing/2014/main" id="{B1CAC1B4-FB67-9EB1-3836-6BE788082D2A}"/>
              </a:ext>
            </a:extLst>
          </p:cNvPr>
          <p:cNvSpPr/>
          <p:nvPr/>
        </p:nvSpPr>
        <p:spPr>
          <a:xfrm>
            <a:off x="2783886" y="3337275"/>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8" name="2017/8/9 18:33:351">
            <a:extLst>
              <a:ext uri="{FF2B5EF4-FFF2-40B4-BE49-F238E27FC236}">
                <a16:creationId xmlns:a16="http://schemas.microsoft.com/office/drawing/2014/main" id="{053D58D2-31CC-8D79-73C0-532ACC3344DE}"/>
              </a:ext>
            </a:extLst>
          </p:cNvPr>
          <p:cNvSpPr/>
          <p:nvPr/>
        </p:nvSpPr>
        <p:spPr>
          <a:xfrm>
            <a:off x="2783886" y="3041676"/>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29" name="2017/8/9 18:33:351">
            <a:extLst>
              <a:ext uri="{FF2B5EF4-FFF2-40B4-BE49-F238E27FC236}">
                <a16:creationId xmlns:a16="http://schemas.microsoft.com/office/drawing/2014/main" id="{F12F0687-465D-6C39-195D-26E91D4AF68B}"/>
              </a:ext>
            </a:extLst>
          </p:cNvPr>
          <p:cNvSpPr/>
          <p:nvPr/>
        </p:nvSpPr>
        <p:spPr>
          <a:xfrm>
            <a:off x="2783886" y="2746077"/>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30" name="2017/8/9 18:33:351">
            <a:extLst>
              <a:ext uri="{FF2B5EF4-FFF2-40B4-BE49-F238E27FC236}">
                <a16:creationId xmlns:a16="http://schemas.microsoft.com/office/drawing/2014/main" id="{576AA1AD-0E15-88CB-82B7-212C1EB140F2}"/>
              </a:ext>
            </a:extLst>
          </p:cNvPr>
          <p:cNvSpPr/>
          <p:nvPr/>
        </p:nvSpPr>
        <p:spPr>
          <a:xfrm>
            <a:off x="2783886" y="2450478"/>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31" name="2017/8/9 18:33:351">
            <a:extLst>
              <a:ext uri="{FF2B5EF4-FFF2-40B4-BE49-F238E27FC236}">
                <a16:creationId xmlns:a16="http://schemas.microsoft.com/office/drawing/2014/main" id="{08E6487A-F8A2-8A7C-089A-DBC909EF2114}"/>
              </a:ext>
            </a:extLst>
          </p:cNvPr>
          <p:cNvSpPr/>
          <p:nvPr/>
        </p:nvSpPr>
        <p:spPr>
          <a:xfrm>
            <a:off x="2783886" y="2154879"/>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32" name="2017/8/9 18:33:351">
            <a:extLst>
              <a:ext uri="{FF2B5EF4-FFF2-40B4-BE49-F238E27FC236}">
                <a16:creationId xmlns:a16="http://schemas.microsoft.com/office/drawing/2014/main" id="{F65A024D-A227-82C5-C96F-4F93EEEE31E3}"/>
              </a:ext>
            </a:extLst>
          </p:cNvPr>
          <p:cNvSpPr/>
          <p:nvPr/>
        </p:nvSpPr>
        <p:spPr>
          <a:xfrm>
            <a:off x="2783886" y="1859280"/>
            <a:ext cx="9000000" cy="288290"/>
          </a:xfrm>
          <a:prstGeom prst="rect">
            <a:avLst/>
          </a:prstGeom>
          <a:solidFill>
            <a:schemeClr val="bg1"/>
          </a:solidFill>
          <a:ln w="9525">
            <a:solidFill>
              <a:schemeClr val="bg1">
                <a:lumMod val="65000"/>
              </a:schemeClr>
            </a:solidFill>
          </a:ln>
        </p:spPr>
        <p:txBody>
          <a:bodyPr lIns="72009" tIns="72009" rIns="72009" bIns="72009" rtlCol="0" anchor="ctr">
            <a:noAutofit/>
          </a:bodyPr>
          <a:lstStyle/>
          <a:p>
            <a:endParaRPr lang="en-US" sz="1400" b="1" dirty="0">
              <a:solidFill>
                <a:schemeClr val="accent5">
                  <a:lumMod val="50000"/>
                </a:schemeClr>
              </a:solidFill>
              <a:latin typeface="微软雅黑" panose="020B0503020204020204" pitchFamily="34" charset="-122"/>
              <a:ea typeface="微软雅黑" panose="020B0503020204020204" pitchFamily="34" charset="-122"/>
            </a:endParaRPr>
          </a:p>
        </p:txBody>
      </p:sp>
      <p:grpSp>
        <p:nvGrpSpPr>
          <p:cNvPr id="133" name="Group 318">
            <a:extLst>
              <a:ext uri="{FF2B5EF4-FFF2-40B4-BE49-F238E27FC236}">
                <a16:creationId xmlns:a16="http://schemas.microsoft.com/office/drawing/2014/main" id="{7763484A-1F4C-EA13-0989-2325523481A8}"/>
              </a:ext>
            </a:extLst>
          </p:cNvPr>
          <p:cNvGrpSpPr/>
          <p:nvPr/>
        </p:nvGrpSpPr>
        <p:grpSpPr>
          <a:xfrm>
            <a:off x="2774950" y="1532908"/>
            <a:ext cx="8498205" cy="4166613"/>
            <a:chOff x="1805400" y="2536771"/>
            <a:chExt cx="6758662" cy="3244571"/>
          </a:xfrm>
        </p:grpSpPr>
        <p:cxnSp>
          <p:nvCxnSpPr>
            <p:cNvPr id="134" name="Straight Connector 319">
              <a:extLst>
                <a:ext uri="{FF2B5EF4-FFF2-40B4-BE49-F238E27FC236}">
                  <a16:creationId xmlns:a16="http://schemas.microsoft.com/office/drawing/2014/main" id="{B1B99B72-855E-DEA3-531D-F1082F8A1606}"/>
                </a:ext>
              </a:extLst>
            </p:cNvPr>
            <p:cNvCxnSpPr/>
            <p:nvPr/>
          </p:nvCxnSpPr>
          <p:spPr bwMode="auto">
            <a:xfrm flipH="1">
              <a:off x="1805400" y="2554032"/>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35" name="Straight Connector 320">
              <a:extLst>
                <a:ext uri="{FF2B5EF4-FFF2-40B4-BE49-F238E27FC236}">
                  <a16:creationId xmlns:a16="http://schemas.microsoft.com/office/drawing/2014/main" id="{01F2FE9E-7864-3787-0DD5-AC53175DEDF7}"/>
                </a:ext>
              </a:extLst>
            </p:cNvPr>
            <p:cNvCxnSpPr/>
            <p:nvPr/>
          </p:nvCxnSpPr>
          <p:spPr bwMode="auto">
            <a:xfrm flipH="1">
              <a:off x="2998365"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36" name="Straight Connector 322">
              <a:extLst>
                <a:ext uri="{FF2B5EF4-FFF2-40B4-BE49-F238E27FC236}">
                  <a16:creationId xmlns:a16="http://schemas.microsoft.com/office/drawing/2014/main" id="{87BC1EF7-C2DA-3C67-B97C-9D8E06A0D60B}"/>
                </a:ext>
              </a:extLst>
            </p:cNvPr>
            <p:cNvCxnSpPr/>
            <p:nvPr/>
          </p:nvCxnSpPr>
          <p:spPr bwMode="auto">
            <a:xfrm flipH="1">
              <a:off x="7763456"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37" name="Straight Connector 323">
              <a:extLst>
                <a:ext uri="{FF2B5EF4-FFF2-40B4-BE49-F238E27FC236}">
                  <a16:creationId xmlns:a16="http://schemas.microsoft.com/office/drawing/2014/main" id="{EC16F29C-4418-C6B1-CCCD-4DF2E827D1B4}"/>
                </a:ext>
              </a:extLst>
            </p:cNvPr>
            <p:cNvCxnSpPr/>
            <p:nvPr/>
          </p:nvCxnSpPr>
          <p:spPr bwMode="auto">
            <a:xfrm flipH="1">
              <a:off x="8165236"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38" name="Straight Connector 324">
              <a:extLst>
                <a:ext uri="{FF2B5EF4-FFF2-40B4-BE49-F238E27FC236}">
                  <a16:creationId xmlns:a16="http://schemas.microsoft.com/office/drawing/2014/main" id="{01425684-8B94-8F67-B0C1-D049138A3326}"/>
                </a:ext>
              </a:extLst>
            </p:cNvPr>
            <p:cNvCxnSpPr/>
            <p:nvPr/>
          </p:nvCxnSpPr>
          <p:spPr bwMode="auto">
            <a:xfrm flipH="1">
              <a:off x="3795157"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39" name="Straight Connector 325">
              <a:extLst>
                <a:ext uri="{FF2B5EF4-FFF2-40B4-BE49-F238E27FC236}">
                  <a16:creationId xmlns:a16="http://schemas.microsoft.com/office/drawing/2014/main" id="{40EE2389-AF4A-CF6C-AE09-BE4B45D8D513}"/>
                </a:ext>
              </a:extLst>
            </p:cNvPr>
            <p:cNvCxnSpPr/>
            <p:nvPr/>
          </p:nvCxnSpPr>
          <p:spPr bwMode="auto">
            <a:xfrm flipH="1">
              <a:off x="4187341"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0" name="Straight Connector 326">
              <a:extLst>
                <a:ext uri="{FF2B5EF4-FFF2-40B4-BE49-F238E27FC236}">
                  <a16:creationId xmlns:a16="http://schemas.microsoft.com/office/drawing/2014/main" id="{57742081-DA89-1E55-2059-75DFD888767D}"/>
                </a:ext>
              </a:extLst>
            </p:cNvPr>
            <p:cNvCxnSpPr/>
            <p:nvPr/>
          </p:nvCxnSpPr>
          <p:spPr bwMode="auto">
            <a:xfrm flipH="1">
              <a:off x="4587100"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1" name="Straight Connector 327">
              <a:extLst>
                <a:ext uri="{FF2B5EF4-FFF2-40B4-BE49-F238E27FC236}">
                  <a16:creationId xmlns:a16="http://schemas.microsoft.com/office/drawing/2014/main" id="{2D69A8AB-0194-F7E4-ABDF-ACF4012BF694}"/>
                </a:ext>
              </a:extLst>
            </p:cNvPr>
            <p:cNvCxnSpPr/>
            <p:nvPr/>
          </p:nvCxnSpPr>
          <p:spPr bwMode="auto">
            <a:xfrm flipH="1">
              <a:off x="4987869"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2" name="Straight Connector 328">
              <a:extLst>
                <a:ext uri="{FF2B5EF4-FFF2-40B4-BE49-F238E27FC236}">
                  <a16:creationId xmlns:a16="http://schemas.microsoft.com/office/drawing/2014/main" id="{528C0D40-B633-EA90-AF04-80CE8A993396}"/>
                </a:ext>
              </a:extLst>
            </p:cNvPr>
            <p:cNvCxnSpPr/>
            <p:nvPr/>
          </p:nvCxnSpPr>
          <p:spPr bwMode="auto">
            <a:xfrm flipH="1">
              <a:off x="5380053"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3" name="Straight Connector 329">
              <a:extLst>
                <a:ext uri="{FF2B5EF4-FFF2-40B4-BE49-F238E27FC236}">
                  <a16:creationId xmlns:a16="http://schemas.microsoft.com/office/drawing/2014/main" id="{C56388AD-D2FE-A868-1DF3-B0BC453B3106}"/>
                </a:ext>
              </a:extLst>
            </p:cNvPr>
            <p:cNvCxnSpPr/>
            <p:nvPr/>
          </p:nvCxnSpPr>
          <p:spPr bwMode="auto">
            <a:xfrm flipH="1">
              <a:off x="5779303" y="2536771"/>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4" name="Straight Connector 330">
              <a:extLst>
                <a:ext uri="{FF2B5EF4-FFF2-40B4-BE49-F238E27FC236}">
                  <a16:creationId xmlns:a16="http://schemas.microsoft.com/office/drawing/2014/main" id="{0ECE6E4D-8AFF-23F2-4066-D4FDB99A4D8D}"/>
                </a:ext>
              </a:extLst>
            </p:cNvPr>
            <p:cNvCxnSpPr/>
            <p:nvPr/>
          </p:nvCxnSpPr>
          <p:spPr bwMode="auto">
            <a:xfrm flipH="1">
              <a:off x="6176537"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5" name="Straight Connector 331">
              <a:extLst>
                <a:ext uri="{FF2B5EF4-FFF2-40B4-BE49-F238E27FC236}">
                  <a16:creationId xmlns:a16="http://schemas.microsoft.com/office/drawing/2014/main" id="{ABB11EBA-B5DB-8A3B-B988-98A82DB72557}"/>
                </a:ext>
              </a:extLst>
            </p:cNvPr>
            <p:cNvCxnSpPr/>
            <p:nvPr/>
          </p:nvCxnSpPr>
          <p:spPr bwMode="auto">
            <a:xfrm flipH="1">
              <a:off x="6573267"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6" name="Straight Connector 332">
              <a:extLst>
                <a:ext uri="{FF2B5EF4-FFF2-40B4-BE49-F238E27FC236}">
                  <a16:creationId xmlns:a16="http://schemas.microsoft.com/office/drawing/2014/main" id="{3A805AAD-CA3C-6EBD-7C77-8807E43EDB59}"/>
                </a:ext>
              </a:extLst>
            </p:cNvPr>
            <p:cNvCxnSpPr/>
            <p:nvPr/>
          </p:nvCxnSpPr>
          <p:spPr bwMode="auto">
            <a:xfrm flipH="1">
              <a:off x="6978582" y="254544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7" name="Straight Connector 333">
              <a:extLst>
                <a:ext uri="{FF2B5EF4-FFF2-40B4-BE49-F238E27FC236}">
                  <a16:creationId xmlns:a16="http://schemas.microsoft.com/office/drawing/2014/main" id="{50CACCE7-652C-37CF-027D-12D581211DC3}"/>
                </a:ext>
              </a:extLst>
            </p:cNvPr>
            <p:cNvCxnSpPr/>
            <p:nvPr/>
          </p:nvCxnSpPr>
          <p:spPr bwMode="auto">
            <a:xfrm flipH="1">
              <a:off x="2200364" y="2554119"/>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8" name="Straight Connector 335">
              <a:extLst>
                <a:ext uri="{FF2B5EF4-FFF2-40B4-BE49-F238E27FC236}">
                  <a16:creationId xmlns:a16="http://schemas.microsoft.com/office/drawing/2014/main" id="{22F84609-FE03-0EEC-889A-9D93DE4FEEBB}"/>
                </a:ext>
              </a:extLst>
            </p:cNvPr>
            <p:cNvCxnSpPr/>
            <p:nvPr/>
          </p:nvCxnSpPr>
          <p:spPr bwMode="auto">
            <a:xfrm flipH="1">
              <a:off x="2601639"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49" name="Straight Connector 336">
              <a:extLst>
                <a:ext uri="{FF2B5EF4-FFF2-40B4-BE49-F238E27FC236}">
                  <a16:creationId xmlns:a16="http://schemas.microsoft.com/office/drawing/2014/main" id="{36DFB634-7EFB-8C7E-85BE-B1A3CC9D6823}"/>
                </a:ext>
              </a:extLst>
            </p:cNvPr>
            <p:cNvCxnSpPr/>
            <p:nvPr/>
          </p:nvCxnSpPr>
          <p:spPr bwMode="auto">
            <a:xfrm flipH="1">
              <a:off x="3394388"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cxnSp>
          <p:nvCxnSpPr>
            <p:cNvPr id="150" name="Straight Connector 337">
              <a:extLst>
                <a:ext uri="{FF2B5EF4-FFF2-40B4-BE49-F238E27FC236}">
                  <a16:creationId xmlns:a16="http://schemas.microsoft.com/office/drawing/2014/main" id="{AB2C9DEE-3746-8820-76C2-938D875A98B3}"/>
                </a:ext>
              </a:extLst>
            </p:cNvPr>
            <p:cNvCxnSpPr/>
            <p:nvPr/>
          </p:nvCxnSpPr>
          <p:spPr bwMode="auto">
            <a:xfrm flipH="1">
              <a:off x="8549848" y="2541635"/>
              <a:ext cx="14214" cy="3227223"/>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grpSp>
      <p:graphicFrame>
        <p:nvGraphicFramePr>
          <p:cNvPr id="151" name="Table 317">
            <a:extLst>
              <a:ext uri="{FF2B5EF4-FFF2-40B4-BE49-F238E27FC236}">
                <a16:creationId xmlns:a16="http://schemas.microsoft.com/office/drawing/2014/main" id="{5A6F5360-B1F6-E395-C0AE-F4D0332673D7}"/>
              </a:ext>
            </a:extLst>
          </p:cNvPr>
          <p:cNvGraphicFramePr>
            <a:graphicFrameLocks noGrp="1"/>
          </p:cNvGraphicFramePr>
          <p:nvPr>
            <p:custDataLst>
              <p:tags r:id="rId1"/>
            </p:custDataLst>
          </p:nvPr>
        </p:nvGraphicFramePr>
        <p:xfrm>
          <a:off x="2792730" y="1545590"/>
          <a:ext cx="8995410" cy="313055"/>
        </p:xfrm>
        <a:graphic>
          <a:graphicData uri="http://schemas.openxmlformats.org/drawingml/2006/table">
            <a:tbl>
              <a:tblPr firstRow="1" bandRow="1">
                <a:tableStyleId>{F5AB1C69-6EDB-4FF4-983F-18BD219EF322}</a:tableStyleId>
              </a:tblPr>
              <a:tblGrid>
                <a:gridCol w="499745">
                  <a:extLst>
                    <a:ext uri="{9D8B030D-6E8A-4147-A177-3AD203B41FA5}">
                      <a16:colId xmlns:a16="http://schemas.microsoft.com/office/drawing/2014/main" val="20000"/>
                    </a:ext>
                  </a:extLst>
                </a:gridCol>
                <a:gridCol w="499745">
                  <a:extLst>
                    <a:ext uri="{9D8B030D-6E8A-4147-A177-3AD203B41FA5}">
                      <a16:colId xmlns:a16="http://schemas.microsoft.com/office/drawing/2014/main" val="20001"/>
                    </a:ext>
                  </a:extLst>
                </a:gridCol>
                <a:gridCol w="499745">
                  <a:extLst>
                    <a:ext uri="{9D8B030D-6E8A-4147-A177-3AD203B41FA5}">
                      <a16:colId xmlns:a16="http://schemas.microsoft.com/office/drawing/2014/main" val="20002"/>
                    </a:ext>
                  </a:extLst>
                </a:gridCol>
                <a:gridCol w="499745">
                  <a:extLst>
                    <a:ext uri="{9D8B030D-6E8A-4147-A177-3AD203B41FA5}">
                      <a16:colId xmlns:a16="http://schemas.microsoft.com/office/drawing/2014/main" val="20003"/>
                    </a:ext>
                  </a:extLst>
                </a:gridCol>
                <a:gridCol w="499745">
                  <a:extLst>
                    <a:ext uri="{9D8B030D-6E8A-4147-A177-3AD203B41FA5}">
                      <a16:colId xmlns:a16="http://schemas.microsoft.com/office/drawing/2014/main" val="20004"/>
                    </a:ext>
                  </a:extLst>
                </a:gridCol>
                <a:gridCol w="499745">
                  <a:extLst>
                    <a:ext uri="{9D8B030D-6E8A-4147-A177-3AD203B41FA5}">
                      <a16:colId xmlns:a16="http://schemas.microsoft.com/office/drawing/2014/main" val="20005"/>
                    </a:ext>
                  </a:extLst>
                </a:gridCol>
                <a:gridCol w="499745">
                  <a:extLst>
                    <a:ext uri="{9D8B030D-6E8A-4147-A177-3AD203B41FA5}">
                      <a16:colId xmlns:a16="http://schemas.microsoft.com/office/drawing/2014/main" val="20006"/>
                    </a:ext>
                  </a:extLst>
                </a:gridCol>
                <a:gridCol w="499745">
                  <a:extLst>
                    <a:ext uri="{9D8B030D-6E8A-4147-A177-3AD203B41FA5}">
                      <a16:colId xmlns:a16="http://schemas.microsoft.com/office/drawing/2014/main" val="20007"/>
                    </a:ext>
                  </a:extLst>
                </a:gridCol>
                <a:gridCol w="499745">
                  <a:extLst>
                    <a:ext uri="{9D8B030D-6E8A-4147-A177-3AD203B41FA5}">
                      <a16:colId xmlns:a16="http://schemas.microsoft.com/office/drawing/2014/main" val="20008"/>
                    </a:ext>
                  </a:extLst>
                </a:gridCol>
                <a:gridCol w="499745">
                  <a:extLst>
                    <a:ext uri="{9D8B030D-6E8A-4147-A177-3AD203B41FA5}">
                      <a16:colId xmlns:a16="http://schemas.microsoft.com/office/drawing/2014/main" val="20009"/>
                    </a:ext>
                  </a:extLst>
                </a:gridCol>
                <a:gridCol w="499745">
                  <a:extLst>
                    <a:ext uri="{9D8B030D-6E8A-4147-A177-3AD203B41FA5}">
                      <a16:colId xmlns:a16="http://schemas.microsoft.com/office/drawing/2014/main" val="20010"/>
                    </a:ext>
                  </a:extLst>
                </a:gridCol>
                <a:gridCol w="499745">
                  <a:extLst>
                    <a:ext uri="{9D8B030D-6E8A-4147-A177-3AD203B41FA5}">
                      <a16:colId xmlns:a16="http://schemas.microsoft.com/office/drawing/2014/main" val="20011"/>
                    </a:ext>
                  </a:extLst>
                </a:gridCol>
                <a:gridCol w="499745">
                  <a:extLst>
                    <a:ext uri="{9D8B030D-6E8A-4147-A177-3AD203B41FA5}">
                      <a16:colId xmlns:a16="http://schemas.microsoft.com/office/drawing/2014/main" val="20012"/>
                    </a:ext>
                  </a:extLst>
                </a:gridCol>
                <a:gridCol w="499745">
                  <a:extLst>
                    <a:ext uri="{9D8B030D-6E8A-4147-A177-3AD203B41FA5}">
                      <a16:colId xmlns:a16="http://schemas.microsoft.com/office/drawing/2014/main" val="20013"/>
                    </a:ext>
                  </a:extLst>
                </a:gridCol>
                <a:gridCol w="499745">
                  <a:extLst>
                    <a:ext uri="{9D8B030D-6E8A-4147-A177-3AD203B41FA5}">
                      <a16:colId xmlns:a16="http://schemas.microsoft.com/office/drawing/2014/main" val="20014"/>
                    </a:ext>
                  </a:extLst>
                </a:gridCol>
                <a:gridCol w="499745">
                  <a:extLst>
                    <a:ext uri="{9D8B030D-6E8A-4147-A177-3AD203B41FA5}">
                      <a16:colId xmlns:a16="http://schemas.microsoft.com/office/drawing/2014/main" val="20015"/>
                    </a:ext>
                  </a:extLst>
                </a:gridCol>
                <a:gridCol w="488315">
                  <a:extLst>
                    <a:ext uri="{9D8B030D-6E8A-4147-A177-3AD203B41FA5}">
                      <a16:colId xmlns:a16="http://schemas.microsoft.com/office/drawing/2014/main" val="20016"/>
                    </a:ext>
                  </a:extLst>
                </a:gridCol>
                <a:gridCol w="511175">
                  <a:extLst>
                    <a:ext uri="{9D8B030D-6E8A-4147-A177-3AD203B41FA5}">
                      <a16:colId xmlns:a16="http://schemas.microsoft.com/office/drawing/2014/main" val="20017"/>
                    </a:ext>
                  </a:extLst>
                </a:gridCol>
              </a:tblGrid>
              <a:tr h="313055">
                <a:tc>
                  <a:txBody>
                    <a:bodyPr/>
                    <a:lstStyle/>
                    <a:p>
                      <a:pPr marL="0" indent="0" algn="ctr">
                        <a:spcBef>
                          <a:spcPts val="20"/>
                        </a:spcBef>
                        <a:spcAft>
                          <a:spcPts val="0"/>
                        </a:spcAft>
                      </a:pPr>
                      <a:r>
                        <a:rPr lang="en-US" altLang="zh-CN" sz="1100" b="1" dirty="0">
                          <a:solidFill>
                            <a:schemeClr val="tx1"/>
                          </a:solidFill>
                          <a:latin typeface="微软雅黑" panose="020B0503020204020204" pitchFamily="34" charset="-122"/>
                          <a:ea typeface="微软雅黑" panose="020B0503020204020204" pitchFamily="34" charset="-122"/>
                        </a:rPr>
                        <a:t>1</a:t>
                      </a:r>
                      <a:endParaRPr lang="en-US" sz="1100" b="1" dirty="0">
                        <a:solidFill>
                          <a:schemeClr val="tx1"/>
                        </a:solidFill>
                        <a:latin typeface="微软雅黑" panose="020B0503020204020204" pitchFamily="34" charset="-122"/>
                        <a:ea typeface="微软雅黑" panose="020B0503020204020204" pitchFamily="34"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pPr>
                      <a:r>
                        <a:rPr lang="en-US" sz="1100" b="1" dirty="0">
                          <a:solidFill>
                            <a:schemeClr val="tx1"/>
                          </a:solidFill>
                          <a:latin typeface="微软雅黑" panose="020B0503020204020204" pitchFamily="34" charset="-122"/>
                          <a:ea typeface="微软雅黑" panose="020B0503020204020204" pitchFamily="34" charset="-122"/>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spcBef>
                          <a:spcPts val="20"/>
                        </a:spcBef>
                        <a:spcAft>
                          <a:spcPts val="0"/>
                        </a:spcAft>
                        <a:buNone/>
                      </a:pPr>
                      <a:r>
                        <a:rPr lang="en-US" altLang="en-US" sz="1100" b="1" dirty="0">
                          <a:solidFill>
                            <a:schemeClr val="tx1"/>
                          </a:solidFill>
                          <a:latin typeface="微软雅黑" panose="020B0503020204020204" pitchFamily="34" charset="-122"/>
                          <a:ea typeface="微软雅黑" panose="020B0503020204020204" pitchFamily="34" charset="-122"/>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52" name="AutoShape 4">
            <a:extLst>
              <a:ext uri="{FF2B5EF4-FFF2-40B4-BE49-F238E27FC236}">
                <a16:creationId xmlns:a16="http://schemas.microsoft.com/office/drawing/2014/main" id="{C798F4B8-5630-05D6-0663-970A749C4CE4}"/>
              </a:ext>
            </a:extLst>
          </p:cNvPr>
          <p:cNvSpPr>
            <a:spLocks noChangeArrowheads="1"/>
          </p:cNvSpPr>
          <p:nvPr/>
        </p:nvSpPr>
        <p:spPr bwMode="auto">
          <a:xfrm>
            <a:off x="2799080" y="1170940"/>
            <a:ext cx="6000750" cy="266065"/>
          </a:xfrm>
          <a:prstGeom prst="homePlate">
            <a:avLst>
              <a:gd name="adj" fmla="val 23155"/>
            </a:avLst>
          </a:prstGeom>
          <a:gradFill>
            <a:gsLst>
              <a:gs pos="0">
                <a:schemeClr val="accent1">
                  <a:shade val="51000"/>
                  <a:satMod val="130000"/>
                  <a:lumMod val="87000"/>
                </a:schemeClr>
              </a:gs>
              <a:gs pos="80000">
                <a:schemeClr val="accent1">
                  <a:shade val="93000"/>
                  <a:satMod val="130000"/>
                  <a:lumMod val="87000"/>
                </a:schemeClr>
              </a:gs>
              <a:gs pos="100000">
                <a:schemeClr val="accent1">
                  <a:shade val="94000"/>
                  <a:satMod val="135000"/>
                  <a:lumMod val="87000"/>
                </a:schemeClr>
              </a:gs>
            </a:gsLst>
          </a:gradFill>
        </p:spPr>
        <p:style>
          <a:lnRef idx="1">
            <a:schemeClr val="accent1"/>
          </a:lnRef>
          <a:fillRef idx="3">
            <a:schemeClr val="accent1"/>
          </a:fillRef>
          <a:effectRef idx="2">
            <a:schemeClr val="accent1"/>
          </a:effectRef>
          <a:fontRef idx="minor">
            <a:schemeClr val="lt1"/>
          </a:fontRef>
        </p:style>
        <p:txBody>
          <a:bodyPr lIns="42203" rIns="42203" anchor="ctr" anchorCtr="1"/>
          <a:lstStyle/>
          <a:p>
            <a:pPr defTabSz="843915" fontAlgn="base">
              <a:spcBef>
                <a:spcPct val="0"/>
              </a:spcBef>
              <a:spcAft>
                <a:spcPct val="0"/>
              </a:spcAft>
              <a:defRPr/>
            </a:pPr>
            <a:r>
              <a:rPr lang="en-US" altLang="zh-CN" sz="1110" b="1" kern="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2022</a:t>
            </a:r>
            <a:r>
              <a:rPr lang="zh-CN" altLang="en-US" sz="1110" b="1" kern="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年</a:t>
            </a:r>
          </a:p>
        </p:txBody>
      </p:sp>
      <p:sp>
        <p:nvSpPr>
          <p:cNvPr id="153" name="AutoShape 203">
            <a:extLst>
              <a:ext uri="{FF2B5EF4-FFF2-40B4-BE49-F238E27FC236}">
                <a16:creationId xmlns:a16="http://schemas.microsoft.com/office/drawing/2014/main" id="{1B3A103A-2898-EC50-0CE2-102F61341B9C}"/>
              </a:ext>
            </a:extLst>
          </p:cNvPr>
          <p:cNvSpPr>
            <a:spLocks noChangeArrowheads="1"/>
          </p:cNvSpPr>
          <p:nvPr/>
        </p:nvSpPr>
        <p:spPr bwMode="auto">
          <a:xfrm>
            <a:off x="8787765" y="1170940"/>
            <a:ext cx="2997835" cy="266065"/>
          </a:xfrm>
          <a:prstGeom prst="chevron">
            <a:avLst>
              <a:gd name="adj" fmla="val 20234"/>
            </a:avLst>
          </a:prstGeom>
          <a:gradFill>
            <a:gsLst>
              <a:gs pos="0">
                <a:schemeClr val="accent1">
                  <a:shade val="51000"/>
                  <a:satMod val="130000"/>
                  <a:lumMod val="89000"/>
                  <a:lumOff val="11000"/>
                </a:schemeClr>
              </a:gs>
              <a:gs pos="80000">
                <a:schemeClr val="accent1">
                  <a:shade val="93000"/>
                  <a:satMod val="130000"/>
                  <a:lumMod val="89000"/>
                  <a:lumOff val="11000"/>
                </a:schemeClr>
              </a:gs>
              <a:gs pos="100000">
                <a:schemeClr val="accent1">
                  <a:shade val="94000"/>
                  <a:satMod val="135000"/>
                  <a:lumMod val="89000"/>
                  <a:lumOff val="11000"/>
                </a:schemeClr>
              </a:gs>
            </a:gsLst>
          </a:gradFill>
        </p:spPr>
        <p:style>
          <a:lnRef idx="1">
            <a:schemeClr val="accent1"/>
          </a:lnRef>
          <a:fillRef idx="3">
            <a:schemeClr val="accent1"/>
          </a:fillRef>
          <a:effectRef idx="2">
            <a:schemeClr val="accent1"/>
          </a:effectRef>
          <a:fontRef idx="minor">
            <a:schemeClr val="lt1"/>
          </a:fontRef>
        </p:style>
        <p:txBody>
          <a:bodyPr wrap="none" lIns="42497" tIns="21980" rIns="42497" bIns="21980" anchor="ctr"/>
          <a:lstStyle/>
          <a:p>
            <a:pPr algn="ctr" defTabSz="175895" eaLnBrk="0" fontAlgn="base" hangingPunct="0">
              <a:spcBef>
                <a:spcPct val="0"/>
              </a:spcBef>
              <a:spcAft>
                <a:spcPct val="0"/>
              </a:spcAft>
              <a:defRPr/>
            </a:pPr>
            <a:r>
              <a:rPr lang="en-US" altLang="zh-CN" sz="1290" b="1" kern="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2023</a:t>
            </a:r>
            <a:r>
              <a:rPr lang="zh-CN" altLang="en-US" sz="1290" b="1" kern="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年</a:t>
            </a:r>
          </a:p>
        </p:txBody>
      </p:sp>
      <p:cxnSp>
        <p:nvCxnSpPr>
          <p:cNvPr id="154" name="Straight Connector 332">
            <a:extLst>
              <a:ext uri="{FF2B5EF4-FFF2-40B4-BE49-F238E27FC236}">
                <a16:creationId xmlns:a16="http://schemas.microsoft.com/office/drawing/2014/main" id="{091AA7C0-B969-AFD7-51FE-6847823661DA}"/>
              </a:ext>
            </a:extLst>
          </p:cNvPr>
          <p:cNvCxnSpPr/>
          <p:nvPr/>
        </p:nvCxnSpPr>
        <p:spPr bwMode="auto">
          <a:xfrm flipH="1">
            <a:off x="9771095" y="1537987"/>
            <a:ext cx="17872" cy="3780000"/>
          </a:xfrm>
          <a:prstGeom prst="line">
            <a:avLst/>
          </a:prstGeom>
          <a:solidFill>
            <a:schemeClr val="bg1"/>
          </a:solidFill>
          <a:ln w="9525" cap="flat" cmpd="sng" algn="ctr">
            <a:solidFill>
              <a:schemeClr val="tx1">
                <a:alpha val="35000"/>
              </a:schemeClr>
            </a:solidFill>
            <a:prstDash val="sysDash"/>
            <a:round/>
            <a:headEnd type="none" w="med" len="med"/>
            <a:tailEnd type="none" w="med" len="med"/>
          </a:ln>
          <a:effectLst/>
        </p:spPr>
      </p:cxnSp>
      <p:sp>
        <p:nvSpPr>
          <p:cNvPr id="155" name="2017/8/9 18:33:352">
            <a:extLst>
              <a:ext uri="{FF2B5EF4-FFF2-40B4-BE49-F238E27FC236}">
                <a16:creationId xmlns:a16="http://schemas.microsoft.com/office/drawing/2014/main" id="{C381B883-6B0F-2EF4-A852-3E06CD80C700}"/>
              </a:ext>
            </a:extLst>
          </p:cNvPr>
          <p:cNvSpPr/>
          <p:nvPr/>
        </p:nvSpPr>
        <p:spPr>
          <a:xfrm>
            <a:off x="528320" y="5681494"/>
            <a:ext cx="10836275" cy="783303"/>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72009" tIns="72009" rIns="72009" bIns="72009" rtlCol="0" anchor="ctr">
            <a:noAutofit/>
          </a:bodyPr>
          <a:lstStyle/>
          <a:p>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注意：</a:t>
            </a:r>
          </a:p>
          <a:p>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①</a:t>
            </a:r>
            <a:r>
              <a:rPr lang="en-US" alt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 </a:t>
            </a:r>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推广原则：</a:t>
            </a:r>
            <a:r>
              <a:rPr lang="zh-CN" altLang="en-US" sz="1100" b="1" dirty="0">
                <a:solidFill>
                  <a:schemeClr val="accent5">
                    <a:lumMod val="50000"/>
                  </a:schemeClr>
                </a:solidFill>
                <a:latin typeface="微软雅黑" panose="020B0503020204020204" pitchFamily="34" charset="-122"/>
                <a:ea typeface="微软雅黑" panose="020B0503020204020204" pitchFamily="34" charset="-122"/>
                <a:sym typeface="+mn-ea"/>
              </a:rPr>
              <a:t>对于单一推广主体而言，</a:t>
            </a:r>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所有模块一次性推广；</a:t>
            </a:r>
          </a:p>
          <a:p>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②</a:t>
            </a:r>
            <a:r>
              <a:rPr lang="en-US" alt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 </a:t>
            </a:r>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方案巡讲确认阶段完成单位需求确认，不在上线前安排功能需求确认；</a:t>
            </a:r>
          </a:p>
          <a:p>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③</a:t>
            </a:r>
            <a:r>
              <a:rPr lang="en-US" alt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 </a:t>
            </a:r>
            <a:r>
              <a:rPr lang="zh-CN" sz="1100" b="1" dirty="0">
                <a:solidFill>
                  <a:schemeClr val="accent5">
                    <a:lumMod val="50000"/>
                  </a:schemeClr>
                </a:solidFill>
                <a:latin typeface="微软雅黑" panose="020B0503020204020204" pitchFamily="34" charset="-122"/>
                <a:ea typeface="微软雅黑" panose="020B0503020204020204" pitchFamily="34" charset="-122"/>
                <a:sym typeface="+mn-ea"/>
              </a:rPr>
              <a:t>上线首月月结结束后，进行运维移交后续运维由运维组负责。</a:t>
            </a:r>
          </a:p>
        </p:txBody>
      </p:sp>
      <p:graphicFrame>
        <p:nvGraphicFramePr>
          <p:cNvPr id="156" name="表格 155">
            <a:extLst>
              <a:ext uri="{FF2B5EF4-FFF2-40B4-BE49-F238E27FC236}">
                <a16:creationId xmlns:a16="http://schemas.microsoft.com/office/drawing/2014/main" id="{80E41248-1193-6D37-63F7-84590D857C13}"/>
              </a:ext>
            </a:extLst>
          </p:cNvPr>
          <p:cNvGraphicFramePr/>
          <p:nvPr>
            <p:custDataLst>
              <p:tags r:id="rId2"/>
            </p:custDataLst>
            <p:extLst>
              <p:ext uri="{D42A27DB-BD31-4B8C-83A1-F6EECF244321}">
                <p14:modId xmlns:p14="http://schemas.microsoft.com/office/powerpoint/2010/main" val="1551261920"/>
              </p:ext>
            </p:extLst>
          </p:nvPr>
        </p:nvGraphicFramePr>
        <p:xfrm>
          <a:off x="528320" y="1165225"/>
          <a:ext cx="2246630" cy="4552315"/>
        </p:xfrm>
        <a:graphic>
          <a:graphicData uri="http://schemas.openxmlformats.org/drawingml/2006/table">
            <a:tbl>
              <a:tblPr firstRow="1" bandRow="1">
                <a:tableStyleId>{5C22544A-7EE6-4342-B048-85BDC9FD1C3A}</a:tableStyleId>
              </a:tblPr>
              <a:tblGrid>
                <a:gridCol w="461010">
                  <a:extLst>
                    <a:ext uri="{9D8B030D-6E8A-4147-A177-3AD203B41FA5}">
                      <a16:colId xmlns:a16="http://schemas.microsoft.com/office/drawing/2014/main" val="20000"/>
                    </a:ext>
                  </a:extLst>
                </a:gridCol>
                <a:gridCol w="1785620">
                  <a:extLst>
                    <a:ext uri="{9D8B030D-6E8A-4147-A177-3AD203B41FA5}">
                      <a16:colId xmlns:a16="http://schemas.microsoft.com/office/drawing/2014/main" val="20001"/>
                    </a:ext>
                  </a:extLst>
                </a:gridCol>
              </a:tblGrid>
              <a:tr h="706755">
                <a:tc gridSpan="2">
                  <a:txBody>
                    <a:bodyPr/>
                    <a:lstStyle/>
                    <a:p>
                      <a:pPr algn="ctr">
                        <a:buNone/>
                      </a:pPr>
                      <a:r>
                        <a:rPr lang="zh-CN" altLang="en-US" sz="1400" dirty="0">
                          <a:solidFill>
                            <a:schemeClr val="bg1"/>
                          </a:solidFill>
                          <a:latin typeface="微软雅黑" panose="020B0503020204020204" pitchFamily="34" charset="-122"/>
                          <a:sym typeface="Arial" panose="020B0604020202020204" pitchFamily="34" charset="0"/>
                        </a:rPr>
                        <a:t>项目及关键任务描述</a:t>
                      </a:r>
                    </a:p>
                  </a:txBody>
                  <a:tcPr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tcPr>
                </a:tc>
                <a:tc hMerge="1">
                  <a:txBody>
                    <a:bodyPr/>
                    <a:lstStyle/>
                    <a:p>
                      <a:endParaRPr lang="zh-CN"/>
                    </a:p>
                  </a:txBody>
                  <a:tcPr anchor="ctr">
                    <a:lnL w="12700" cmpd="sng">
                      <a:solidFill>
                        <a:schemeClr val="tx1"/>
                      </a:solidFill>
                      <a:prstDash val="solid"/>
                    </a:lnL>
                    <a:lnR>
                      <a:noFill/>
                    </a:lnR>
                    <a:lnT>
                      <a:noFill/>
                    </a:lnT>
                    <a:lnB>
                      <a:noFill/>
                    </a:lnB>
                  </a:tcPr>
                </a:tc>
                <a:extLst>
                  <a:ext uri="{0D108BD9-81ED-4DB2-BD59-A6C34878D82A}">
                    <a16:rowId xmlns:a16="http://schemas.microsoft.com/office/drawing/2014/main" val="10000"/>
                  </a:ext>
                </a:extLst>
              </a:tr>
              <a:tr h="874395">
                <a:tc rowSpan="2">
                  <a:txBody>
                    <a:bodyPr/>
                    <a:lstStyle/>
                    <a:p>
                      <a:pPr algn="ctr">
                        <a:buNone/>
                      </a:pPr>
                      <a:endParaRPr lang="zh-CN" altLang="en-US" sz="1800" b="1" dirty="0">
                        <a:solidFill>
                          <a:schemeClr val="accent5">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tc>
                  <a:txBody>
                    <a:bodyPr/>
                    <a:lstStyle/>
                    <a:p>
                      <a:pPr algn="l">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1"/>
                  </a:ext>
                </a:extLst>
              </a:tr>
              <a:tr h="1183640">
                <a:tc vMerge="1">
                  <a:txBody>
                    <a:bodyPr/>
                    <a:lstStyle/>
                    <a:p>
                      <a:endParaRPr lang="zh-CN"/>
                    </a:p>
                  </a:txBody>
                  <a:tcPr vert="eaVert" anchor="ctr">
                    <a:lnL>
                      <a:noFill/>
                    </a:lnL>
                    <a:lnR>
                      <a:noFill/>
                    </a:lnR>
                    <a:lnT>
                      <a:noFill/>
                    </a:lnT>
                    <a:lnB>
                      <a:noFill/>
                    </a:lnB>
                    <a:lnTlToBr>
                      <a:noFill/>
                    </a:lnTlToBr>
                    <a:lnBlToTr>
                      <a:noFill/>
                    </a:lnBlToTr>
                  </a:tcPr>
                </a:tc>
                <a:tc>
                  <a:txBody>
                    <a:bodyPr/>
                    <a:lstStyle/>
                    <a:p>
                      <a:pPr lvl="0" algn="l">
                        <a:buClrTx/>
                        <a:buSzTx/>
                        <a:buFontTx/>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2"/>
                  </a:ext>
                </a:extLst>
              </a:tr>
              <a:tr h="336550">
                <a:tc rowSpan="6">
                  <a:txBody>
                    <a:bodyPr/>
                    <a:lstStyle/>
                    <a:p>
                      <a:pPr algn="ctr">
                        <a:buClrTx/>
                        <a:buSzTx/>
                        <a:buFontTx/>
                        <a:buNone/>
                      </a:pPr>
                      <a:endParaRPr lang="zh-CN" altLang="en-US" sz="1800" b="1" dirty="0">
                        <a:solidFill>
                          <a:schemeClr val="accent5">
                            <a:lumMod val="50000"/>
                          </a:schemeClr>
                        </a:solidFill>
                        <a:latin typeface="微软雅黑" panose="020B0503020204020204" pitchFamily="34" charset="-122"/>
                        <a:ea typeface="微软雅黑" panose="020B0503020204020204" pitchFamily="34" charset="-122"/>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tc>
                  <a:txBody>
                    <a:bodyPr/>
                    <a:lstStyle/>
                    <a:p>
                      <a:pPr>
                        <a:buNone/>
                      </a:pPr>
                      <a:endParaRPr lang="zh-CN"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3"/>
                  </a:ext>
                </a:extLst>
              </a:tr>
              <a:tr h="247650">
                <a:tc vMerge="1">
                  <a:txBody>
                    <a:bodyPr/>
                    <a:lstStyle/>
                    <a:p>
                      <a:endParaRPr lang="zh-CN"/>
                    </a:p>
                  </a:txBody>
                  <a:tcPr vert="eaVert" anchor="ctr">
                    <a:lnL>
                      <a:noFill/>
                    </a:lnL>
                    <a:lnR>
                      <a:noFill/>
                    </a:lnR>
                    <a:lnT>
                      <a:noFill/>
                    </a:lnT>
                    <a:lnB>
                      <a:noFill/>
                    </a:lnB>
                    <a:lnTlToBr>
                      <a:noFill/>
                    </a:lnTlToBr>
                    <a:lnBlToTr>
                      <a:noFill/>
                    </a:lnBlToTr>
                  </a:tcPr>
                </a:tc>
                <a:tc>
                  <a:txBody>
                    <a:bodyPr/>
                    <a:lstStyle/>
                    <a:p>
                      <a:pPr>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4"/>
                  </a:ext>
                </a:extLst>
              </a:tr>
              <a:tr h="333375">
                <a:tc vMerge="1">
                  <a:txBody>
                    <a:bodyPr/>
                    <a:lstStyle/>
                    <a:p>
                      <a:endParaRPr lang="zh-CN"/>
                    </a:p>
                  </a:txBody>
                  <a:tcPr vert="eaVert" anchor="ctr">
                    <a:lnL>
                      <a:noFill/>
                    </a:lnL>
                    <a:lnR>
                      <a:noFill/>
                    </a:lnR>
                    <a:lnT>
                      <a:noFill/>
                    </a:lnT>
                    <a:lnB>
                      <a:noFill/>
                    </a:lnB>
                    <a:lnTlToBr>
                      <a:noFill/>
                    </a:lnTlToBr>
                    <a:lnBlToTr>
                      <a:noFill/>
                    </a:lnBlToTr>
                  </a:tcPr>
                </a:tc>
                <a:tc>
                  <a:txBody>
                    <a:bodyPr/>
                    <a:lstStyle/>
                    <a:p>
                      <a:pPr>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5"/>
                  </a:ext>
                </a:extLst>
              </a:tr>
              <a:tr h="252730">
                <a:tc vMerge="1">
                  <a:txBody>
                    <a:bodyPr/>
                    <a:lstStyle/>
                    <a:p>
                      <a:endParaRPr lang="zh-CN"/>
                    </a:p>
                  </a:txBody>
                  <a:tcPr vert="eaVert" anchor="ctr">
                    <a:lnL>
                      <a:noFill/>
                    </a:lnL>
                    <a:lnR>
                      <a:noFill/>
                    </a:lnR>
                    <a:lnT>
                      <a:noFill/>
                    </a:lnT>
                    <a:lnB>
                      <a:noFill/>
                    </a:lnB>
                    <a:lnTlToBr>
                      <a:noFill/>
                    </a:lnTlToBr>
                    <a:lnBlToTr>
                      <a:noFill/>
                    </a:lnBlToTr>
                  </a:tcPr>
                </a:tc>
                <a:tc>
                  <a:txBody>
                    <a:bodyPr/>
                    <a:lstStyle/>
                    <a:p>
                      <a:pPr>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6"/>
                  </a:ext>
                </a:extLst>
              </a:tr>
              <a:tr h="281305">
                <a:tc vMerge="1">
                  <a:txBody>
                    <a:bodyPr/>
                    <a:lstStyle/>
                    <a:p>
                      <a:endParaRPr lang="zh-CN"/>
                    </a:p>
                  </a:txBody>
                  <a:tcPr vert="eaVert" anchor="ctr">
                    <a:lnL>
                      <a:noFill/>
                    </a:lnL>
                    <a:lnR>
                      <a:noFill/>
                    </a:lnR>
                    <a:lnT>
                      <a:noFill/>
                    </a:lnT>
                    <a:lnB>
                      <a:noFill/>
                    </a:lnB>
                    <a:lnTlToBr>
                      <a:noFill/>
                    </a:lnTlToBr>
                    <a:lnBlToTr>
                      <a:noFill/>
                    </a:lnBlToTr>
                  </a:tcPr>
                </a:tc>
                <a:tc>
                  <a:txBody>
                    <a:bodyPr/>
                    <a:lstStyle/>
                    <a:p>
                      <a:pPr algn="l" fontAlgn="ctr">
                        <a:buClrTx/>
                        <a:buSzTx/>
                        <a:buFontTx/>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10007"/>
                  </a:ext>
                </a:extLst>
              </a:tr>
              <a:tr h="287655">
                <a:tc vMerge="1">
                  <a:txBody>
                    <a:bodyPr/>
                    <a:lstStyle/>
                    <a:p>
                      <a:endParaRPr lang="zh-CN"/>
                    </a:p>
                  </a:txBody>
                  <a:tcPr>
                    <a:lnL>
                      <a:noFill/>
                    </a:lnL>
                    <a:lnR>
                      <a:noFill/>
                    </a:lnR>
                    <a:lnT>
                      <a:noFill/>
                    </a:lnT>
                    <a:lnB>
                      <a:noFill/>
                    </a:lnB>
                    <a:lnTlToBr>
                      <a:noFill/>
                    </a:lnTlToBr>
                    <a:lnBlToTr>
                      <a:noFill/>
                    </a:lnBlToTr>
                    <a:solidFill>
                      <a:schemeClr val="bg1">
                        <a:lumMod val="65000"/>
                      </a:schemeClr>
                    </a:solidFill>
                  </a:tcPr>
                </a:tc>
                <a:tc>
                  <a:txBody>
                    <a:bodyPr/>
                    <a:lstStyle/>
                    <a:p>
                      <a:pPr algn="l">
                        <a:buClrTx/>
                        <a:buSzTx/>
                        <a:buFontTx/>
                        <a:buNone/>
                      </a:pPr>
                      <a:endParaRPr lang="zh-CN" altLang="en-US" sz="1200" b="1" dirty="0">
                        <a:solidFill>
                          <a:schemeClr val="accent5">
                            <a:lumMod val="50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6FE"/>
                    </a:solidFill>
                  </a:tcPr>
                </a:tc>
                <a:extLst>
                  <a:ext uri="{0D108BD9-81ED-4DB2-BD59-A6C34878D82A}">
                    <a16:rowId xmlns:a16="http://schemas.microsoft.com/office/drawing/2014/main" val="10008"/>
                  </a:ext>
                </a:extLst>
              </a:tr>
            </a:tbl>
          </a:graphicData>
        </a:graphic>
      </p:graphicFrame>
      <p:sp>
        <p:nvSpPr>
          <p:cNvPr id="157" name="线形标注 1 110">
            <a:extLst>
              <a:ext uri="{FF2B5EF4-FFF2-40B4-BE49-F238E27FC236}">
                <a16:creationId xmlns:a16="http://schemas.microsoft.com/office/drawing/2014/main" id="{C618028E-6768-3C77-109B-A10A3FD9C99F}"/>
              </a:ext>
            </a:extLst>
          </p:cNvPr>
          <p:cNvSpPr/>
          <p:nvPr/>
        </p:nvSpPr>
        <p:spPr>
          <a:xfrm>
            <a:off x="7205345" y="1916430"/>
            <a:ext cx="2075180" cy="276225"/>
          </a:xfrm>
          <a:prstGeom prst="borderCallout1">
            <a:avLst>
              <a:gd name="adj1" fmla="val 56273"/>
              <a:gd name="adj2" fmla="val 1866"/>
              <a:gd name="adj3" fmla="val 122324"/>
              <a:gd name="adj4" fmla="val -18268"/>
            </a:avLst>
          </a:prstGeom>
          <a:gradFill>
            <a:gsLst>
              <a:gs pos="100000">
                <a:srgbClr val="FFC000"/>
              </a:gs>
              <a:gs pos="100000">
                <a:schemeClr val="accent1">
                  <a:tint val="50000"/>
                  <a:shade val="100000"/>
                  <a:satMod val="350000"/>
                </a:schemeClr>
              </a:gs>
            </a:gsLst>
          </a:gra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nchorCtr="0"/>
          <a:lstStyle/>
          <a:p>
            <a:pPr algn="ctr"/>
            <a:r>
              <a:rPr lang="zh-CN" altLang="en-US" sz="1000" b="1"/>
              <a:t>回访的功能优化计入统一排期</a:t>
            </a:r>
          </a:p>
        </p:txBody>
      </p:sp>
      <p:sp>
        <p:nvSpPr>
          <p:cNvPr id="158" name="Rectangle 164">
            <a:extLst>
              <a:ext uri="{FF2B5EF4-FFF2-40B4-BE49-F238E27FC236}">
                <a16:creationId xmlns:a16="http://schemas.microsoft.com/office/drawing/2014/main" id="{C8A13C65-884A-F636-E17D-E0442D44F777}"/>
              </a:ext>
            </a:extLst>
          </p:cNvPr>
          <p:cNvSpPr>
            <a:spLocks noChangeArrowheads="1"/>
          </p:cNvSpPr>
          <p:nvPr/>
        </p:nvSpPr>
        <p:spPr bwMode="gray">
          <a:xfrm>
            <a:off x="4782820" y="1863531"/>
            <a:ext cx="753745"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方案确认</a:t>
            </a:r>
          </a:p>
        </p:txBody>
      </p:sp>
      <p:sp>
        <p:nvSpPr>
          <p:cNvPr id="159" name="Rectangle 164">
            <a:extLst>
              <a:ext uri="{FF2B5EF4-FFF2-40B4-BE49-F238E27FC236}">
                <a16:creationId xmlns:a16="http://schemas.microsoft.com/office/drawing/2014/main" id="{6E3F81A6-E6C0-EA6A-3D9A-D4169EB15A6A}"/>
              </a:ext>
            </a:extLst>
          </p:cNvPr>
          <p:cNvSpPr>
            <a:spLocks noChangeArrowheads="1"/>
          </p:cNvSpPr>
          <p:nvPr/>
        </p:nvSpPr>
        <p:spPr bwMode="gray">
          <a:xfrm>
            <a:off x="5549900" y="1868611"/>
            <a:ext cx="1222451"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功能优化确认</a:t>
            </a:r>
          </a:p>
        </p:txBody>
      </p:sp>
      <p:grpSp>
        <p:nvGrpSpPr>
          <p:cNvPr id="160" name="组合 159">
            <a:extLst>
              <a:ext uri="{FF2B5EF4-FFF2-40B4-BE49-F238E27FC236}">
                <a16:creationId xmlns:a16="http://schemas.microsoft.com/office/drawing/2014/main" id="{162028F4-BB2B-8D40-3294-3DF53ADD919C}"/>
              </a:ext>
            </a:extLst>
          </p:cNvPr>
          <p:cNvGrpSpPr/>
          <p:nvPr/>
        </p:nvGrpSpPr>
        <p:grpSpPr>
          <a:xfrm>
            <a:off x="5283835" y="2164962"/>
            <a:ext cx="1522730" cy="273050"/>
            <a:chOff x="7182" y="2791"/>
            <a:chExt cx="2398" cy="430"/>
          </a:xfrm>
          <a:solidFill>
            <a:schemeClr val="accent3"/>
          </a:solidFill>
        </p:grpSpPr>
        <p:sp>
          <p:nvSpPr>
            <p:cNvPr id="161" name="Rectangle 164">
              <a:extLst>
                <a:ext uri="{FF2B5EF4-FFF2-40B4-BE49-F238E27FC236}">
                  <a16:creationId xmlns:a16="http://schemas.microsoft.com/office/drawing/2014/main" id="{AA4E3B97-C23E-272C-5946-4568DF81AA97}"/>
                </a:ext>
              </a:extLst>
            </p:cNvPr>
            <p:cNvSpPr>
              <a:spLocks noChangeArrowheads="1"/>
            </p:cNvSpPr>
            <p:nvPr/>
          </p:nvSpPr>
          <p:spPr bwMode="gray">
            <a:xfrm>
              <a:off x="8781" y="2791"/>
              <a:ext cx="799" cy="43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回访</a:t>
              </a:r>
            </a:p>
          </p:txBody>
        </p:sp>
        <p:sp>
          <p:nvSpPr>
            <p:cNvPr id="162" name="Rectangle 164">
              <a:extLst>
                <a:ext uri="{FF2B5EF4-FFF2-40B4-BE49-F238E27FC236}">
                  <a16:creationId xmlns:a16="http://schemas.microsoft.com/office/drawing/2014/main" id="{E6A03FD3-DF2A-FCDE-8667-A1236A9B87AF}"/>
                </a:ext>
              </a:extLst>
            </p:cNvPr>
            <p:cNvSpPr>
              <a:spLocks noChangeArrowheads="1"/>
            </p:cNvSpPr>
            <p:nvPr/>
          </p:nvSpPr>
          <p:spPr bwMode="gray">
            <a:xfrm>
              <a:off x="7182" y="2791"/>
              <a:ext cx="1568" cy="43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一批</a:t>
              </a:r>
            </a:p>
          </p:txBody>
        </p:sp>
      </p:grpSp>
      <p:grpSp>
        <p:nvGrpSpPr>
          <p:cNvPr id="163" name="组合 162">
            <a:extLst>
              <a:ext uri="{FF2B5EF4-FFF2-40B4-BE49-F238E27FC236}">
                <a16:creationId xmlns:a16="http://schemas.microsoft.com/office/drawing/2014/main" id="{0D25B546-BE87-BD15-1D5E-E8B0DEDBDF9E}"/>
              </a:ext>
            </a:extLst>
          </p:cNvPr>
          <p:cNvGrpSpPr/>
          <p:nvPr/>
        </p:nvGrpSpPr>
        <p:grpSpPr>
          <a:xfrm>
            <a:off x="6577965" y="2453693"/>
            <a:ext cx="1713865" cy="273050"/>
            <a:chOff x="7676" y="2791"/>
            <a:chExt cx="2699" cy="430"/>
          </a:xfrm>
          <a:solidFill>
            <a:schemeClr val="accent3"/>
          </a:solidFill>
        </p:grpSpPr>
        <p:sp>
          <p:nvSpPr>
            <p:cNvPr id="164" name="Rectangle 164">
              <a:extLst>
                <a:ext uri="{FF2B5EF4-FFF2-40B4-BE49-F238E27FC236}">
                  <a16:creationId xmlns:a16="http://schemas.microsoft.com/office/drawing/2014/main" id="{7050994E-5152-6903-1922-6F8F24391F83}"/>
                </a:ext>
              </a:extLst>
            </p:cNvPr>
            <p:cNvSpPr>
              <a:spLocks noChangeArrowheads="1"/>
            </p:cNvSpPr>
            <p:nvPr/>
          </p:nvSpPr>
          <p:spPr bwMode="gray">
            <a:xfrm>
              <a:off x="9576" y="2791"/>
              <a:ext cx="799" cy="43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回访</a:t>
              </a:r>
            </a:p>
          </p:txBody>
        </p:sp>
        <p:sp>
          <p:nvSpPr>
            <p:cNvPr id="165" name="Rectangle 164">
              <a:extLst>
                <a:ext uri="{FF2B5EF4-FFF2-40B4-BE49-F238E27FC236}">
                  <a16:creationId xmlns:a16="http://schemas.microsoft.com/office/drawing/2014/main" id="{E7534ED4-327C-5145-DBE6-E6B7F6D6A9B0}"/>
                </a:ext>
              </a:extLst>
            </p:cNvPr>
            <p:cNvSpPr>
              <a:spLocks noChangeArrowheads="1"/>
            </p:cNvSpPr>
            <p:nvPr/>
          </p:nvSpPr>
          <p:spPr bwMode="gray">
            <a:xfrm>
              <a:off x="7676" y="2791"/>
              <a:ext cx="1869" cy="43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一批推广上线（正式）</a:t>
              </a:r>
            </a:p>
          </p:txBody>
        </p:sp>
      </p:grpSp>
      <p:sp>
        <p:nvSpPr>
          <p:cNvPr id="166" name="Rectangle 164">
            <a:extLst>
              <a:ext uri="{FF2B5EF4-FFF2-40B4-BE49-F238E27FC236}">
                <a16:creationId xmlns:a16="http://schemas.microsoft.com/office/drawing/2014/main" id="{3CBEBE0D-CA01-75C2-A113-4CD2ECD1CF85}"/>
              </a:ext>
            </a:extLst>
          </p:cNvPr>
          <p:cNvSpPr>
            <a:spLocks noChangeArrowheads="1"/>
          </p:cNvSpPr>
          <p:nvPr/>
        </p:nvSpPr>
        <p:spPr bwMode="gray">
          <a:xfrm>
            <a:off x="6282055" y="2746181"/>
            <a:ext cx="1491615"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方案巡讲确认</a:t>
            </a:r>
          </a:p>
        </p:txBody>
      </p:sp>
      <p:sp>
        <p:nvSpPr>
          <p:cNvPr id="167" name="Rectangle 164">
            <a:extLst>
              <a:ext uri="{FF2B5EF4-FFF2-40B4-BE49-F238E27FC236}">
                <a16:creationId xmlns:a16="http://schemas.microsoft.com/office/drawing/2014/main" id="{0923B113-FED1-706A-AD09-8E3A3B50068B}"/>
              </a:ext>
            </a:extLst>
          </p:cNvPr>
          <p:cNvSpPr>
            <a:spLocks noChangeArrowheads="1"/>
          </p:cNvSpPr>
          <p:nvPr/>
        </p:nvSpPr>
        <p:spPr bwMode="gray">
          <a:xfrm>
            <a:off x="6765290" y="3040433"/>
            <a:ext cx="4026535" cy="273050"/>
          </a:xfrm>
          <a:prstGeom prst="rect">
            <a:avLst/>
          </a:prstGeom>
          <a:solidFill>
            <a:srgbClr val="1771EA"/>
          </a:solidFill>
          <a:ln w="0" cmpd="sng">
            <a:solidFill>
              <a:srgbClr val="D8D8D8"/>
            </a:solidFill>
            <a:prstDash val="solid"/>
            <a:miter lim="800000"/>
          </a:ln>
        </p:spPr>
        <p:txBody>
          <a:bodyPr wrap="none" lIns="83077" tIns="43200" rIns="83077" bIns="43200" anchor="ctr"/>
          <a:lstStyle/>
          <a:p>
            <a:pPr algn="ctr" defTabSz="843915" fontAlgn="base">
              <a:spcBef>
                <a:spcPct val="0"/>
              </a:spcBef>
              <a:spcAft>
                <a:spcPct val="0"/>
              </a:spcAft>
            </a:pPr>
            <a:r>
              <a:rPr lang="zh-CN" altLang="en-US" sz="800" b="1" dirty="0">
                <a:solidFill>
                  <a:srgbClr val="FFFFFF"/>
                </a:solidFill>
                <a:latin typeface="微软雅黑" panose="020B0503020204020204" pitchFamily="34" charset="-122"/>
                <a:ea typeface="微软雅黑" panose="020B0503020204020204" pitchFamily="34" charset="-122"/>
              </a:rPr>
              <a:t>功能优化分批次确认和发版</a:t>
            </a:r>
          </a:p>
        </p:txBody>
      </p:sp>
      <p:sp>
        <p:nvSpPr>
          <p:cNvPr id="168" name="Rectangle 164">
            <a:extLst>
              <a:ext uri="{FF2B5EF4-FFF2-40B4-BE49-F238E27FC236}">
                <a16:creationId xmlns:a16="http://schemas.microsoft.com/office/drawing/2014/main" id="{89A4EC72-5789-5063-D5BC-90E18E6F7164}"/>
              </a:ext>
            </a:extLst>
          </p:cNvPr>
          <p:cNvSpPr>
            <a:spLocks noChangeArrowheads="1"/>
          </p:cNvSpPr>
          <p:nvPr/>
        </p:nvSpPr>
        <p:spPr bwMode="gray">
          <a:xfrm>
            <a:off x="9286981" y="3325548"/>
            <a:ext cx="503569" cy="28800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回访</a:t>
            </a:r>
          </a:p>
        </p:txBody>
      </p:sp>
      <p:sp>
        <p:nvSpPr>
          <p:cNvPr id="169" name="Rectangle 164">
            <a:extLst>
              <a:ext uri="{FF2B5EF4-FFF2-40B4-BE49-F238E27FC236}">
                <a16:creationId xmlns:a16="http://schemas.microsoft.com/office/drawing/2014/main" id="{017310E2-FA2F-637E-7947-2413DB82E531}"/>
              </a:ext>
            </a:extLst>
          </p:cNvPr>
          <p:cNvSpPr>
            <a:spLocks noChangeArrowheads="1"/>
          </p:cNvSpPr>
          <p:nvPr/>
        </p:nvSpPr>
        <p:spPr bwMode="gray">
          <a:xfrm>
            <a:off x="7798858" y="3325548"/>
            <a:ext cx="1474107" cy="288000"/>
          </a:xfrm>
          <a:prstGeom prst="rect">
            <a:avLst/>
          </a:prstGeom>
          <a:solidFill>
            <a:srgbClr val="1771EA"/>
          </a:solidFill>
          <a:ln w="0" cmpd="sng">
            <a:solidFill>
              <a:srgbClr val="D8D8D8"/>
            </a:solidFill>
            <a:prstDash val="solid"/>
            <a:miter lim="800000"/>
          </a:ln>
        </p:spPr>
        <p:txBody>
          <a:bodyPr wrap="none" lIns="83077" tIns="43200" rIns="83077" bIns="43200" anchor="ctr"/>
          <a:lstStyle/>
          <a:p>
            <a:pPr algn="ctr" defTabSz="843915" fontAlgn="base">
              <a:spcBef>
                <a:spcPct val="0"/>
              </a:spcBef>
              <a:spcAft>
                <a:spcPct val="0"/>
              </a:spcAft>
            </a:pPr>
            <a:r>
              <a:rPr lang="zh-CN" altLang="en-US" sz="800" b="1" dirty="0">
                <a:solidFill>
                  <a:srgbClr val="FFFFFF"/>
                </a:solidFill>
                <a:latin typeface="微软雅黑" panose="020B0503020204020204" pitchFamily="34" charset="-122"/>
                <a:ea typeface="微软雅黑" panose="020B0503020204020204" pitchFamily="34" charset="-122"/>
              </a:rPr>
              <a:t>推广上线（试点）</a:t>
            </a:r>
          </a:p>
        </p:txBody>
      </p:sp>
      <p:sp>
        <p:nvSpPr>
          <p:cNvPr id="170" name="Rectangle 164">
            <a:extLst>
              <a:ext uri="{FF2B5EF4-FFF2-40B4-BE49-F238E27FC236}">
                <a16:creationId xmlns:a16="http://schemas.microsoft.com/office/drawing/2014/main" id="{5E5698C4-D92C-D871-9A6D-323C08894823}"/>
              </a:ext>
            </a:extLst>
          </p:cNvPr>
          <p:cNvSpPr>
            <a:spLocks noChangeArrowheads="1"/>
          </p:cNvSpPr>
          <p:nvPr/>
        </p:nvSpPr>
        <p:spPr bwMode="gray">
          <a:xfrm>
            <a:off x="9286981" y="3624271"/>
            <a:ext cx="1476741" cy="288000"/>
          </a:xfrm>
          <a:prstGeom prst="rect">
            <a:avLst/>
          </a:prstGeom>
          <a:solidFill>
            <a:srgbClr val="1771EA"/>
          </a:solidFill>
          <a:ln w="0" cmpd="sng">
            <a:solidFill>
              <a:srgbClr val="D8D8D8"/>
            </a:solidFill>
            <a:prstDash val="solid"/>
            <a:miter lim="800000"/>
          </a:ln>
        </p:spPr>
        <p:txBody>
          <a:bodyPr wrap="none" lIns="83077" tIns="43200" rIns="83077" bIns="43200" anchor="ctr"/>
          <a:lstStyle/>
          <a:p>
            <a:pPr algn="ctr" defTabSz="843915" fontAlgn="base">
              <a:spcBef>
                <a:spcPct val="0"/>
              </a:spcBef>
              <a:spcAft>
                <a:spcPct val="0"/>
              </a:spcAft>
            </a:pPr>
            <a:r>
              <a:rPr lang="zh-CN" altLang="en-US" sz="800" b="1" dirty="0">
                <a:solidFill>
                  <a:srgbClr val="FFFFFF"/>
                </a:solidFill>
                <a:latin typeface="微软雅黑" panose="020B0503020204020204" pitchFamily="34" charset="-122"/>
                <a:ea typeface="微软雅黑" panose="020B0503020204020204" pitchFamily="34" charset="-122"/>
              </a:rPr>
              <a:t>推广上线（正式）</a:t>
            </a:r>
          </a:p>
        </p:txBody>
      </p:sp>
      <p:sp>
        <p:nvSpPr>
          <p:cNvPr id="171" name="Rectangle 164">
            <a:extLst>
              <a:ext uri="{FF2B5EF4-FFF2-40B4-BE49-F238E27FC236}">
                <a16:creationId xmlns:a16="http://schemas.microsoft.com/office/drawing/2014/main" id="{8D667C44-A5BE-5A34-F585-4CB2D1C0DEA7}"/>
              </a:ext>
            </a:extLst>
          </p:cNvPr>
          <p:cNvSpPr>
            <a:spLocks noChangeArrowheads="1"/>
          </p:cNvSpPr>
          <p:nvPr/>
        </p:nvSpPr>
        <p:spPr bwMode="gray">
          <a:xfrm>
            <a:off x="10781803" y="3624271"/>
            <a:ext cx="477741" cy="28800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回访</a:t>
            </a:r>
          </a:p>
        </p:txBody>
      </p:sp>
      <p:sp>
        <p:nvSpPr>
          <p:cNvPr id="172" name="线形标注 1 89">
            <a:extLst>
              <a:ext uri="{FF2B5EF4-FFF2-40B4-BE49-F238E27FC236}">
                <a16:creationId xmlns:a16="http://schemas.microsoft.com/office/drawing/2014/main" id="{C6059D3D-DDC4-539F-1D10-4C635DAE5B96}"/>
              </a:ext>
            </a:extLst>
          </p:cNvPr>
          <p:cNvSpPr/>
          <p:nvPr/>
        </p:nvSpPr>
        <p:spPr>
          <a:xfrm>
            <a:off x="3088005" y="2147570"/>
            <a:ext cx="1710055" cy="344170"/>
          </a:xfrm>
          <a:prstGeom prst="borderCallout1">
            <a:avLst>
              <a:gd name="adj1" fmla="val 46863"/>
              <a:gd name="adj2" fmla="val 98675"/>
              <a:gd name="adj3" fmla="val 41143"/>
              <a:gd name="adj4" fmla="val 128852"/>
            </a:avLst>
          </a:prstGeom>
          <a:gradFill>
            <a:gsLst>
              <a:gs pos="100000">
                <a:srgbClr val="FFC000"/>
              </a:gs>
              <a:gs pos="100000">
                <a:schemeClr val="accent1">
                  <a:tint val="50000"/>
                  <a:shade val="100000"/>
                  <a:satMod val="350000"/>
                </a:schemeClr>
              </a:gs>
            </a:gsLst>
          </a:gra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nchorCtr="0"/>
          <a:lstStyle/>
          <a:p>
            <a:pPr algn="ctr"/>
            <a:r>
              <a:rPr lang="zh-CN" altLang="en-US" sz="1000" b="1"/>
              <a:t>无需功能优化批，非主业、已上线</a:t>
            </a:r>
          </a:p>
        </p:txBody>
      </p:sp>
      <p:sp>
        <p:nvSpPr>
          <p:cNvPr id="174" name="线形标注 1 92">
            <a:extLst>
              <a:ext uri="{FF2B5EF4-FFF2-40B4-BE49-F238E27FC236}">
                <a16:creationId xmlns:a16="http://schemas.microsoft.com/office/drawing/2014/main" id="{D811E308-9A72-D1DA-BE9B-F960A6750A0B}"/>
              </a:ext>
            </a:extLst>
          </p:cNvPr>
          <p:cNvSpPr/>
          <p:nvPr/>
        </p:nvSpPr>
        <p:spPr>
          <a:xfrm>
            <a:off x="8392160" y="2589530"/>
            <a:ext cx="2336800" cy="295275"/>
          </a:xfrm>
          <a:prstGeom prst="borderCallout1">
            <a:avLst>
              <a:gd name="adj1" fmla="val 56273"/>
              <a:gd name="adj2" fmla="val 1866"/>
              <a:gd name="adj3" fmla="val 100645"/>
              <a:gd name="adj4" fmla="val -27282"/>
            </a:avLst>
          </a:prstGeom>
          <a:gradFill>
            <a:gsLst>
              <a:gs pos="100000">
                <a:srgbClr val="FFC000"/>
              </a:gs>
              <a:gs pos="100000">
                <a:schemeClr val="accent1">
                  <a:tint val="50000"/>
                  <a:shade val="100000"/>
                  <a:satMod val="350000"/>
                </a:schemeClr>
              </a:gs>
            </a:gsLst>
          </a:gra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nchorCtr="0"/>
          <a:lstStyle/>
          <a:p>
            <a:pPr algn="ctr"/>
            <a:r>
              <a:rPr lang="zh-CN" altLang="en-US" sz="1000" b="1" dirty="0"/>
              <a:t>组织</a:t>
            </a:r>
          </a:p>
        </p:txBody>
      </p:sp>
      <p:sp>
        <p:nvSpPr>
          <p:cNvPr id="175" name="矩形 174">
            <a:extLst>
              <a:ext uri="{FF2B5EF4-FFF2-40B4-BE49-F238E27FC236}">
                <a16:creationId xmlns:a16="http://schemas.microsoft.com/office/drawing/2014/main" id="{1045EAB2-EE2B-C5E1-D0C2-ADCBCDC409AA}"/>
              </a:ext>
            </a:extLst>
          </p:cNvPr>
          <p:cNvSpPr/>
          <p:nvPr/>
        </p:nvSpPr>
        <p:spPr>
          <a:xfrm>
            <a:off x="2783205" y="3938615"/>
            <a:ext cx="9021235" cy="1778925"/>
          </a:xfrm>
          <a:prstGeom prst="rect">
            <a:avLst/>
          </a:prstGeom>
          <a:gradFill>
            <a:gsLst>
              <a:gs pos="0">
                <a:schemeClr val="accent1">
                  <a:tint val="100000"/>
                  <a:shade val="100000"/>
                  <a:satMod val="130000"/>
                  <a:alpha val="18000"/>
                </a:schemeClr>
              </a:gs>
              <a:gs pos="100000">
                <a:schemeClr val="accent1">
                  <a:tint val="50000"/>
                  <a:shade val="100000"/>
                  <a:satMod val="350000"/>
                  <a:alpha val="39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76" name="Rectangle 164">
            <a:extLst>
              <a:ext uri="{FF2B5EF4-FFF2-40B4-BE49-F238E27FC236}">
                <a16:creationId xmlns:a16="http://schemas.microsoft.com/office/drawing/2014/main" id="{C89D268B-C2B3-F5C2-B1B3-0B1E0AA77EFB}"/>
              </a:ext>
            </a:extLst>
          </p:cNvPr>
          <p:cNvSpPr>
            <a:spLocks noChangeArrowheads="1"/>
          </p:cNvSpPr>
          <p:nvPr/>
        </p:nvSpPr>
        <p:spPr bwMode="gray">
          <a:xfrm>
            <a:off x="8284791" y="3945049"/>
            <a:ext cx="2503170"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p>
        </p:txBody>
      </p:sp>
      <p:sp>
        <p:nvSpPr>
          <p:cNvPr id="177" name="Rectangle 164">
            <a:extLst>
              <a:ext uri="{FF2B5EF4-FFF2-40B4-BE49-F238E27FC236}">
                <a16:creationId xmlns:a16="http://schemas.microsoft.com/office/drawing/2014/main" id="{342A18B1-60EE-CACC-E462-B921DAE1AF23}"/>
              </a:ext>
            </a:extLst>
          </p:cNvPr>
          <p:cNvSpPr>
            <a:spLocks noChangeArrowheads="1"/>
          </p:cNvSpPr>
          <p:nvPr/>
        </p:nvSpPr>
        <p:spPr bwMode="gray">
          <a:xfrm>
            <a:off x="6784340" y="4228894"/>
            <a:ext cx="1504950"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endParaRPr lang="zh-CN" altLang="en-US" sz="800" b="1" dirty="0">
              <a:solidFill>
                <a:srgbClr val="FFFFFF"/>
              </a:solidFill>
              <a:latin typeface="微软雅黑" panose="020B0503020204020204" pitchFamily="34" charset="-122"/>
              <a:ea typeface="微软雅黑" panose="020B0503020204020204" pitchFamily="34" charset="-122"/>
              <a:sym typeface="+mn-ea"/>
            </a:endParaRPr>
          </a:p>
        </p:txBody>
      </p:sp>
      <p:sp>
        <p:nvSpPr>
          <p:cNvPr id="178" name="Rectangle 164">
            <a:extLst>
              <a:ext uri="{FF2B5EF4-FFF2-40B4-BE49-F238E27FC236}">
                <a16:creationId xmlns:a16="http://schemas.microsoft.com/office/drawing/2014/main" id="{AAF41284-9A2C-B090-630D-4ACC61AC1476}"/>
              </a:ext>
            </a:extLst>
          </p:cNvPr>
          <p:cNvSpPr>
            <a:spLocks noChangeArrowheads="1"/>
          </p:cNvSpPr>
          <p:nvPr/>
        </p:nvSpPr>
        <p:spPr bwMode="gray">
          <a:xfrm>
            <a:off x="6278880" y="4523534"/>
            <a:ext cx="1507490"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endParaRPr lang="zh-CN" altLang="en-US" sz="800" b="1" dirty="0">
              <a:solidFill>
                <a:srgbClr val="FFFFFF"/>
              </a:solidFill>
              <a:latin typeface="微软雅黑" panose="020B0503020204020204" pitchFamily="34" charset="-122"/>
              <a:ea typeface="微软雅黑" panose="020B0503020204020204" pitchFamily="34" charset="-122"/>
              <a:sym typeface="+mn-ea"/>
            </a:endParaRPr>
          </a:p>
        </p:txBody>
      </p:sp>
      <p:sp>
        <p:nvSpPr>
          <p:cNvPr id="179" name="Rectangle 164">
            <a:extLst>
              <a:ext uri="{FF2B5EF4-FFF2-40B4-BE49-F238E27FC236}">
                <a16:creationId xmlns:a16="http://schemas.microsoft.com/office/drawing/2014/main" id="{77E1E06D-B988-C226-E885-D843E2D9C18B}"/>
              </a:ext>
            </a:extLst>
          </p:cNvPr>
          <p:cNvSpPr>
            <a:spLocks noChangeArrowheads="1"/>
          </p:cNvSpPr>
          <p:nvPr/>
        </p:nvSpPr>
        <p:spPr bwMode="gray">
          <a:xfrm>
            <a:off x="4770120" y="4816710"/>
            <a:ext cx="1502410"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endParaRPr lang="zh-CN" altLang="en-US" sz="800" b="1" dirty="0">
              <a:solidFill>
                <a:srgbClr val="FFFFFF"/>
              </a:solidFill>
              <a:latin typeface="微软雅黑" panose="020B0503020204020204" pitchFamily="34" charset="-122"/>
              <a:ea typeface="微软雅黑" panose="020B0503020204020204" pitchFamily="34" charset="-122"/>
              <a:sym typeface="+mn-ea"/>
            </a:endParaRPr>
          </a:p>
        </p:txBody>
      </p:sp>
      <p:sp>
        <p:nvSpPr>
          <p:cNvPr id="180" name="Rectangle 164">
            <a:extLst>
              <a:ext uri="{FF2B5EF4-FFF2-40B4-BE49-F238E27FC236}">
                <a16:creationId xmlns:a16="http://schemas.microsoft.com/office/drawing/2014/main" id="{4F2C6BFB-76C5-2A23-50C8-F8DD94A9D292}"/>
              </a:ext>
            </a:extLst>
          </p:cNvPr>
          <p:cNvSpPr>
            <a:spLocks noChangeArrowheads="1"/>
          </p:cNvSpPr>
          <p:nvPr/>
        </p:nvSpPr>
        <p:spPr bwMode="gray">
          <a:xfrm>
            <a:off x="5274920" y="5091224"/>
            <a:ext cx="1973460"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endParaRPr lang="zh-CN" altLang="en-US" sz="800" b="1" dirty="0">
              <a:solidFill>
                <a:srgbClr val="FFFFFF"/>
              </a:solidFill>
              <a:latin typeface="微软雅黑" panose="020B0503020204020204" pitchFamily="34" charset="-122"/>
              <a:ea typeface="微软雅黑" panose="020B0503020204020204" pitchFamily="34" charset="-122"/>
              <a:sym typeface="+mn-ea"/>
            </a:endParaRPr>
          </a:p>
        </p:txBody>
      </p:sp>
      <p:sp>
        <p:nvSpPr>
          <p:cNvPr id="181" name="Rectangle 164">
            <a:extLst>
              <a:ext uri="{FF2B5EF4-FFF2-40B4-BE49-F238E27FC236}">
                <a16:creationId xmlns:a16="http://schemas.microsoft.com/office/drawing/2014/main" id="{37D09BD0-4ADE-0FA5-D176-5D5FC4754CC0}"/>
              </a:ext>
            </a:extLst>
          </p:cNvPr>
          <p:cNvSpPr>
            <a:spLocks noChangeArrowheads="1"/>
          </p:cNvSpPr>
          <p:nvPr/>
        </p:nvSpPr>
        <p:spPr bwMode="gray">
          <a:xfrm>
            <a:off x="7762875" y="5373605"/>
            <a:ext cx="2503805" cy="28800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调研、方案、开发、</a:t>
            </a:r>
            <a:r>
              <a:rPr lang="en-US" altLang="zh-CN" sz="800" b="1" dirty="0">
                <a:solidFill>
                  <a:srgbClr val="FFFFFF"/>
                </a:solidFill>
                <a:latin typeface="微软雅黑" panose="020B0503020204020204" pitchFamily="34" charset="-122"/>
                <a:ea typeface="微软雅黑" panose="020B0503020204020204" pitchFamily="34" charset="-122"/>
                <a:sym typeface="+mn-ea"/>
              </a:rPr>
              <a:t>UAT</a:t>
            </a:r>
            <a:endParaRPr lang="zh-CN" altLang="en-US" sz="800" b="1" dirty="0">
              <a:solidFill>
                <a:srgbClr val="FFFFFF"/>
              </a:solidFill>
              <a:latin typeface="微软雅黑" panose="020B0503020204020204" pitchFamily="34" charset="-122"/>
              <a:ea typeface="微软雅黑" panose="020B0503020204020204" pitchFamily="34" charset="-122"/>
              <a:sym typeface="+mn-ea"/>
            </a:endParaRPr>
          </a:p>
        </p:txBody>
      </p:sp>
      <p:sp>
        <p:nvSpPr>
          <p:cNvPr id="182" name="Rectangle 164">
            <a:extLst>
              <a:ext uri="{FF2B5EF4-FFF2-40B4-BE49-F238E27FC236}">
                <a16:creationId xmlns:a16="http://schemas.microsoft.com/office/drawing/2014/main" id="{466487C8-2747-499F-9D4D-BF8C1997C7A8}"/>
              </a:ext>
            </a:extLst>
          </p:cNvPr>
          <p:cNvSpPr>
            <a:spLocks noChangeArrowheads="1"/>
          </p:cNvSpPr>
          <p:nvPr/>
        </p:nvSpPr>
        <p:spPr bwMode="gray">
          <a:xfrm>
            <a:off x="10801623" y="3945049"/>
            <a:ext cx="997947"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3" name="Rectangle 164">
            <a:extLst>
              <a:ext uri="{FF2B5EF4-FFF2-40B4-BE49-F238E27FC236}">
                <a16:creationId xmlns:a16="http://schemas.microsoft.com/office/drawing/2014/main" id="{CA10CEF8-79BD-2316-44D4-8B426E2B852A}"/>
              </a:ext>
            </a:extLst>
          </p:cNvPr>
          <p:cNvSpPr>
            <a:spLocks noChangeArrowheads="1"/>
          </p:cNvSpPr>
          <p:nvPr/>
        </p:nvSpPr>
        <p:spPr bwMode="gray">
          <a:xfrm>
            <a:off x="8280206" y="4228894"/>
            <a:ext cx="1035495"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4" name="Rectangle 164">
            <a:extLst>
              <a:ext uri="{FF2B5EF4-FFF2-40B4-BE49-F238E27FC236}">
                <a16:creationId xmlns:a16="http://schemas.microsoft.com/office/drawing/2014/main" id="{256EC572-6677-D87A-D355-068673CDED0B}"/>
              </a:ext>
            </a:extLst>
          </p:cNvPr>
          <p:cNvSpPr>
            <a:spLocks noChangeArrowheads="1"/>
          </p:cNvSpPr>
          <p:nvPr/>
        </p:nvSpPr>
        <p:spPr bwMode="gray">
          <a:xfrm>
            <a:off x="7781925" y="4523534"/>
            <a:ext cx="998205"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5" name="Rectangle 164">
            <a:extLst>
              <a:ext uri="{FF2B5EF4-FFF2-40B4-BE49-F238E27FC236}">
                <a16:creationId xmlns:a16="http://schemas.microsoft.com/office/drawing/2014/main" id="{764BE0A6-DC2C-B8CE-2BA7-BC49F7972665}"/>
              </a:ext>
            </a:extLst>
          </p:cNvPr>
          <p:cNvSpPr>
            <a:spLocks noChangeArrowheads="1"/>
          </p:cNvSpPr>
          <p:nvPr/>
        </p:nvSpPr>
        <p:spPr bwMode="gray">
          <a:xfrm>
            <a:off x="6285918" y="4816710"/>
            <a:ext cx="983629"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6" name="Rectangle 164">
            <a:extLst>
              <a:ext uri="{FF2B5EF4-FFF2-40B4-BE49-F238E27FC236}">
                <a16:creationId xmlns:a16="http://schemas.microsoft.com/office/drawing/2014/main" id="{A3E6D2C6-D30B-F42F-4C3C-F24A06DB41E7}"/>
              </a:ext>
            </a:extLst>
          </p:cNvPr>
          <p:cNvSpPr>
            <a:spLocks noChangeArrowheads="1"/>
          </p:cNvSpPr>
          <p:nvPr/>
        </p:nvSpPr>
        <p:spPr bwMode="gray">
          <a:xfrm>
            <a:off x="7276925" y="5096304"/>
            <a:ext cx="999289" cy="27305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7" name="Rectangle 164">
            <a:extLst>
              <a:ext uri="{FF2B5EF4-FFF2-40B4-BE49-F238E27FC236}">
                <a16:creationId xmlns:a16="http://schemas.microsoft.com/office/drawing/2014/main" id="{EB0F9C26-E752-DF4A-9135-9327B17BDD00}"/>
              </a:ext>
            </a:extLst>
          </p:cNvPr>
          <p:cNvSpPr>
            <a:spLocks noChangeArrowheads="1"/>
          </p:cNvSpPr>
          <p:nvPr/>
        </p:nvSpPr>
        <p:spPr bwMode="gray">
          <a:xfrm>
            <a:off x="10284460" y="5373605"/>
            <a:ext cx="944998" cy="288000"/>
          </a:xfrm>
          <a:prstGeom prst="rect">
            <a:avLst/>
          </a:prstGeom>
          <a:solidFill>
            <a:srgbClr val="1771EA"/>
          </a:solidFill>
          <a:ln w="0" cmpd="sng">
            <a:solidFill>
              <a:srgbClr val="D8D8D8"/>
            </a:solidFill>
            <a:prstDash val="solid"/>
            <a:miter lim="800000"/>
          </a:ln>
        </p:spPr>
        <p:txBody>
          <a:bodyPr wrap="none" lIns="83077" tIns="43200" rIns="83077" bIns="43200" anchor="ctr">
            <a:noAutofit/>
          </a:bodyPr>
          <a:lstStyle/>
          <a:p>
            <a:pPr lvl="0" algn="ctr" defTabSz="843915" fontAlgn="base">
              <a:buClrTx/>
              <a:buSzTx/>
              <a:buFontTx/>
            </a:pPr>
            <a:r>
              <a:rPr lang="zh-CN" altLang="en-US" sz="8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88" name="副标题 119">
            <a:extLst>
              <a:ext uri="{FF2B5EF4-FFF2-40B4-BE49-F238E27FC236}">
                <a16:creationId xmlns:a16="http://schemas.microsoft.com/office/drawing/2014/main" id="{F2E0DF36-96BE-DB23-07B4-D2C7A856374F}"/>
              </a:ext>
            </a:extLst>
          </p:cNvPr>
          <p:cNvSpPr txBox="1">
            <a:spLocks/>
          </p:cNvSpPr>
          <p:nvPr/>
        </p:nvSpPr>
        <p:spPr>
          <a:xfrm>
            <a:off x="451651" y="767965"/>
            <a:ext cx="11362406" cy="3416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400" dirty="0">
                <a:sym typeface="+mn-ea"/>
              </a:rPr>
              <a:t>项目整体实施周期从</a:t>
            </a:r>
            <a:r>
              <a:rPr lang="en-US" altLang="zh-CN" sz="1400" dirty="0">
                <a:sym typeface="+mn-ea"/>
              </a:rPr>
              <a:t>2022</a:t>
            </a:r>
            <a:r>
              <a:rPr lang="zh-CN" altLang="en-US" sz="1400" dirty="0">
                <a:sym typeface="+mn-ea"/>
              </a:rPr>
              <a:t>年</a:t>
            </a:r>
            <a:r>
              <a:rPr lang="en-US" altLang="zh-CN" sz="1400" dirty="0">
                <a:sym typeface="+mn-ea"/>
              </a:rPr>
              <a:t>5</a:t>
            </a:r>
            <a:r>
              <a:rPr lang="zh-CN" altLang="en-US" sz="1400" dirty="0">
                <a:sym typeface="+mn-ea"/>
              </a:rPr>
              <a:t>月至</a:t>
            </a:r>
            <a:r>
              <a:rPr lang="en-US" altLang="zh-CN" sz="1400" dirty="0">
                <a:sym typeface="+mn-ea"/>
              </a:rPr>
              <a:t>2023</a:t>
            </a:r>
            <a:r>
              <a:rPr lang="zh-CN" altLang="en-US" sz="1400" dirty="0">
                <a:sym typeface="+mn-ea"/>
              </a:rPr>
              <a:t>年</a:t>
            </a:r>
            <a:r>
              <a:rPr lang="en-US" altLang="zh-CN" sz="1400" dirty="0">
                <a:sym typeface="+mn-ea"/>
              </a:rPr>
              <a:t>6</a:t>
            </a:r>
            <a:r>
              <a:rPr lang="zh-CN" altLang="en-US" sz="1400" dirty="0">
                <a:sym typeface="+mn-ea"/>
              </a:rPr>
              <a:t>月，共</a:t>
            </a:r>
            <a:r>
              <a:rPr lang="en-US" altLang="zh-CN" sz="1400" dirty="0">
                <a:sym typeface="+mn-ea"/>
              </a:rPr>
              <a:t>XX</a:t>
            </a:r>
            <a:r>
              <a:rPr lang="zh-CN" altLang="en-US" sz="1400" dirty="0">
                <a:sym typeface="+mn-ea"/>
              </a:rPr>
              <a:t>个月，质保期</a:t>
            </a:r>
            <a:r>
              <a:rPr lang="en-US" altLang="zh-CN" sz="1400" dirty="0">
                <a:sym typeface="+mn-ea"/>
              </a:rPr>
              <a:t>XX</a:t>
            </a:r>
            <a:r>
              <a:rPr lang="zh-CN" altLang="en-US" sz="1400" dirty="0">
                <a:sym typeface="+mn-ea"/>
              </a:rPr>
              <a:t>个月。</a:t>
            </a:r>
          </a:p>
        </p:txBody>
      </p:sp>
    </p:spTree>
    <p:extLst>
      <p:ext uri="{BB962C8B-B14F-4D97-AF65-F5344CB8AC3E}">
        <p14:creationId xmlns:p14="http://schemas.microsoft.com/office/powerpoint/2010/main" val="2255724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2" name="Straight Connector 244">
            <a:extLst>
              <a:ext uri="{FF2B5EF4-FFF2-40B4-BE49-F238E27FC236}">
                <a16:creationId xmlns:a16="http://schemas.microsoft.com/office/drawing/2014/main" id="{F150A9D8-818E-5EA0-3B43-D6C53764B8E1}"/>
              </a:ext>
            </a:extLst>
          </p:cNvPr>
          <p:cNvCxnSpPr>
            <a:cxnSpLocks/>
          </p:cNvCxnSpPr>
          <p:nvPr/>
        </p:nvCxnSpPr>
        <p:spPr bwMode="auto">
          <a:xfrm>
            <a:off x="11622041" y="1794092"/>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79" name="Straight Connector 244">
            <a:extLst>
              <a:ext uri="{FF2B5EF4-FFF2-40B4-BE49-F238E27FC236}">
                <a16:creationId xmlns:a16="http://schemas.microsoft.com/office/drawing/2014/main" id="{BAFF52C2-E904-E527-DF6D-1D9D769A636C}"/>
              </a:ext>
            </a:extLst>
          </p:cNvPr>
          <p:cNvCxnSpPr>
            <a:cxnSpLocks/>
          </p:cNvCxnSpPr>
          <p:nvPr/>
        </p:nvCxnSpPr>
        <p:spPr bwMode="auto">
          <a:xfrm>
            <a:off x="9325889" y="1754019"/>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80" name="Straight Connector 244">
            <a:extLst>
              <a:ext uri="{FF2B5EF4-FFF2-40B4-BE49-F238E27FC236}">
                <a16:creationId xmlns:a16="http://schemas.microsoft.com/office/drawing/2014/main" id="{0269D2EE-D9E1-6241-B2F8-E9AC3F3BE244}"/>
              </a:ext>
            </a:extLst>
          </p:cNvPr>
          <p:cNvCxnSpPr>
            <a:cxnSpLocks/>
          </p:cNvCxnSpPr>
          <p:nvPr/>
        </p:nvCxnSpPr>
        <p:spPr bwMode="auto">
          <a:xfrm>
            <a:off x="10092807" y="1768017"/>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81" name="Straight Connector 244">
            <a:extLst>
              <a:ext uri="{FF2B5EF4-FFF2-40B4-BE49-F238E27FC236}">
                <a16:creationId xmlns:a16="http://schemas.microsoft.com/office/drawing/2014/main" id="{CBFAEE27-F7DB-54CD-7930-4356D5622DD0}"/>
              </a:ext>
            </a:extLst>
          </p:cNvPr>
          <p:cNvCxnSpPr>
            <a:cxnSpLocks/>
          </p:cNvCxnSpPr>
          <p:nvPr/>
        </p:nvCxnSpPr>
        <p:spPr bwMode="auto">
          <a:xfrm>
            <a:off x="10856238" y="1756005"/>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项目整体进度</a:t>
            </a:r>
          </a:p>
        </p:txBody>
      </p:sp>
      <p:cxnSp>
        <p:nvCxnSpPr>
          <p:cNvPr id="5" name="Straight Connector 244">
            <a:extLst>
              <a:ext uri="{FF2B5EF4-FFF2-40B4-BE49-F238E27FC236}">
                <a16:creationId xmlns:a16="http://schemas.microsoft.com/office/drawing/2014/main" id="{6361514E-B818-E2F3-17AE-E6DB14E11A29}"/>
              </a:ext>
            </a:extLst>
          </p:cNvPr>
          <p:cNvCxnSpPr>
            <a:cxnSpLocks/>
          </p:cNvCxnSpPr>
          <p:nvPr/>
        </p:nvCxnSpPr>
        <p:spPr bwMode="auto">
          <a:xfrm>
            <a:off x="7774522"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6" name="Straight Connector 247">
            <a:extLst>
              <a:ext uri="{FF2B5EF4-FFF2-40B4-BE49-F238E27FC236}">
                <a16:creationId xmlns:a16="http://schemas.microsoft.com/office/drawing/2014/main" id="{076DF542-F5DC-4218-7616-7E1AAE2E412E}"/>
              </a:ext>
            </a:extLst>
          </p:cNvPr>
          <p:cNvCxnSpPr>
            <a:cxnSpLocks/>
          </p:cNvCxnSpPr>
          <p:nvPr/>
        </p:nvCxnSpPr>
        <p:spPr bwMode="auto">
          <a:xfrm>
            <a:off x="7007631" y="1768018"/>
            <a:ext cx="0" cy="4363209"/>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7" name="Straight Connector 252">
            <a:extLst>
              <a:ext uri="{FF2B5EF4-FFF2-40B4-BE49-F238E27FC236}">
                <a16:creationId xmlns:a16="http://schemas.microsoft.com/office/drawing/2014/main" id="{2F497C4E-24D3-A605-5D95-D6DB2F04E140}"/>
              </a:ext>
            </a:extLst>
          </p:cNvPr>
          <p:cNvCxnSpPr>
            <a:cxnSpLocks/>
          </p:cNvCxnSpPr>
          <p:nvPr/>
        </p:nvCxnSpPr>
        <p:spPr bwMode="auto">
          <a:xfrm>
            <a:off x="3930232" y="1768018"/>
            <a:ext cx="0" cy="4363209"/>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8" name="Straight Connector 247">
            <a:extLst>
              <a:ext uri="{FF2B5EF4-FFF2-40B4-BE49-F238E27FC236}">
                <a16:creationId xmlns:a16="http://schemas.microsoft.com/office/drawing/2014/main" id="{E65B7A2A-3B0B-9F28-68CC-CEDB9A4B20AE}"/>
              </a:ext>
            </a:extLst>
          </p:cNvPr>
          <p:cNvCxnSpPr>
            <a:cxnSpLocks/>
          </p:cNvCxnSpPr>
          <p:nvPr/>
        </p:nvCxnSpPr>
        <p:spPr bwMode="auto">
          <a:xfrm>
            <a:off x="6240739"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9" name="Straight Connector 249">
            <a:extLst>
              <a:ext uri="{FF2B5EF4-FFF2-40B4-BE49-F238E27FC236}">
                <a16:creationId xmlns:a16="http://schemas.microsoft.com/office/drawing/2014/main" id="{9432F478-6EE4-BF6C-4F4B-5130D57DD7D3}"/>
              </a:ext>
            </a:extLst>
          </p:cNvPr>
          <p:cNvCxnSpPr>
            <a:cxnSpLocks/>
          </p:cNvCxnSpPr>
          <p:nvPr/>
        </p:nvCxnSpPr>
        <p:spPr bwMode="auto">
          <a:xfrm>
            <a:off x="5464016"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10" name="Straight Connector 251">
            <a:extLst>
              <a:ext uri="{FF2B5EF4-FFF2-40B4-BE49-F238E27FC236}">
                <a16:creationId xmlns:a16="http://schemas.microsoft.com/office/drawing/2014/main" id="{EFD167FC-8366-875A-43D0-113C9DEC02B4}"/>
              </a:ext>
            </a:extLst>
          </p:cNvPr>
          <p:cNvCxnSpPr>
            <a:cxnSpLocks/>
          </p:cNvCxnSpPr>
          <p:nvPr/>
        </p:nvCxnSpPr>
        <p:spPr bwMode="auto">
          <a:xfrm>
            <a:off x="4706956"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11" name="Straight Connector 252">
            <a:extLst>
              <a:ext uri="{FF2B5EF4-FFF2-40B4-BE49-F238E27FC236}">
                <a16:creationId xmlns:a16="http://schemas.microsoft.com/office/drawing/2014/main" id="{288E71A7-6BD4-021A-A28D-414A29D93AC5}"/>
              </a:ext>
            </a:extLst>
          </p:cNvPr>
          <p:cNvCxnSpPr>
            <a:cxnSpLocks/>
          </p:cNvCxnSpPr>
          <p:nvPr/>
        </p:nvCxnSpPr>
        <p:spPr bwMode="auto">
          <a:xfrm>
            <a:off x="3153509"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12" name="Straight Connector 244">
            <a:extLst>
              <a:ext uri="{FF2B5EF4-FFF2-40B4-BE49-F238E27FC236}">
                <a16:creationId xmlns:a16="http://schemas.microsoft.com/office/drawing/2014/main" id="{E64C5089-8AC5-FD96-5B08-CB57068725C5}"/>
              </a:ext>
            </a:extLst>
          </p:cNvPr>
          <p:cNvCxnSpPr>
            <a:cxnSpLocks/>
          </p:cNvCxnSpPr>
          <p:nvPr/>
        </p:nvCxnSpPr>
        <p:spPr bwMode="auto">
          <a:xfrm>
            <a:off x="8558973"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cxnSp>
        <p:nvCxnSpPr>
          <p:cNvPr id="13" name="Straight Connector 253">
            <a:extLst>
              <a:ext uri="{FF2B5EF4-FFF2-40B4-BE49-F238E27FC236}">
                <a16:creationId xmlns:a16="http://schemas.microsoft.com/office/drawing/2014/main" id="{DFD3DF52-A997-949A-1863-661ECB66FA20}"/>
              </a:ext>
            </a:extLst>
          </p:cNvPr>
          <p:cNvCxnSpPr>
            <a:cxnSpLocks/>
          </p:cNvCxnSpPr>
          <p:nvPr/>
        </p:nvCxnSpPr>
        <p:spPr bwMode="auto">
          <a:xfrm>
            <a:off x="2376785" y="176801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sp>
        <p:nvSpPr>
          <p:cNvPr id="14" name="Pentagon 245">
            <a:extLst>
              <a:ext uri="{FF2B5EF4-FFF2-40B4-BE49-F238E27FC236}">
                <a16:creationId xmlns:a16="http://schemas.microsoft.com/office/drawing/2014/main" id="{07399A1B-57A1-B52C-E3DA-6E588A50B148}"/>
              </a:ext>
            </a:extLst>
          </p:cNvPr>
          <p:cNvSpPr/>
          <p:nvPr/>
        </p:nvSpPr>
        <p:spPr bwMode="auto">
          <a:xfrm>
            <a:off x="8863354" y="3922944"/>
            <a:ext cx="2603244" cy="1074159"/>
          </a:xfrm>
          <a:prstGeom prst="homePlate">
            <a:avLst>
              <a:gd name="adj" fmla="val 17396"/>
            </a:avLst>
          </a:prstGeom>
          <a:solidFill>
            <a:srgbClr val="EAEAEA"/>
          </a:solidFill>
          <a:ln w="6350" algn="ctr">
            <a:solidFill>
              <a:sysClr val="windowText" lastClr="000000"/>
            </a:solidFill>
            <a:miter lim="800000"/>
          </a:ln>
        </p:spPr>
        <p:txBody>
          <a:bodyPr wrap="none" anchor="ctr"/>
          <a:lstStyle/>
          <a:p>
            <a:pPr algn="ctr" eaLnBrk="0" hangingPunct="0">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运维支持</a:t>
            </a:r>
            <a:endParaRPr lang="en-US"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5" name="Straight Connector 244">
            <a:extLst>
              <a:ext uri="{FF2B5EF4-FFF2-40B4-BE49-F238E27FC236}">
                <a16:creationId xmlns:a16="http://schemas.microsoft.com/office/drawing/2014/main" id="{A97716BA-CC96-A57A-FF39-00835E7D6855}"/>
              </a:ext>
            </a:extLst>
          </p:cNvPr>
          <p:cNvCxnSpPr>
            <a:cxnSpLocks/>
          </p:cNvCxnSpPr>
          <p:nvPr/>
        </p:nvCxnSpPr>
        <p:spPr bwMode="auto">
          <a:xfrm>
            <a:off x="1939169" y="1781928"/>
            <a:ext cx="0" cy="4363210"/>
          </a:xfrm>
          <a:prstGeom prst="line">
            <a:avLst/>
          </a:prstGeom>
          <a:solidFill>
            <a:sysClr val="window" lastClr="FFFFFF"/>
          </a:solidFill>
          <a:ln w="9525" cap="flat" cmpd="sng" algn="ctr">
            <a:solidFill>
              <a:sysClr val="windowText" lastClr="000000"/>
            </a:solidFill>
            <a:prstDash val="dash"/>
            <a:round/>
            <a:headEnd type="none" w="med" len="med"/>
            <a:tailEnd type="none" w="med" len="med"/>
          </a:ln>
          <a:effectLst/>
        </p:spPr>
      </p:cxnSp>
      <p:graphicFrame>
        <p:nvGraphicFramePr>
          <p:cNvPr id="16" name="Group 97">
            <a:extLst>
              <a:ext uri="{FF2B5EF4-FFF2-40B4-BE49-F238E27FC236}">
                <a16:creationId xmlns:a16="http://schemas.microsoft.com/office/drawing/2014/main" id="{F17008FD-71B9-89B8-9D94-5DE6AD73F72F}"/>
              </a:ext>
            </a:extLst>
          </p:cNvPr>
          <p:cNvGraphicFramePr>
            <a:graphicFrameLocks noGrp="1"/>
          </p:cNvGraphicFramePr>
          <p:nvPr>
            <p:extLst>
              <p:ext uri="{D42A27DB-BD31-4B8C-83A1-F6EECF244321}">
                <p14:modId xmlns:p14="http://schemas.microsoft.com/office/powerpoint/2010/main" val="3912295313"/>
              </p:ext>
            </p:extLst>
          </p:nvPr>
        </p:nvGraphicFramePr>
        <p:xfrm>
          <a:off x="864257" y="1781928"/>
          <a:ext cx="854742" cy="4383135"/>
        </p:xfrm>
        <a:graphic>
          <a:graphicData uri="http://schemas.openxmlformats.org/drawingml/2006/table">
            <a:tbl>
              <a:tblPr/>
              <a:tblGrid>
                <a:gridCol w="854742">
                  <a:extLst>
                    <a:ext uri="{9D8B030D-6E8A-4147-A177-3AD203B41FA5}">
                      <a16:colId xmlns:a16="http://schemas.microsoft.com/office/drawing/2014/main" val="20000"/>
                    </a:ext>
                  </a:extLst>
                </a:gridCol>
              </a:tblGrid>
              <a:tr h="9085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0"/>
                  </a:ext>
                </a:extLst>
              </a:tr>
              <a:tr h="100793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1"/>
                  </a:ext>
                </a:extLst>
              </a:tr>
              <a:tr h="5863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2"/>
                  </a:ext>
                </a:extLst>
              </a:tr>
              <a:tr h="4695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3"/>
                  </a:ext>
                </a:extLst>
              </a:tr>
              <a:tr h="502051">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4"/>
                  </a:ext>
                </a:extLst>
              </a:tr>
              <a:tr h="57377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5"/>
                  </a:ext>
                </a:extLst>
              </a:tr>
              <a:tr h="33494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base" latinLnBrk="0" hangingPunct="1">
                        <a:lnSpc>
                          <a:spcPct val="100000"/>
                        </a:lnSpc>
                        <a:spcBef>
                          <a:spcPct val="10000"/>
                        </a:spcBef>
                        <a:spcAft>
                          <a:spcPct val="10000"/>
                        </a:spcAft>
                        <a:buClr>
                          <a:schemeClr val="tx1"/>
                        </a:buClr>
                        <a:buSzTx/>
                        <a:buFontTx/>
                        <a:buNone/>
                      </a:pPr>
                      <a:endParaRPr kumimoji="1" lang="en-US" sz="7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77603" marR="77603" marT="42035" marB="42035" horzOverflow="overflow">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a:noFill/>
                    </a:lnTlToBr>
                    <a:lnBlToTr>
                      <a:noFill/>
                    </a:lnBlToTr>
                    <a:solidFill>
                      <a:sysClr val="window" lastClr="FFFFFF"/>
                    </a:solidFill>
                  </a:tcPr>
                </a:tc>
                <a:extLst>
                  <a:ext uri="{0D108BD9-81ED-4DB2-BD59-A6C34878D82A}">
                    <a16:rowId xmlns:a16="http://schemas.microsoft.com/office/drawing/2014/main" val="10006"/>
                  </a:ext>
                </a:extLst>
              </a:tr>
            </a:tbl>
          </a:graphicData>
        </a:graphic>
      </p:graphicFrame>
      <p:sp>
        <p:nvSpPr>
          <p:cNvPr id="17" name="AutoShape 7">
            <a:extLst>
              <a:ext uri="{FF2B5EF4-FFF2-40B4-BE49-F238E27FC236}">
                <a16:creationId xmlns:a16="http://schemas.microsoft.com/office/drawing/2014/main" id="{E79BE288-3FC5-04F6-83E3-1E1FB6AF1AC4}"/>
              </a:ext>
            </a:extLst>
          </p:cNvPr>
          <p:cNvSpPr>
            <a:spLocks noChangeArrowheads="1"/>
          </p:cNvSpPr>
          <p:nvPr/>
        </p:nvSpPr>
        <p:spPr bwMode="auto">
          <a:xfrm>
            <a:off x="2133936" y="2092116"/>
            <a:ext cx="654208" cy="26892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业务</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调研</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分析</a:t>
            </a:r>
            <a:endParaRPr lang="en-US" altLang="zh-CN" sz="895" b="1" kern="0" dirty="0">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19" name="Text Box 52">
            <a:extLst>
              <a:ext uri="{FF2B5EF4-FFF2-40B4-BE49-F238E27FC236}">
                <a16:creationId xmlns:a16="http://schemas.microsoft.com/office/drawing/2014/main" id="{B8340515-754C-7FC7-F408-E343E4E5E55D}"/>
              </a:ext>
            </a:extLst>
          </p:cNvPr>
          <p:cNvSpPr txBox="1">
            <a:spLocks noChangeArrowheads="1"/>
          </p:cNvSpPr>
          <p:nvPr/>
        </p:nvSpPr>
        <p:spPr bwMode="auto">
          <a:xfrm>
            <a:off x="992023" y="2055428"/>
            <a:ext cx="643760" cy="367863"/>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业务调研</a:t>
            </a:r>
            <a:endParaRPr lang="en-US" altLang="zh-CN"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方案设计</a:t>
            </a:r>
          </a:p>
        </p:txBody>
      </p:sp>
      <p:sp>
        <p:nvSpPr>
          <p:cNvPr id="20" name="Text Box 53">
            <a:extLst>
              <a:ext uri="{FF2B5EF4-FFF2-40B4-BE49-F238E27FC236}">
                <a16:creationId xmlns:a16="http://schemas.microsoft.com/office/drawing/2014/main" id="{A34A30C9-E8E0-9429-857C-489C666357F8}"/>
              </a:ext>
            </a:extLst>
          </p:cNvPr>
          <p:cNvSpPr txBox="1">
            <a:spLocks noChangeArrowheads="1"/>
          </p:cNvSpPr>
          <p:nvPr/>
        </p:nvSpPr>
        <p:spPr bwMode="auto">
          <a:xfrm>
            <a:off x="992023" y="3777368"/>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数据整理</a:t>
            </a:r>
          </a:p>
        </p:txBody>
      </p:sp>
      <p:sp>
        <p:nvSpPr>
          <p:cNvPr id="21" name="Text Box 54">
            <a:extLst>
              <a:ext uri="{FF2B5EF4-FFF2-40B4-BE49-F238E27FC236}">
                <a16:creationId xmlns:a16="http://schemas.microsoft.com/office/drawing/2014/main" id="{9EEA49C4-5432-2920-B0CF-66457F0E22CB}"/>
              </a:ext>
            </a:extLst>
          </p:cNvPr>
          <p:cNvSpPr txBox="1">
            <a:spLocks noChangeArrowheads="1"/>
          </p:cNvSpPr>
          <p:nvPr/>
        </p:nvSpPr>
        <p:spPr bwMode="auto">
          <a:xfrm>
            <a:off x="992023" y="5419452"/>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技术支持</a:t>
            </a:r>
          </a:p>
        </p:txBody>
      </p:sp>
      <p:sp>
        <p:nvSpPr>
          <p:cNvPr id="22" name="Text Box 55">
            <a:extLst>
              <a:ext uri="{FF2B5EF4-FFF2-40B4-BE49-F238E27FC236}">
                <a16:creationId xmlns:a16="http://schemas.microsoft.com/office/drawing/2014/main" id="{5C09A9D2-6D17-BC1E-7E43-6513C676C8EB}"/>
              </a:ext>
            </a:extLst>
          </p:cNvPr>
          <p:cNvSpPr txBox="1">
            <a:spLocks noChangeArrowheads="1"/>
          </p:cNvSpPr>
          <p:nvPr/>
        </p:nvSpPr>
        <p:spPr bwMode="auto">
          <a:xfrm>
            <a:off x="992023" y="5887292"/>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项目管理</a:t>
            </a:r>
            <a:endParaRPr lang="en-US" altLang="zh-CN"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Text Box 56">
            <a:extLst>
              <a:ext uri="{FF2B5EF4-FFF2-40B4-BE49-F238E27FC236}">
                <a16:creationId xmlns:a16="http://schemas.microsoft.com/office/drawing/2014/main" id="{72669521-E579-5E2B-2933-5CC0C43DDE3E}"/>
              </a:ext>
            </a:extLst>
          </p:cNvPr>
          <p:cNvSpPr txBox="1">
            <a:spLocks noChangeArrowheads="1"/>
          </p:cNvSpPr>
          <p:nvPr/>
        </p:nvSpPr>
        <p:spPr bwMode="auto">
          <a:xfrm>
            <a:off x="992023" y="4384545"/>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系统培训</a:t>
            </a:r>
          </a:p>
        </p:txBody>
      </p:sp>
      <p:sp>
        <p:nvSpPr>
          <p:cNvPr id="24" name="AutoShape 62">
            <a:extLst>
              <a:ext uri="{FF2B5EF4-FFF2-40B4-BE49-F238E27FC236}">
                <a16:creationId xmlns:a16="http://schemas.microsoft.com/office/drawing/2014/main" id="{A9F3579B-8CCC-0DE2-22A8-902C19DA7472}"/>
              </a:ext>
            </a:extLst>
          </p:cNvPr>
          <p:cNvSpPr>
            <a:spLocks noChangeArrowheads="1"/>
          </p:cNvSpPr>
          <p:nvPr/>
        </p:nvSpPr>
        <p:spPr bwMode="auto">
          <a:xfrm>
            <a:off x="905229" y="1339556"/>
            <a:ext cx="184577" cy="178066"/>
          </a:xfrm>
          <a:prstGeom prst="star5">
            <a:avLst/>
          </a:prstGeom>
          <a:solidFill>
            <a:srgbClr val="FFFF00"/>
          </a:solidFill>
          <a:ln w="9525">
            <a:solidFill>
              <a:srgbClr val="000000"/>
            </a:solidFill>
            <a:miter lim="800000"/>
          </a:ln>
        </p:spPr>
        <p:txBody>
          <a:bodyPr/>
          <a:lstStyle/>
          <a:p>
            <a:pPr>
              <a:defRPr/>
            </a:pPr>
            <a:endParaRPr lang="en-US" sz="895">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25" name="Text Box 63">
            <a:extLst>
              <a:ext uri="{FF2B5EF4-FFF2-40B4-BE49-F238E27FC236}">
                <a16:creationId xmlns:a16="http://schemas.microsoft.com/office/drawing/2014/main" id="{FD52BAB7-CA12-EB5F-A65C-C7C61939B5A5}"/>
              </a:ext>
            </a:extLst>
          </p:cNvPr>
          <p:cNvSpPr txBox="1">
            <a:spLocks noChangeArrowheads="1"/>
          </p:cNvSpPr>
          <p:nvPr/>
        </p:nvSpPr>
        <p:spPr bwMode="auto">
          <a:xfrm>
            <a:off x="1009154" y="1341017"/>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方案确认</a:t>
            </a:r>
            <a:endParaRPr lang="en-US" altLang="zh-CN"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 name="AutoShape 65">
            <a:extLst>
              <a:ext uri="{FF2B5EF4-FFF2-40B4-BE49-F238E27FC236}">
                <a16:creationId xmlns:a16="http://schemas.microsoft.com/office/drawing/2014/main" id="{0573BB01-35A7-5D10-85FB-184E613C13D6}"/>
              </a:ext>
            </a:extLst>
          </p:cNvPr>
          <p:cNvSpPr>
            <a:spLocks noChangeArrowheads="1"/>
          </p:cNvSpPr>
          <p:nvPr/>
        </p:nvSpPr>
        <p:spPr bwMode="auto">
          <a:xfrm>
            <a:off x="911963" y="1524094"/>
            <a:ext cx="169757" cy="180985"/>
          </a:xfrm>
          <a:prstGeom prst="star5">
            <a:avLst/>
          </a:prstGeom>
          <a:solidFill>
            <a:srgbClr val="FF0000"/>
          </a:solidFill>
          <a:ln w="9525">
            <a:solidFill>
              <a:srgbClr val="000000"/>
            </a:solidFill>
            <a:miter lim="800000"/>
          </a:ln>
        </p:spPr>
        <p:txBody>
          <a:bodyPr/>
          <a:lstStyle/>
          <a:p>
            <a:pPr>
              <a:defRPr/>
            </a:pPr>
            <a:endParaRPr lang="en-US" sz="895">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27" name="Text Box 67">
            <a:extLst>
              <a:ext uri="{FF2B5EF4-FFF2-40B4-BE49-F238E27FC236}">
                <a16:creationId xmlns:a16="http://schemas.microsoft.com/office/drawing/2014/main" id="{913F7937-22EE-20FD-B290-7387EF6AC74E}"/>
              </a:ext>
            </a:extLst>
          </p:cNvPr>
          <p:cNvSpPr txBox="1">
            <a:spLocks noChangeArrowheads="1"/>
          </p:cNvSpPr>
          <p:nvPr/>
        </p:nvSpPr>
        <p:spPr bwMode="auto">
          <a:xfrm>
            <a:off x="1009149" y="1524105"/>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系统上线</a:t>
            </a:r>
          </a:p>
        </p:txBody>
      </p:sp>
      <p:sp>
        <p:nvSpPr>
          <p:cNvPr id="28" name="Text Box 53">
            <a:extLst>
              <a:ext uri="{FF2B5EF4-FFF2-40B4-BE49-F238E27FC236}">
                <a16:creationId xmlns:a16="http://schemas.microsoft.com/office/drawing/2014/main" id="{205B3A01-BECE-9D3D-5E44-F51DB0D59B7E}"/>
              </a:ext>
            </a:extLst>
          </p:cNvPr>
          <p:cNvSpPr txBox="1">
            <a:spLocks noChangeArrowheads="1"/>
          </p:cNvSpPr>
          <p:nvPr/>
        </p:nvSpPr>
        <p:spPr bwMode="auto">
          <a:xfrm>
            <a:off x="940153" y="2854915"/>
            <a:ext cx="747497" cy="505523"/>
          </a:xfrm>
          <a:prstGeom prst="rect">
            <a:avLst/>
          </a:prstGeom>
          <a:noFill/>
          <a:ln w="9525">
            <a:noFill/>
            <a:miter lim="800000"/>
          </a:ln>
        </p:spPr>
        <p:txBody>
          <a:bodyPr wrap="square">
            <a:spAutoFit/>
          </a:bodyPr>
          <a:lstStyle/>
          <a:p>
            <a:pPr algn="ct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功能设计功能开发功能测试</a:t>
            </a:r>
          </a:p>
        </p:txBody>
      </p:sp>
      <p:sp>
        <p:nvSpPr>
          <p:cNvPr id="29" name="Text Box 55">
            <a:extLst>
              <a:ext uri="{FF2B5EF4-FFF2-40B4-BE49-F238E27FC236}">
                <a16:creationId xmlns:a16="http://schemas.microsoft.com/office/drawing/2014/main" id="{CB6DA9BC-4BEC-F9B8-6705-6F19DCE48459}"/>
              </a:ext>
            </a:extLst>
          </p:cNvPr>
          <p:cNvSpPr txBox="1">
            <a:spLocks noChangeArrowheads="1"/>
          </p:cNvSpPr>
          <p:nvPr/>
        </p:nvSpPr>
        <p:spPr bwMode="auto">
          <a:xfrm>
            <a:off x="992023" y="4851118"/>
            <a:ext cx="643760" cy="229914"/>
          </a:xfrm>
          <a:prstGeom prst="rect">
            <a:avLst/>
          </a:prstGeom>
          <a:noFill/>
          <a:ln w="9525">
            <a:noFill/>
            <a:miter lim="800000"/>
          </a:ln>
        </p:spPr>
        <p:txBody>
          <a:bodyPr wrap="square">
            <a:spAutoFit/>
          </a:bodyPr>
          <a:lstStyle/>
          <a:p>
            <a:pPr>
              <a:defRPr/>
            </a:pPr>
            <a:r>
              <a:rPr lang="zh-CN" altLang="en-US"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系统上线</a:t>
            </a:r>
            <a:endParaRPr lang="en-US" altLang="zh-CN" sz="895"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aphicFrame>
        <p:nvGraphicFramePr>
          <p:cNvPr id="30" name="表格 46">
            <a:extLst>
              <a:ext uri="{FF2B5EF4-FFF2-40B4-BE49-F238E27FC236}">
                <a16:creationId xmlns:a16="http://schemas.microsoft.com/office/drawing/2014/main" id="{659DA5B5-0789-7E6B-5741-487CC77B7362}"/>
              </a:ext>
            </a:extLst>
          </p:cNvPr>
          <p:cNvGraphicFramePr>
            <a:graphicFrameLocks noGrp="1"/>
          </p:cNvGraphicFramePr>
          <p:nvPr>
            <p:extLst>
              <p:ext uri="{D42A27DB-BD31-4B8C-83A1-F6EECF244321}">
                <p14:modId xmlns:p14="http://schemas.microsoft.com/office/powerpoint/2010/main" val="2756488707"/>
              </p:ext>
            </p:extLst>
          </p:nvPr>
        </p:nvGraphicFramePr>
        <p:xfrm>
          <a:off x="1939765" y="1276769"/>
          <a:ext cx="9692111" cy="667499"/>
        </p:xfrm>
        <a:graphic>
          <a:graphicData uri="http://schemas.openxmlformats.org/drawingml/2006/table">
            <a:tbl>
              <a:tblPr firstRow="1" bandRow="1"/>
              <a:tblGrid>
                <a:gridCol w="460355">
                  <a:extLst>
                    <a:ext uri="{9D8B030D-6E8A-4147-A177-3AD203B41FA5}">
                      <a16:colId xmlns:a16="http://schemas.microsoft.com/office/drawing/2014/main" val="20000"/>
                    </a:ext>
                  </a:extLst>
                </a:gridCol>
                <a:gridCol w="769313">
                  <a:extLst>
                    <a:ext uri="{9D8B030D-6E8A-4147-A177-3AD203B41FA5}">
                      <a16:colId xmlns:a16="http://schemas.microsoft.com/office/drawing/2014/main" val="20001"/>
                    </a:ext>
                  </a:extLst>
                </a:gridCol>
                <a:gridCol w="769313">
                  <a:extLst>
                    <a:ext uri="{9D8B030D-6E8A-4147-A177-3AD203B41FA5}">
                      <a16:colId xmlns:a16="http://schemas.microsoft.com/office/drawing/2014/main" val="20002"/>
                    </a:ext>
                  </a:extLst>
                </a:gridCol>
                <a:gridCol w="769313">
                  <a:extLst>
                    <a:ext uri="{9D8B030D-6E8A-4147-A177-3AD203B41FA5}">
                      <a16:colId xmlns:a16="http://schemas.microsoft.com/office/drawing/2014/main" val="20003"/>
                    </a:ext>
                  </a:extLst>
                </a:gridCol>
                <a:gridCol w="769313">
                  <a:extLst>
                    <a:ext uri="{9D8B030D-6E8A-4147-A177-3AD203B41FA5}">
                      <a16:colId xmlns:a16="http://schemas.microsoft.com/office/drawing/2014/main" val="20004"/>
                    </a:ext>
                  </a:extLst>
                </a:gridCol>
                <a:gridCol w="769313">
                  <a:extLst>
                    <a:ext uri="{9D8B030D-6E8A-4147-A177-3AD203B41FA5}">
                      <a16:colId xmlns:a16="http://schemas.microsoft.com/office/drawing/2014/main" val="20005"/>
                    </a:ext>
                  </a:extLst>
                </a:gridCol>
                <a:gridCol w="769313">
                  <a:extLst>
                    <a:ext uri="{9D8B030D-6E8A-4147-A177-3AD203B41FA5}">
                      <a16:colId xmlns:a16="http://schemas.microsoft.com/office/drawing/2014/main" val="20006"/>
                    </a:ext>
                  </a:extLst>
                </a:gridCol>
                <a:gridCol w="769313">
                  <a:extLst>
                    <a:ext uri="{9D8B030D-6E8A-4147-A177-3AD203B41FA5}">
                      <a16:colId xmlns:a16="http://schemas.microsoft.com/office/drawing/2014/main" val="20007"/>
                    </a:ext>
                  </a:extLst>
                </a:gridCol>
                <a:gridCol w="769313">
                  <a:extLst>
                    <a:ext uri="{9D8B030D-6E8A-4147-A177-3AD203B41FA5}">
                      <a16:colId xmlns:a16="http://schemas.microsoft.com/office/drawing/2014/main" val="20008"/>
                    </a:ext>
                  </a:extLst>
                </a:gridCol>
                <a:gridCol w="769313">
                  <a:extLst>
                    <a:ext uri="{9D8B030D-6E8A-4147-A177-3AD203B41FA5}">
                      <a16:colId xmlns:a16="http://schemas.microsoft.com/office/drawing/2014/main" val="2776168445"/>
                    </a:ext>
                  </a:extLst>
                </a:gridCol>
                <a:gridCol w="769313">
                  <a:extLst>
                    <a:ext uri="{9D8B030D-6E8A-4147-A177-3AD203B41FA5}">
                      <a16:colId xmlns:a16="http://schemas.microsoft.com/office/drawing/2014/main" val="610429065"/>
                    </a:ext>
                  </a:extLst>
                </a:gridCol>
                <a:gridCol w="769313">
                  <a:extLst>
                    <a:ext uri="{9D8B030D-6E8A-4147-A177-3AD203B41FA5}">
                      <a16:colId xmlns:a16="http://schemas.microsoft.com/office/drawing/2014/main" val="3851963742"/>
                    </a:ext>
                  </a:extLst>
                </a:gridCol>
                <a:gridCol w="769313">
                  <a:extLst>
                    <a:ext uri="{9D8B030D-6E8A-4147-A177-3AD203B41FA5}">
                      <a16:colId xmlns:a16="http://schemas.microsoft.com/office/drawing/2014/main" val="1617858297"/>
                    </a:ext>
                  </a:extLst>
                </a:gridCol>
              </a:tblGrid>
              <a:tr h="0">
                <a:tc gridSpan="11">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2022</a:t>
                      </a:r>
                      <a:r>
                        <a:rPr lang="zh-CN" altLang="en-US" sz="1200" dirty="0">
                          <a:latin typeface="微软雅黑" panose="020B0503020204020204" pitchFamily="34" charset="-122"/>
                          <a:ea typeface="微软雅黑" panose="020B0503020204020204" pitchFamily="34" charset="-122"/>
                        </a:rPr>
                        <a:t>年</a:t>
                      </a:r>
                    </a:p>
                  </a:txBody>
                  <a:tcPr marL="91076" marR="91076" marT="45538" marB="45538"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zh-CN" altLang="en-US" sz="1200" dirty="0">
                        <a:latin typeface="微软雅黑" panose="020B0503020204020204" pitchFamily="34" charset="-122"/>
                        <a:ea typeface="微软雅黑" panose="020B0503020204020204" pitchFamily="34" charset="-122"/>
                      </a:endParaRPr>
                    </a:p>
                  </a:txBody>
                  <a:tcPr marL="91076" marR="91076" marT="45538" marB="45538"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xBody>
                    <a:bodyPr/>
                    <a:lstStyle/>
                    <a:p>
                      <a:pPr algn="ctr"/>
                      <a:endParaRPr lang="zh-CN" altLang="en-US" sz="1200" dirty="0">
                        <a:latin typeface="微软雅黑" panose="020B0503020204020204" pitchFamily="34" charset="-122"/>
                        <a:ea typeface="微软雅黑" panose="020B0503020204020204" pitchFamily="34" charset="-122"/>
                      </a:endParaRPr>
                    </a:p>
                  </a:txBody>
                  <a:tcPr marL="91076" marR="91076" marT="45538" marB="45538"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p>
                      <a:pPr algn="ctr"/>
                      <a:r>
                        <a:rPr lang="en-US" altLang="zh-CN" sz="1200" b="1" dirty="0">
                          <a:solidFill>
                            <a:schemeClr val="bg1"/>
                          </a:solidFill>
                          <a:latin typeface="微软雅黑" panose="020B0503020204020204" pitchFamily="34" charset="-122"/>
                          <a:ea typeface="微软雅黑" panose="020B0503020204020204" pitchFamily="34" charset="-122"/>
                        </a:rPr>
                        <a:t>2023</a:t>
                      </a:r>
                      <a:r>
                        <a:rPr lang="zh-CN" altLang="en-US" sz="1200" b="1" dirty="0">
                          <a:solidFill>
                            <a:schemeClr val="bg1"/>
                          </a:solidFill>
                          <a:latin typeface="微软雅黑" panose="020B0503020204020204" pitchFamily="34" charset="-122"/>
                          <a:ea typeface="微软雅黑" panose="020B0503020204020204" pitchFamily="34" charset="-122"/>
                        </a:rPr>
                        <a:t>年</a:t>
                      </a:r>
                    </a:p>
                  </a:txBody>
                  <a:tcPr marL="91076" marR="91076" marT="45538" marB="45538"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xBody>
                    <a:bodyPr/>
                    <a:lstStyle/>
                    <a:p>
                      <a:pPr algn="ctr"/>
                      <a:endParaRPr lang="zh-CN" altLang="en-US" sz="1200" dirty="0">
                        <a:latin typeface="微软雅黑" panose="020B0503020204020204" pitchFamily="34" charset="-122"/>
                        <a:ea typeface="微软雅黑" panose="020B0503020204020204" pitchFamily="34" charset="-122"/>
                      </a:endParaRPr>
                    </a:p>
                  </a:txBody>
                  <a:tcPr marL="91076" marR="91076" marT="45538" marB="45538"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354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8</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pPr algn="ctr"/>
                      <a:r>
                        <a:rPr lang="en-US" altLang="zh-CN" sz="1200" dirty="0">
                          <a:latin typeface="微软雅黑" panose="020B0503020204020204" pitchFamily="34" charset="-122"/>
                          <a:ea typeface="微软雅黑" panose="020B0503020204020204" pitchFamily="34" charset="-122"/>
                        </a:rPr>
                        <a:t>9</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altLang="zh-CN" sz="1200" dirty="0">
                          <a:latin typeface="微软雅黑" panose="020B0503020204020204" pitchFamily="34" charset="-122"/>
                          <a:ea typeface="微软雅黑" panose="020B0503020204020204" pitchFamily="34" charset="-122"/>
                        </a:rPr>
                        <a:t>10</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pPr algn="ctr"/>
                      <a:r>
                        <a:rPr lang="en-US" altLang="zh-CN" sz="1200" dirty="0">
                          <a:latin typeface="微软雅黑" panose="020B0503020204020204" pitchFamily="34" charset="-122"/>
                          <a:ea typeface="微软雅黑" panose="020B0503020204020204" pitchFamily="34" charset="-122"/>
                        </a:rPr>
                        <a:t>11</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pPr algn="ctr"/>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pPr algn="ct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pPr algn="ct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月</a:t>
                      </a:r>
                    </a:p>
                  </a:txBody>
                  <a:tcPr marL="91076" marR="91076" marT="45538" marB="45538"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bl>
          </a:graphicData>
        </a:graphic>
      </p:graphicFrame>
      <p:sp>
        <p:nvSpPr>
          <p:cNvPr id="31" name="AutoShape 7">
            <a:extLst>
              <a:ext uri="{FF2B5EF4-FFF2-40B4-BE49-F238E27FC236}">
                <a16:creationId xmlns:a16="http://schemas.microsoft.com/office/drawing/2014/main" id="{969BAC49-C43B-6B38-6813-D96CAB031BD7}"/>
              </a:ext>
            </a:extLst>
          </p:cNvPr>
          <p:cNvSpPr>
            <a:spLocks noChangeArrowheads="1"/>
          </p:cNvSpPr>
          <p:nvPr/>
        </p:nvSpPr>
        <p:spPr bwMode="auto">
          <a:xfrm>
            <a:off x="3822456" y="2506797"/>
            <a:ext cx="425446" cy="234428"/>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方案</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汇报</a:t>
            </a:r>
          </a:p>
        </p:txBody>
      </p:sp>
      <p:sp>
        <p:nvSpPr>
          <p:cNvPr id="32" name="AutoShape 62">
            <a:extLst>
              <a:ext uri="{FF2B5EF4-FFF2-40B4-BE49-F238E27FC236}">
                <a16:creationId xmlns:a16="http://schemas.microsoft.com/office/drawing/2014/main" id="{BD0D92EE-7CAD-D282-E181-2A73B72C2257}"/>
              </a:ext>
            </a:extLst>
          </p:cNvPr>
          <p:cNvSpPr>
            <a:spLocks noChangeArrowheads="1"/>
          </p:cNvSpPr>
          <p:nvPr/>
        </p:nvSpPr>
        <p:spPr bwMode="auto">
          <a:xfrm>
            <a:off x="4172417" y="2522275"/>
            <a:ext cx="184577" cy="178066"/>
          </a:xfrm>
          <a:prstGeom prst="star5">
            <a:avLst/>
          </a:prstGeom>
          <a:solidFill>
            <a:srgbClr val="FFFF00"/>
          </a:solidFill>
          <a:ln w="9525">
            <a:solidFill>
              <a:srgbClr val="000000"/>
            </a:solidFill>
            <a:miter lim="800000"/>
          </a:ln>
        </p:spPr>
        <p:txBody>
          <a:bodyPr/>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33" name="AutoShape 24">
            <a:extLst>
              <a:ext uri="{FF2B5EF4-FFF2-40B4-BE49-F238E27FC236}">
                <a16:creationId xmlns:a16="http://schemas.microsoft.com/office/drawing/2014/main" id="{940C27EC-D570-ABFC-174B-8DE871205D3C}"/>
              </a:ext>
            </a:extLst>
          </p:cNvPr>
          <p:cNvSpPr>
            <a:spLocks noChangeArrowheads="1"/>
          </p:cNvSpPr>
          <p:nvPr/>
        </p:nvSpPr>
        <p:spPr bwMode="auto">
          <a:xfrm>
            <a:off x="2685782" y="2092116"/>
            <a:ext cx="460419" cy="26892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调研</a:t>
            </a:r>
            <a:endParaRPr lang="en-US" altLang="zh-CN" sz="895" b="1" kern="0" dirty="0">
              <a:solidFill>
                <a:prstClr val="black"/>
              </a:solidFill>
              <a:latin typeface="幼圆" panose="02010509060101010101" pitchFamily="49" charset="-122"/>
              <a:ea typeface="幼圆" panose="02010509060101010101" pitchFamily="49" charset="-122"/>
              <a:cs typeface="Arial" panose="020B0604020202020204" pitchFamily="34" charset="0"/>
            </a:endParaRPr>
          </a:p>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总结</a:t>
            </a:r>
          </a:p>
        </p:txBody>
      </p:sp>
      <p:sp>
        <p:nvSpPr>
          <p:cNvPr id="34" name="AutoShape 62">
            <a:extLst>
              <a:ext uri="{FF2B5EF4-FFF2-40B4-BE49-F238E27FC236}">
                <a16:creationId xmlns:a16="http://schemas.microsoft.com/office/drawing/2014/main" id="{A80EF9D6-88FA-2D09-199A-33B5433722E3}"/>
              </a:ext>
            </a:extLst>
          </p:cNvPr>
          <p:cNvSpPr>
            <a:spLocks noChangeArrowheads="1"/>
          </p:cNvSpPr>
          <p:nvPr/>
        </p:nvSpPr>
        <p:spPr bwMode="auto">
          <a:xfrm>
            <a:off x="2994578" y="2011695"/>
            <a:ext cx="184577" cy="178066"/>
          </a:xfrm>
          <a:prstGeom prst="star5">
            <a:avLst/>
          </a:prstGeom>
          <a:solidFill>
            <a:srgbClr val="FFFF00"/>
          </a:solidFill>
          <a:ln w="9525">
            <a:solidFill>
              <a:srgbClr val="000000"/>
            </a:solidFill>
            <a:miter lim="800000"/>
          </a:ln>
        </p:spPr>
        <p:txBody>
          <a:bodyPr/>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35" name="文本框 34">
            <a:extLst>
              <a:ext uri="{FF2B5EF4-FFF2-40B4-BE49-F238E27FC236}">
                <a16:creationId xmlns:a16="http://schemas.microsoft.com/office/drawing/2014/main" id="{2C14B4E3-894F-0D2F-1C86-EFE3196FC07D}"/>
              </a:ext>
            </a:extLst>
          </p:cNvPr>
          <p:cNvSpPr txBox="1"/>
          <p:nvPr/>
        </p:nvSpPr>
        <p:spPr>
          <a:xfrm>
            <a:off x="2980366" y="1803924"/>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3/22</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3C843586-A159-6BD9-9620-A046F0EEEDB5}"/>
              </a:ext>
            </a:extLst>
          </p:cNvPr>
          <p:cNvSpPr txBox="1"/>
          <p:nvPr/>
        </p:nvSpPr>
        <p:spPr>
          <a:xfrm>
            <a:off x="4234378" y="2356726"/>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5/14</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43D96D14-12F6-107F-4855-FE6C498C2F6B}"/>
              </a:ext>
            </a:extLst>
          </p:cNvPr>
          <p:cNvSpPr txBox="1"/>
          <p:nvPr/>
        </p:nvSpPr>
        <p:spPr>
          <a:xfrm>
            <a:off x="6343941" y="3252660"/>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7/13</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50831319-A24E-86FE-970D-0CF349BD368C}"/>
              </a:ext>
            </a:extLst>
          </p:cNvPr>
          <p:cNvSpPr txBox="1"/>
          <p:nvPr/>
        </p:nvSpPr>
        <p:spPr>
          <a:xfrm>
            <a:off x="4563096" y="3625761"/>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5/30</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sp>
        <p:nvSpPr>
          <p:cNvPr id="39" name="AutoShape 5">
            <a:extLst>
              <a:ext uri="{FF2B5EF4-FFF2-40B4-BE49-F238E27FC236}">
                <a16:creationId xmlns:a16="http://schemas.microsoft.com/office/drawing/2014/main" id="{65EA85F2-1578-4B5F-B379-94B089F9B841}"/>
              </a:ext>
            </a:extLst>
          </p:cNvPr>
          <p:cNvSpPr>
            <a:spLocks noChangeArrowheads="1"/>
          </p:cNvSpPr>
          <p:nvPr/>
        </p:nvSpPr>
        <p:spPr bwMode="auto">
          <a:xfrm>
            <a:off x="1973324" y="1810549"/>
            <a:ext cx="547321" cy="242209"/>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项目准备</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0" name="AutoShape 7">
            <a:extLst>
              <a:ext uri="{FF2B5EF4-FFF2-40B4-BE49-F238E27FC236}">
                <a16:creationId xmlns:a16="http://schemas.microsoft.com/office/drawing/2014/main" id="{D5B9D6B6-FE5E-2C6B-6359-935F66183F1A}"/>
              </a:ext>
            </a:extLst>
          </p:cNvPr>
          <p:cNvSpPr>
            <a:spLocks noChangeArrowheads="1"/>
          </p:cNvSpPr>
          <p:nvPr/>
        </p:nvSpPr>
        <p:spPr bwMode="auto">
          <a:xfrm>
            <a:off x="2715791" y="2506797"/>
            <a:ext cx="1122837" cy="234428"/>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系统方案制订</a:t>
            </a:r>
          </a:p>
        </p:txBody>
      </p:sp>
      <p:sp>
        <p:nvSpPr>
          <p:cNvPr id="41" name="AutoShape 7">
            <a:extLst>
              <a:ext uri="{FF2B5EF4-FFF2-40B4-BE49-F238E27FC236}">
                <a16:creationId xmlns:a16="http://schemas.microsoft.com/office/drawing/2014/main" id="{8624AAF4-1887-E713-B9EA-017DD6483488}"/>
              </a:ext>
            </a:extLst>
          </p:cNvPr>
          <p:cNvSpPr>
            <a:spLocks noChangeArrowheads="1"/>
          </p:cNvSpPr>
          <p:nvPr/>
        </p:nvSpPr>
        <p:spPr bwMode="auto">
          <a:xfrm>
            <a:off x="2670137" y="4133934"/>
            <a:ext cx="749808" cy="21514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系统功能培训</a:t>
            </a:r>
          </a:p>
        </p:txBody>
      </p:sp>
      <p:sp>
        <p:nvSpPr>
          <p:cNvPr id="42" name="AutoShape 79">
            <a:extLst>
              <a:ext uri="{FF2B5EF4-FFF2-40B4-BE49-F238E27FC236}">
                <a16:creationId xmlns:a16="http://schemas.microsoft.com/office/drawing/2014/main" id="{3BA065C0-65C8-01C2-B437-027A50B91684}"/>
              </a:ext>
            </a:extLst>
          </p:cNvPr>
          <p:cNvSpPr>
            <a:spLocks noChangeArrowheads="1"/>
          </p:cNvSpPr>
          <p:nvPr/>
        </p:nvSpPr>
        <p:spPr bwMode="auto">
          <a:xfrm>
            <a:off x="2846135" y="2821581"/>
            <a:ext cx="2332721" cy="215141"/>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功能设计</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AutoShape 128">
            <a:extLst>
              <a:ext uri="{FF2B5EF4-FFF2-40B4-BE49-F238E27FC236}">
                <a16:creationId xmlns:a16="http://schemas.microsoft.com/office/drawing/2014/main" id="{C415CC84-5D43-C8A9-9374-44B8D5B0BAFF}"/>
              </a:ext>
            </a:extLst>
          </p:cNvPr>
          <p:cNvSpPr>
            <a:spLocks noChangeArrowheads="1"/>
          </p:cNvSpPr>
          <p:nvPr/>
        </p:nvSpPr>
        <p:spPr bwMode="auto">
          <a:xfrm>
            <a:off x="3301795" y="3092171"/>
            <a:ext cx="1523795" cy="233916"/>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系统开发与测试</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AutoShape 24">
            <a:extLst>
              <a:ext uri="{FF2B5EF4-FFF2-40B4-BE49-F238E27FC236}">
                <a16:creationId xmlns:a16="http://schemas.microsoft.com/office/drawing/2014/main" id="{3B285D72-A3EE-C02D-81CC-3C95BBDC6B2B}"/>
              </a:ext>
            </a:extLst>
          </p:cNvPr>
          <p:cNvSpPr>
            <a:spLocks noChangeArrowheads="1"/>
          </p:cNvSpPr>
          <p:nvPr/>
        </p:nvSpPr>
        <p:spPr bwMode="auto">
          <a:xfrm>
            <a:off x="3307702" y="4365324"/>
            <a:ext cx="783104" cy="21514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业务流程培训</a:t>
            </a:r>
          </a:p>
        </p:txBody>
      </p:sp>
      <p:sp>
        <p:nvSpPr>
          <p:cNvPr id="45" name="AutoShape 7">
            <a:extLst>
              <a:ext uri="{FF2B5EF4-FFF2-40B4-BE49-F238E27FC236}">
                <a16:creationId xmlns:a16="http://schemas.microsoft.com/office/drawing/2014/main" id="{784190B1-E733-19B1-3076-5B443332D941}"/>
              </a:ext>
            </a:extLst>
          </p:cNvPr>
          <p:cNvSpPr>
            <a:spLocks noChangeArrowheads="1"/>
          </p:cNvSpPr>
          <p:nvPr/>
        </p:nvSpPr>
        <p:spPr bwMode="auto">
          <a:xfrm>
            <a:off x="2604642" y="3561813"/>
            <a:ext cx="1685271" cy="215141"/>
          </a:xfrm>
          <a:prstGeom prst="flowChartProcess">
            <a:avLst/>
          </a:prstGeom>
          <a:solidFill>
            <a:srgbClr val="EAEAEA"/>
          </a:solidFill>
          <a:ln w="6350" algn="ctr">
            <a:solidFill>
              <a:sysClr val="windowText" lastClr="000000"/>
            </a:solidFill>
            <a:miter lim="800000"/>
          </a:ln>
        </p:spPr>
        <p:txBody>
          <a:bodyPr wrap="square" lIns="0" r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数据清洗</a:t>
            </a:r>
          </a:p>
        </p:txBody>
      </p:sp>
      <p:sp>
        <p:nvSpPr>
          <p:cNvPr id="46" name="AutoShape 7">
            <a:extLst>
              <a:ext uri="{FF2B5EF4-FFF2-40B4-BE49-F238E27FC236}">
                <a16:creationId xmlns:a16="http://schemas.microsoft.com/office/drawing/2014/main" id="{C86DDC27-A144-45C3-8C01-15AE4A1064AC}"/>
              </a:ext>
            </a:extLst>
          </p:cNvPr>
          <p:cNvSpPr>
            <a:spLocks noChangeArrowheads="1"/>
          </p:cNvSpPr>
          <p:nvPr/>
        </p:nvSpPr>
        <p:spPr bwMode="auto">
          <a:xfrm>
            <a:off x="3013722" y="3810513"/>
            <a:ext cx="1685271" cy="215141"/>
          </a:xfrm>
          <a:prstGeom prst="flowChartProcess">
            <a:avLst/>
          </a:prstGeom>
          <a:solidFill>
            <a:srgbClr val="EAEAEA"/>
          </a:solidFill>
          <a:ln w="6350" algn="ctr">
            <a:solidFill>
              <a:sysClr val="windowText" lastClr="000000"/>
            </a:solidFill>
            <a:miter lim="800000"/>
          </a:ln>
        </p:spPr>
        <p:txBody>
          <a:bodyPr wrap="square" lIns="0" r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静态数据</a:t>
            </a:r>
            <a:r>
              <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第一批动态数据</a:t>
            </a:r>
          </a:p>
        </p:txBody>
      </p:sp>
      <p:sp>
        <p:nvSpPr>
          <p:cNvPr id="47" name="AutoShape 11">
            <a:extLst>
              <a:ext uri="{FF2B5EF4-FFF2-40B4-BE49-F238E27FC236}">
                <a16:creationId xmlns:a16="http://schemas.microsoft.com/office/drawing/2014/main" id="{993FCFA0-9785-AC70-EF98-4E2B03C1A5A5}"/>
              </a:ext>
            </a:extLst>
          </p:cNvPr>
          <p:cNvSpPr>
            <a:spLocks noChangeArrowheads="1"/>
          </p:cNvSpPr>
          <p:nvPr/>
        </p:nvSpPr>
        <p:spPr bwMode="auto">
          <a:xfrm>
            <a:off x="5618118" y="3407005"/>
            <a:ext cx="633150" cy="215141"/>
          </a:xfrm>
          <a:prstGeom prst="flowChartProcess">
            <a:avLst/>
          </a:prstGeom>
          <a:solidFill>
            <a:srgbClr val="EAEAEA"/>
          </a:solidFill>
          <a:ln w="6350" algn="ctr">
            <a:solidFill>
              <a:sysClr val="windowText" lastClr="000000"/>
            </a:solidFill>
            <a:miter lim="800000"/>
          </a:ln>
        </p:spPr>
        <p:txBody>
          <a:bodyPr wrap="none" lIns="33099" anchor="ctr"/>
          <a:lstStyle/>
          <a:p>
            <a:pPr algn="ctr">
              <a:defRPr/>
            </a:pPr>
            <a:r>
              <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接受度测试</a:t>
            </a:r>
          </a:p>
        </p:txBody>
      </p:sp>
      <p:sp>
        <p:nvSpPr>
          <p:cNvPr id="48" name="AutoShape 11">
            <a:extLst>
              <a:ext uri="{FF2B5EF4-FFF2-40B4-BE49-F238E27FC236}">
                <a16:creationId xmlns:a16="http://schemas.microsoft.com/office/drawing/2014/main" id="{B416F53D-3338-8705-898E-DC5176ED1D9D}"/>
              </a:ext>
            </a:extLst>
          </p:cNvPr>
          <p:cNvSpPr>
            <a:spLocks noChangeArrowheads="1"/>
          </p:cNvSpPr>
          <p:nvPr/>
        </p:nvSpPr>
        <p:spPr bwMode="auto">
          <a:xfrm>
            <a:off x="5485707" y="3091622"/>
            <a:ext cx="614766" cy="234465"/>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性能测试</a:t>
            </a:r>
          </a:p>
        </p:txBody>
      </p:sp>
      <p:sp>
        <p:nvSpPr>
          <p:cNvPr id="49" name="AutoShape 7">
            <a:extLst>
              <a:ext uri="{FF2B5EF4-FFF2-40B4-BE49-F238E27FC236}">
                <a16:creationId xmlns:a16="http://schemas.microsoft.com/office/drawing/2014/main" id="{CA50D051-98AB-9CFC-D76C-111C9C0855D1}"/>
              </a:ext>
            </a:extLst>
          </p:cNvPr>
          <p:cNvSpPr>
            <a:spLocks noChangeArrowheads="1"/>
          </p:cNvSpPr>
          <p:nvPr/>
        </p:nvSpPr>
        <p:spPr bwMode="auto">
          <a:xfrm>
            <a:off x="5439268" y="4132876"/>
            <a:ext cx="1591907" cy="215141"/>
          </a:xfrm>
          <a:prstGeom prst="flowChartProcess">
            <a:avLst/>
          </a:prstGeom>
          <a:solidFill>
            <a:srgbClr val="EAEAEA"/>
          </a:solidFill>
          <a:ln w="6350" algn="ctr">
            <a:solidFill>
              <a:sysClr val="windowText" lastClr="000000"/>
            </a:solidFill>
            <a:miter lim="800000"/>
          </a:ln>
        </p:spPr>
        <p:txBody>
          <a:bodyPr wrap="square" l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   数据整理导入</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0" name="AutoShape 11">
            <a:extLst>
              <a:ext uri="{FF2B5EF4-FFF2-40B4-BE49-F238E27FC236}">
                <a16:creationId xmlns:a16="http://schemas.microsoft.com/office/drawing/2014/main" id="{5667B515-4F01-52C9-FEF2-A761DF6508E7}"/>
              </a:ext>
            </a:extLst>
          </p:cNvPr>
          <p:cNvSpPr>
            <a:spLocks noChangeArrowheads="1"/>
          </p:cNvSpPr>
          <p:nvPr/>
        </p:nvSpPr>
        <p:spPr bwMode="auto">
          <a:xfrm>
            <a:off x="4829552" y="3092170"/>
            <a:ext cx="647168" cy="233917"/>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集成测试</a:t>
            </a:r>
          </a:p>
        </p:txBody>
      </p:sp>
      <p:sp>
        <p:nvSpPr>
          <p:cNvPr id="51" name="AutoShape 7">
            <a:extLst>
              <a:ext uri="{FF2B5EF4-FFF2-40B4-BE49-F238E27FC236}">
                <a16:creationId xmlns:a16="http://schemas.microsoft.com/office/drawing/2014/main" id="{92F47459-C65D-83F0-4892-6BEDE605349C}"/>
              </a:ext>
            </a:extLst>
          </p:cNvPr>
          <p:cNvSpPr>
            <a:spLocks noChangeArrowheads="1"/>
          </p:cNvSpPr>
          <p:nvPr/>
        </p:nvSpPr>
        <p:spPr bwMode="auto">
          <a:xfrm>
            <a:off x="5973669" y="3846747"/>
            <a:ext cx="1055356" cy="215141"/>
          </a:xfrm>
          <a:prstGeom prst="flowChartProcess">
            <a:avLst/>
          </a:prstGeom>
          <a:solidFill>
            <a:srgbClr val="EAEAEA"/>
          </a:solidFill>
          <a:ln w="6350" algn="ctr">
            <a:solidFill>
              <a:sysClr val="windowText" lastClr="000000"/>
            </a:solidFill>
            <a:miter lim="800000"/>
          </a:ln>
        </p:spPr>
        <p:txBody>
          <a:bodyPr wrap="square" lIns="0" r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动态数据增量收集</a:t>
            </a:r>
          </a:p>
        </p:txBody>
      </p:sp>
      <p:sp>
        <p:nvSpPr>
          <p:cNvPr id="52" name="AutoShape 31">
            <a:extLst>
              <a:ext uri="{FF2B5EF4-FFF2-40B4-BE49-F238E27FC236}">
                <a16:creationId xmlns:a16="http://schemas.microsoft.com/office/drawing/2014/main" id="{177BEF99-C32A-A590-F936-E157CD8E7E83}"/>
              </a:ext>
            </a:extLst>
          </p:cNvPr>
          <p:cNvSpPr>
            <a:spLocks noChangeArrowheads="1"/>
          </p:cNvSpPr>
          <p:nvPr/>
        </p:nvSpPr>
        <p:spPr bwMode="auto">
          <a:xfrm>
            <a:off x="6680702" y="5031757"/>
            <a:ext cx="598723" cy="21514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上线切换</a:t>
            </a:r>
          </a:p>
        </p:txBody>
      </p:sp>
      <p:sp>
        <p:nvSpPr>
          <p:cNvPr id="53" name="AutoShape 31">
            <a:extLst>
              <a:ext uri="{FF2B5EF4-FFF2-40B4-BE49-F238E27FC236}">
                <a16:creationId xmlns:a16="http://schemas.microsoft.com/office/drawing/2014/main" id="{148235AC-5955-DE4B-7AA8-0AE039017B0B}"/>
              </a:ext>
            </a:extLst>
          </p:cNvPr>
          <p:cNvSpPr>
            <a:spLocks noChangeArrowheads="1"/>
          </p:cNvSpPr>
          <p:nvPr/>
        </p:nvSpPr>
        <p:spPr bwMode="auto">
          <a:xfrm>
            <a:off x="7297725" y="5031757"/>
            <a:ext cx="1530335" cy="21514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上线试运行</a:t>
            </a:r>
          </a:p>
        </p:txBody>
      </p:sp>
      <p:sp>
        <p:nvSpPr>
          <p:cNvPr id="54" name="AutoShape 68">
            <a:extLst>
              <a:ext uri="{FF2B5EF4-FFF2-40B4-BE49-F238E27FC236}">
                <a16:creationId xmlns:a16="http://schemas.microsoft.com/office/drawing/2014/main" id="{1061668B-02AD-CE37-755A-2B343DC47E99}"/>
              </a:ext>
            </a:extLst>
          </p:cNvPr>
          <p:cNvSpPr>
            <a:spLocks noChangeArrowheads="1"/>
          </p:cNvSpPr>
          <p:nvPr/>
        </p:nvSpPr>
        <p:spPr bwMode="auto">
          <a:xfrm>
            <a:off x="5638628" y="4401360"/>
            <a:ext cx="1398416" cy="380651"/>
          </a:xfrm>
          <a:prstGeom prst="flowChartProcess">
            <a:avLst/>
          </a:prstGeom>
          <a:solidFill>
            <a:srgbClr val="EAEAEA"/>
          </a:solidFill>
          <a:ln w="6350" algn="ctr">
            <a:solidFill>
              <a:sysClr val="windowText" lastClr="000000"/>
            </a:solidFill>
            <a:miter lim="800000"/>
          </a:ln>
        </p:spPr>
        <p:txBody>
          <a:bodyPr wrap="none" lIns="0" anchor="ctr"/>
          <a:lstStyle/>
          <a:p>
            <a:pPr algn="ctr">
              <a:defRPr/>
            </a:pPr>
            <a:r>
              <a:rPr lang="zh-CN" altLang="en-US" sz="895" b="1" kern="0" dirty="0">
                <a:solidFill>
                  <a:prstClr val="black"/>
                </a:solidFill>
                <a:latin typeface="幼圆" panose="02010509060101010101" pitchFamily="49" charset="-122"/>
                <a:ea typeface="幼圆" panose="02010509060101010101" pitchFamily="49" charset="-122"/>
                <a:cs typeface="Arial" panose="020B0604020202020204" pitchFamily="34" charset="0"/>
              </a:rPr>
              <a:t>  </a:t>
            </a: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用户培训（关键用户、</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  最终用户、运维用户）</a:t>
            </a:r>
            <a:endParaRPr lang="en-US" altLang="zh-CN"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5" name="AutoShape 91">
            <a:extLst>
              <a:ext uri="{FF2B5EF4-FFF2-40B4-BE49-F238E27FC236}">
                <a16:creationId xmlns:a16="http://schemas.microsoft.com/office/drawing/2014/main" id="{900254D9-29D8-8441-4A28-1ACC5369CBAE}"/>
              </a:ext>
            </a:extLst>
          </p:cNvPr>
          <p:cNvSpPr>
            <a:spLocks noChangeArrowheads="1"/>
          </p:cNvSpPr>
          <p:nvPr/>
        </p:nvSpPr>
        <p:spPr bwMode="auto">
          <a:xfrm>
            <a:off x="2347856" y="5304763"/>
            <a:ext cx="9283409" cy="198000"/>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系统环境搭建及维护</a:t>
            </a:r>
          </a:p>
        </p:txBody>
      </p:sp>
      <p:sp>
        <p:nvSpPr>
          <p:cNvPr id="56" name="AutoShape 91">
            <a:extLst>
              <a:ext uri="{FF2B5EF4-FFF2-40B4-BE49-F238E27FC236}">
                <a16:creationId xmlns:a16="http://schemas.microsoft.com/office/drawing/2014/main" id="{3CE8EFDE-4286-96EE-2FE6-31B9BC558B81}"/>
              </a:ext>
            </a:extLst>
          </p:cNvPr>
          <p:cNvSpPr>
            <a:spLocks noChangeArrowheads="1"/>
          </p:cNvSpPr>
          <p:nvPr/>
        </p:nvSpPr>
        <p:spPr bwMode="auto">
          <a:xfrm>
            <a:off x="1928283" y="5531294"/>
            <a:ext cx="9693758" cy="198000"/>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运维体系建设</a:t>
            </a:r>
          </a:p>
        </p:txBody>
      </p:sp>
      <p:sp>
        <p:nvSpPr>
          <p:cNvPr id="57" name="AutoShape 28">
            <a:extLst>
              <a:ext uri="{FF2B5EF4-FFF2-40B4-BE49-F238E27FC236}">
                <a16:creationId xmlns:a16="http://schemas.microsoft.com/office/drawing/2014/main" id="{1B37DC83-1089-0DEC-CEE0-F04A384E6E7F}"/>
              </a:ext>
            </a:extLst>
          </p:cNvPr>
          <p:cNvSpPr>
            <a:spLocks noChangeArrowheads="1"/>
          </p:cNvSpPr>
          <p:nvPr/>
        </p:nvSpPr>
        <p:spPr bwMode="auto">
          <a:xfrm>
            <a:off x="1928283" y="5760053"/>
            <a:ext cx="9693758" cy="198000"/>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宣传沟通</a:t>
            </a:r>
          </a:p>
        </p:txBody>
      </p:sp>
      <p:sp>
        <p:nvSpPr>
          <p:cNvPr id="58" name="AutoShape 28">
            <a:extLst>
              <a:ext uri="{FF2B5EF4-FFF2-40B4-BE49-F238E27FC236}">
                <a16:creationId xmlns:a16="http://schemas.microsoft.com/office/drawing/2014/main" id="{5C0813B1-41E6-53FC-2412-66035EF385A5}"/>
              </a:ext>
            </a:extLst>
          </p:cNvPr>
          <p:cNvSpPr>
            <a:spLocks noChangeArrowheads="1"/>
          </p:cNvSpPr>
          <p:nvPr/>
        </p:nvSpPr>
        <p:spPr bwMode="auto">
          <a:xfrm>
            <a:off x="1928282" y="5966829"/>
            <a:ext cx="9693759" cy="198233"/>
          </a:xfrm>
          <a:prstGeom prst="flowChartProcess">
            <a:avLst/>
          </a:prstGeom>
          <a:solidFill>
            <a:srgbClr val="EAEAEA"/>
          </a:solidFill>
          <a:ln w="6350" algn="ctr">
            <a:solidFill>
              <a:sysClr val="windowText" lastClr="000000"/>
            </a:solidFill>
            <a:miter lim="800000"/>
          </a:ln>
        </p:spPr>
        <p:txBody>
          <a:bodyPr wrap="none" anchor="ctr"/>
          <a:lstStyle/>
          <a:p>
            <a:pPr algn="ctr">
              <a:defRPr/>
            </a:pPr>
            <a:r>
              <a:rPr lang="zh-CN" altLang="en-US" sz="895" b="1" kern="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项目管理</a:t>
            </a:r>
          </a:p>
        </p:txBody>
      </p:sp>
      <p:sp>
        <p:nvSpPr>
          <p:cNvPr id="59" name="AutoShape 62">
            <a:extLst>
              <a:ext uri="{FF2B5EF4-FFF2-40B4-BE49-F238E27FC236}">
                <a16:creationId xmlns:a16="http://schemas.microsoft.com/office/drawing/2014/main" id="{6C74AF3A-3C80-B82E-7755-D67E5D9E2EF9}"/>
              </a:ext>
            </a:extLst>
          </p:cNvPr>
          <p:cNvSpPr>
            <a:spLocks noChangeArrowheads="1"/>
          </p:cNvSpPr>
          <p:nvPr/>
        </p:nvSpPr>
        <p:spPr bwMode="auto">
          <a:xfrm>
            <a:off x="6176083" y="3264629"/>
            <a:ext cx="184577" cy="178066"/>
          </a:xfrm>
          <a:prstGeom prst="star5">
            <a:avLst/>
          </a:prstGeom>
          <a:solidFill>
            <a:srgbClr val="FFFF00"/>
          </a:solidFill>
          <a:ln w="9525">
            <a:solidFill>
              <a:srgbClr val="000000"/>
            </a:solidFill>
            <a:miter lim="800000"/>
          </a:ln>
        </p:spPr>
        <p:txBody>
          <a:bodyPr/>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60" name="AutoShape 65">
            <a:extLst>
              <a:ext uri="{FF2B5EF4-FFF2-40B4-BE49-F238E27FC236}">
                <a16:creationId xmlns:a16="http://schemas.microsoft.com/office/drawing/2014/main" id="{7518E72F-3657-FBB1-60EE-1181ADD797F1}"/>
              </a:ext>
            </a:extLst>
          </p:cNvPr>
          <p:cNvSpPr>
            <a:spLocks noChangeArrowheads="1"/>
          </p:cNvSpPr>
          <p:nvPr/>
        </p:nvSpPr>
        <p:spPr bwMode="auto">
          <a:xfrm>
            <a:off x="7165159" y="4888956"/>
            <a:ext cx="200281" cy="215141"/>
          </a:xfrm>
          <a:prstGeom prst="star5">
            <a:avLst/>
          </a:prstGeom>
          <a:solidFill>
            <a:srgbClr val="FF0000"/>
          </a:solidFill>
          <a:ln w="9525">
            <a:solidFill>
              <a:srgbClr val="000000"/>
            </a:solidFill>
            <a:miter lim="800000"/>
          </a:ln>
        </p:spPr>
        <p:txBody>
          <a:bodyPr lIns="0"/>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61" name="AutoShape 62">
            <a:extLst>
              <a:ext uri="{FF2B5EF4-FFF2-40B4-BE49-F238E27FC236}">
                <a16:creationId xmlns:a16="http://schemas.microsoft.com/office/drawing/2014/main" id="{968BB0B6-1837-BC74-4C0A-DBFA90D3785F}"/>
              </a:ext>
            </a:extLst>
          </p:cNvPr>
          <p:cNvSpPr>
            <a:spLocks noChangeArrowheads="1"/>
          </p:cNvSpPr>
          <p:nvPr/>
        </p:nvSpPr>
        <p:spPr bwMode="auto">
          <a:xfrm>
            <a:off x="6996134" y="4069861"/>
            <a:ext cx="184577" cy="178066"/>
          </a:xfrm>
          <a:prstGeom prst="star5">
            <a:avLst/>
          </a:prstGeom>
          <a:solidFill>
            <a:srgbClr val="FFFF00"/>
          </a:solidFill>
          <a:ln w="9525">
            <a:solidFill>
              <a:srgbClr val="000000"/>
            </a:solidFill>
            <a:miter lim="800000"/>
          </a:ln>
        </p:spPr>
        <p:txBody>
          <a:bodyPr/>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62" name="文本框 61">
            <a:extLst>
              <a:ext uri="{FF2B5EF4-FFF2-40B4-BE49-F238E27FC236}">
                <a16:creationId xmlns:a16="http://schemas.microsoft.com/office/drawing/2014/main" id="{C9086057-8E29-99FD-2B4A-E314716AFE58}"/>
              </a:ext>
            </a:extLst>
          </p:cNvPr>
          <p:cNvSpPr txBox="1"/>
          <p:nvPr/>
        </p:nvSpPr>
        <p:spPr>
          <a:xfrm>
            <a:off x="6860465" y="4223044"/>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8/30</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sp>
        <p:nvSpPr>
          <p:cNvPr id="63" name="AutoShape 62">
            <a:extLst>
              <a:ext uri="{FF2B5EF4-FFF2-40B4-BE49-F238E27FC236}">
                <a16:creationId xmlns:a16="http://schemas.microsoft.com/office/drawing/2014/main" id="{78D7D675-70FE-7119-0A62-C682A7656BA0}"/>
              </a:ext>
            </a:extLst>
          </p:cNvPr>
          <p:cNvSpPr>
            <a:spLocks noChangeArrowheads="1"/>
          </p:cNvSpPr>
          <p:nvPr/>
        </p:nvSpPr>
        <p:spPr bwMode="auto">
          <a:xfrm>
            <a:off x="4501135" y="3791310"/>
            <a:ext cx="184577" cy="178066"/>
          </a:xfrm>
          <a:prstGeom prst="star5">
            <a:avLst/>
          </a:prstGeom>
          <a:solidFill>
            <a:srgbClr val="FFFF00"/>
          </a:solidFill>
          <a:ln w="9525">
            <a:solidFill>
              <a:srgbClr val="000000"/>
            </a:solidFill>
            <a:miter lim="800000"/>
          </a:ln>
        </p:spPr>
        <p:txBody>
          <a:bodyPr/>
          <a:lstStyle/>
          <a:p>
            <a:pPr algn="ctr">
              <a:defRPr/>
            </a:pPr>
            <a:endParaRPr lang="en-US" sz="895" b="1">
              <a:solidFill>
                <a:prstClr val="black"/>
              </a:solidFill>
              <a:latin typeface="幼圆" panose="02010509060101010101" pitchFamily="49" charset="-122"/>
              <a:ea typeface="幼圆" panose="02010509060101010101" pitchFamily="49" charset="-122"/>
              <a:cs typeface="Arial" panose="020B0604020202020204" pitchFamily="34" charset="0"/>
            </a:endParaRPr>
          </a:p>
        </p:txBody>
      </p:sp>
      <p:sp>
        <p:nvSpPr>
          <p:cNvPr id="64" name="文本框 63">
            <a:extLst>
              <a:ext uri="{FF2B5EF4-FFF2-40B4-BE49-F238E27FC236}">
                <a16:creationId xmlns:a16="http://schemas.microsoft.com/office/drawing/2014/main" id="{7BA97C86-33F2-5FEA-2679-77EFF44B3693}"/>
              </a:ext>
            </a:extLst>
          </p:cNvPr>
          <p:cNvSpPr txBox="1"/>
          <p:nvPr/>
        </p:nvSpPr>
        <p:spPr>
          <a:xfrm>
            <a:off x="7178807" y="4763904"/>
            <a:ext cx="440277" cy="225690"/>
          </a:xfrm>
          <a:prstGeom prst="rect">
            <a:avLst/>
          </a:prstGeom>
          <a:noFill/>
        </p:spPr>
        <p:txBody>
          <a:bodyPr vert="horz" wrap="square" lIns="35857" tIns="35857" rIns="35857" bIns="35857" rtlCol="0">
            <a:spAutoFit/>
          </a:bodyPr>
          <a:lstStyle/>
          <a:p>
            <a:pPr algn="ctr"/>
            <a:r>
              <a:rPr lang="en-US" altLang="zh-HK" sz="995" dirty="0">
                <a:solidFill>
                  <a:schemeClr val="accent1"/>
                </a:solidFill>
                <a:latin typeface="微软雅黑" panose="020B0503020204020204" pitchFamily="34" charset="-122"/>
                <a:ea typeface="微软雅黑" panose="020B0503020204020204" pitchFamily="34" charset="-122"/>
              </a:rPr>
              <a:t>9/6</a:t>
            </a:r>
            <a:endParaRPr lang="zh-HK" altLang="en-US" sz="995" dirty="0">
              <a:solidFill>
                <a:schemeClr val="accent1"/>
              </a:solidFill>
              <a:latin typeface="微软雅黑" panose="020B0503020204020204" pitchFamily="34" charset="-122"/>
              <a:ea typeface="微软雅黑" panose="020B0503020204020204" pitchFamily="34" charset="-122"/>
            </a:endParaRPr>
          </a:p>
        </p:txBody>
      </p:sp>
      <p:cxnSp>
        <p:nvCxnSpPr>
          <p:cNvPr id="66" name="直接连接符 54">
            <a:extLst>
              <a:ext uri="{FF2B5EF4-FFF2-40B4-BE49-F238E27FC236}">
                <a16:creationId xmlns:a16="http://schemas.microsoft.com/office/drawing/2014/main" id="{EF2FD29A-F52C-C93D-4220-CD75B77B31F3}"/>
              </a:ext>
            </a:extLst>
          </p:cNvPr>
          <p:cNvCxnSpPr>
            <a:cxnSpLocks/>
          </p:cNvCxnSpPr>
          <p:nvPr/>
        </p:nvCxnSpPr>
        <p:spPr bwMode="auto">
          <a:xfrm flipH="1">
            <a:off x="2655051" y="1599742"/>
            <a:ext cx="14990" cy="4545396"/>
          </a:xfrm>
          <a:prstGeom prst="line">
            <a:avLst/>
          </a:prstGeom>
          <a:solidFill>
            <a:sysClr val="window" lastClr="FFFFFF"/>
          </a:solidFill>
          <a:ln w="25400" cap="flat" cmpd="sng" algn="ctr">
            <a:solidFill>
              <a:srgbClr val="FF0000"/>
            </a:solidFill>
            <a:prstDash val="solid"/>
            <a:round/>
            <a:headEnd type="none" w="med" len="med"/>
            <a:tailEnd type="none" w="med" len="med"/>
          </a:ln>
          <a:effectLst/>
        </p:spPr>
      </p:cxnSp>
      <p:sp>
        <p:nvSpPr>
          <p:cNvPr id="67" name="波形 66">
            <a:extLst>
              <a:ext uri="{FF2B5EF4-FFF2-40B4-BE49-F238E27FC236}">
                <a16:creationId xmlns:a16="http://schemas.microsoft.com/office/drawing/2014/main" id="{D36764FC-EBB0-0D58-FEE0-733C0310B38D}"/>
              </a:ext>
            </a:extLst>
          </p:cNvPr>
          <p:cNvSpPr/>
          <p:nvPr/>
        </p:nvSpPr>
        <p:spPr>
          <a:xfrm>
            <a:off x="2655051" y="1579231"/>
            <a:ext cx="411356" cy="218894"/>
          </a:xfrm>
          <a:prstGeom prst="wave">
            <a:avLst/>
          </a:prstGeom>
          <a:solidFill>
            <a:srgbClr val="FFC000"/>
          </a:solidFill>
        </p:spPr>
        <p:txBody>
          <a:bodyPr wrap="square" rtlCol="0" anchor="ctr">
            <a:spAutoFit/>
          </a:bodyPr>
          <a:lstStyle/>
          <a:p>
            <a:pPr algn="ctr"/>
            <a:endParaRPr lang="zh-HK" altLang="en-US"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467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项目实施</a:t>
            </a:r>
          </a:p>
        </p:txBody>
      </p:sp>
    </p:spTree>
    <p:extLst>
      <p:ext uri="{BB962C8B-B14F-4D97-AF65-F5344CB8AC3E}">
        <p14:creationId xmlns:p14="http://schemas.microsoft.com/office/powerpoint/2010/main" val="64225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CF6AB-C28C-52A2-1F5F-400B9FC10A95}"/>
              </a:ext>
            </a:extLst>
          </p:cNvPr>
          <p:cNvSpPr>
            <a:spLocks noGrp="1"/>
          </p:cNvSpPr>
          <p:nvPr>
            <p:ph type="title"/>
          </p:nvPr>
        </p:nvSpPr>
        <p:spPr/>
        <p:txBody>
          <a:bodyPr/>
          <a:lstStyle/>
          <a:p>
            <a:r>
              <a:rPr kumimoji="1" lang="zh-CN" altLang="en-US" dirty="0"/>
              <a:t>对于关键用户工作的基本要求</a:t>
            </a:r>
          </a:p>
        </p:txBody>
      </p:sp>
      <p:sp>
        <p:nvSpPr>
          <p:cNvPr id="3" name="文本占位符 2">
            <a:extLst>
              <a:ext uri="{FF2B5EF4-FFF2-40B4-BE49-F238E27FC236}">
                <a16:creationId xmlns:a16="http://schemas.microsoft.com/office/drawing/2014/main" id="{8F2341D2-D51E-7F1B-57DD-B239CEE9100D}"/>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2634758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关键用户深度参与项目实施</a:t>
            </a:r>
          </a:p>
        </p:txBody>
      </p:sp>
      <p:grpSp>
        <p:nvGrpSpPr>
          <p:cNvPr id="33" name="组合 32">
            <a:extLst>
              <a:ext uri="{FF2B5EF4-FFF2-40B4-BE49-F238E27FC236}">
                <a16:creationId xmlns:a16="http://schemas.microsoft.com/office/drawing/2014/main" id="{2CF8330E-CB07-A32F-ADAE-CC833765E958}"/>
              </a:ext>
            </a:extLst>
          </p:cNvPr>
          <p:cNvGrpSpPr/>
          <p:nvPr/>
        </p:nvGrpSpPr>
        <p:grpSpPr>
          <a:xfrm>
            <a:off x="304404" y="743892"/>
            <a:ext cx="11316096" cy="5522778"/>
            <a:chOff x="304404" y="738723"/>
            <a:chExt cx="9291659" cy="5684989"/>
          </a:xfrm>
        </p:grpSpPr>
        <p:sp>
          <p:nvSpPr>
            <p:cNvPr id="3" name="Content Placeholder 1">
              <a:extLst>
                <a:ext uri="{FF2B5EF4-FFF2-40B4-BE49-F238E27FC236}">
                  <a16:creationId xmlns:a16="http://schemas.microsoft.com/office/drawing/2014/main" id="{0E42AD33-1953-F125-2BC6-7B179C2BC834}"/>
                </a:ext>
              </a:extLst>
            </p:cNvPr>
            <p:cNvSpPr txBox="1">
              <a:spLocks/>
            </p:cNvSpPr>
            <p:nvPr/>
          </p:nvSpPr>
          <p:spPr>
            <a:xfrm>
              <a:off x="304404" y="738723"/>
              <a:ext cx="9291659" cy="56849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600" kern="100" dirty="0"/>
                <a:t>关键用户按照项目参与程度及职责分工，分为内部顾问、项目组关键用户和实施单位关键用户，项目组关键用户在整个项目的实施过程中深度参与项目</a:t>
              </a:r>
              <a:endParaRPr lang="en-US" altLang="zh-CN" sz="1600" kern="100" dirty="0"/>
            </a:p>
          </p:txBody>
        </p:sp>
        <p:sp>
          <p:nvSpPr>
            <p:cNvPr id="5" name="AutoShape 5">
              <a:extLst>
                <a:ext uri="{FF2B5EF4-FFF2-40B4-BE49-F238E27FC236}">
                  <a16:creationId xmlns:a16="http://schemas.microsoft.com/office/drawing/2014/main" id="{4C787C2F-FD94-21C6-CBB2-8C31ECE6037C}"/>
                </a:ext>
              </a:extLst>
            </p:cNvPr>
            <p:cNvSpPr>
              <a:spLocks noChangeArrowheads="1"/>
            </p:cNvSpPr>
            <p:nvPr/>
          </p:nvSpPr>
          <p:spPr bwMode="auto">
            <a:xfrm>
              <a:off x="1945273" y="2179028"/>
              <a:ext cx="1828800" cy="365760"/>
            </a:xfrm>
            <a:prstGeom prst="rect">
              <a:avLst/>
            </a:prstGeom>
            <a:solidFill>
              <a:schemeClr val="bg1">
                <a:lumMod val="95000"/>
              </a:schemeClr>
            </a:solid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panose="020B0503020204020204" pitchFamily="34" charset="-122"/>
                  <a:ea typeface="微软雅黑" panose="020B0503020204020204" pitchFamily="34" charset="-122"/>
                </a:rPr>
                <a:t>内部顾问</a:t>
              </a:r>
              <a:endParaRPr lang="en-US" altLang="zh-CN" sz="1600" b="1" dirty="0">
                <a:latin typeface="微软雅黑" panose="020B0503020204020204" pitchFamily="34" charset="-122"/>
                <a:ea typeface="微软雅黑" panose="020B0503020204020204" pitchFamily="34" charset="-122"/>
              </a:endParaRPr>
            </a:p>
          </p:txBody>
        </p:sp>
        <p:sp>
          <p:nvSpPr>
            <p:cNvPr id="6" name="Rectangle 7">
              <a:extLst>
                <a:ext uri="{FF2B5EF4-FFF2-40B4-BE49-F238E27FC236}">
                  <a16:creationId xmlns:a16="http://schemas.microsoft.com/office/drawing/2014/main" id="{B6DE87ED-432B-C8B6-A4A1-83B10B25CE6D}"/>
                </a:ext>
              </a:extLst>
            </p:cNvPr>
            <p:cNvSpPr>
              <a:spLocks noChangeArrowheads="1"/>
            </p:cNvSpPr>
            <p:nvPr/>
          </p:nvSpPr>
          <p:spPr bwMode="gray">
            <a:xfrm>
              <a:off x="6329455" y="2501706"/>
              <a:ext cx="2734451"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panose="020B0503020204020204" pitchFamily="34" charset="-122"/>
                  <a:ea typeface="微软雅黑" panose="020B0503020204020204" pitchFamily="34" charset="-122"/>
                </a:rPr>
                <a:t>在</a:t>
              </a:r>
              <a:r>
                <a:rPr lang="en-US" altLang="zh-CN" sz="1400" dirty="0">
                  <a:latin typeface="微软雅黑" panose="020B0503020204020204" pitchFamily="34" charset="-122"/>
                  <a:ea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rPr>
                <a:t>系统实施期间（试点或推广），</a:t>
              </a:r>
              <a:r>
                <a:rPr lang="zh-CN" altLang="en-US" sz="1400" b="1" dirty="0">
                  <a:latin typeface="微软雅黑" panose="020B0503020204020204" pitchFamily="34" charset="-122"/>
                  <a:ea typeface="微软雅黑" panose="020B0503020204020204" pitchFamily="34" charset="-122"/>
                </a:rPr>
                <a:t>从上线单位抽调</a:t>
              </a:r>
              <a:r>
                <a:rPr lang="zh-CN" altLang="en-US" sz="1400" dirty="0">
                  <a:latin typeface="微软雅黑" panose="020B0503020204020204" pitchFamily="34" charset="-122"/>
                  <a:ea typeface="微软雅黑" panose="020B0503020204020204" pitchFamily="34" charset="-122"/>
                </a:rPr>
                <a:t>的业务骨干</a:t>
              </a:r>
              <a:endParaRPr lang="en-US" altLang="zh-CN" sz="1400" dirty="0">
                <a:latin typeface="微软雅黑" panose="020B0503020204020204" pitchFamily="34" charset="-122"/>
                <a:ea typeface="微软雅黑" panose="020B0503020204020204" pitchFamily="34" charset="-122"/>
              </a:endParaRPr>
            </a:p>
          </p:txBody>
        </p:sp>
        <p:sp>
          <p:nvSpPr>
            <p:cNvPr id="7" name="Rectangle 4">
              <a:extLst>
                <a:ext uri="{FF2B5EF4-FFF2-40B4-BE49-F238E27FC236}">
                  <a16:creationId xmlns:a16="http://schemas.microsoft.com/office/drawing/2014/main" id="{E9BEA9B2-B403-8D22-08C5-C0691E06E91C}"/>
                </a:ext>
              </a:extLst>
            </p:cNvPr>
            <p:cNvSpPr>
              <a:spLocks noChangeArrowheads="1"/>
            </p:cNvSpPr>
            <p:nvPr/>
          </p:nvSpPr>
          <p:spPr bwMode="gray">
            <a:xfrm>
              <a:off x="1260952" y="3830403"/>
              <a:ext cx="2727145"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panose="020B0503020204020204" pitchFamily="34" charset="-122"/>
                  <a:ea typeface="微软雅黑" panose="020B0503020204020204" pitchFamily="34" charset="-122"/>
                </a:rPr>
                <a:t>全职全程</a:t>
              </a:r>
              <a:r>
                <a:rPr lang="zh-CN" altLang="en-US" sz="1400" b="1" dirty="0">
                  <a:latin typeface="微软雅黑" panose="020B0503020204020204" pitchFamily="34" charset="-122"/>
                  <a:ea typeface="微软雅黑" panose="020B0503020204020204" pitchFamily="34" charset="-122"/>
                </a:rPr>
                <a:t>参与</a:t>
              </a:r>
              <a:r>
                <a:rPr lang="en-US" altLang="zh-CN" sz="1400" b="1" dirty="0">
                  <a:latin typeface="微软雅黑" panose="020B0503020204020204" pitchFamily="34" charset="-122"/>
                  <a:ea typeface="微软雅黑" panose="020B0503020204020204" pitchFamily="34" charset="-122"/>
                </a:rPr>
                <a:t>ERP</a:t>
              </a:r>
              <a:r>
                <a:rPr lang="zh-CN" altLang="en-US" sz="1400" b="1" dirty="0">
                  <a:latin typeface="微软雅黑" panose="020B0503020204020204" pitchFamily="34" charset="-122"/>
                  <a:ea typeface="微软雅黑" panose="020B0503020204020204" pitchFamily="34" charset="-122"/>
                </a:rPr>
                <a:t>实施工作</a:t>
              </a:r>
              <a:r>
                <a:rPr lang="zh-CN" altLang="en-US" sz="1400" dirty="0">
                  <a:latin typeface="微软雅黑" panose="020B0503020204020204" pitchFamily="34" charset="-122"/>
                  <a:ea typeface="微软雅黑" panose="020B0503020204020204" pitchFamily="34" charset="-122"/>
                </a:rPr>
                <a:t>，与顾问一起参与试点、推广以及上线后运维工作</a:t>
              </a:r>
            </a:p>
          </p:txBody>
        </p:sp>
        <p:sp>
          <p:nvSpPr>
            <p:cNvPr id="8" name="Rectangle 4">
              <a:extLst>
                <a:ext uri="{FF2B5EF4-FFF2-40B4-BE49-F238E27FC236}">
                  <a16:creationId xmlns:a16="http://schemas.microsoft.com/office/drawing/2014/main" id="{98481371-21B4-A198-A248-82D5A293D4C2}"/>
                </a:ext>
              </a:extLst>
            </p:cNvPr>
            <p:cNvSpPr>
              <a:spLocks noChangeArrowheads="1"/>
            </p:cNvSpPr>
            <p:nvPr/>
          </p:nvSpPr>
          <p:spPr bwMode="gray">
            <a:xfrm>
              <a:off x="1259928" y="5076834"/>
              <a:ext cx="2729190"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panose="020B0503020204020204" pitchFamily="34" charset="-122"/>
                  <a:ea typeface="微软雅黑" panose="020B0503020204020204" pitchFamily="34" charset="-122"/>
                </a:rPr>
                <a:t>上线后将主要</a:t>
              </a:r>
              <a:r>
                <a:rPr lang="zh-CN" altLang="en-US" sz="1400" b="1" dirty="0">
                  <a:latin typeface="微软雅黑" panose="020B0503020204020204" pitchFamily="34" charset="-122"/>
                  <a:ea typeface="微软雅黑" panose="020B0503020204020204" pitchFamily="34" charset="-122"/>
                </a:rPr>
                <a:t>负责集团</a:t>
              </a:r>
              <a:r>
                <a:rPr lang="en-US" altLang="zh-CN" sz="1400" b="1" dirty="0">
                  <a:latin typeface="微软雅黑" panose="020B0503020204020204" pitchFamily="34" charset="-122"/>
                  <a:ea typeface="微软雅黑" panose="020B0503020204020204" pitchFamily="34" charset="-122"/>
                </a:rPr>
                <a:t>ERP</a:t>
              </a:r>
              <a:r>
                <a:rPr lang="zh-CN" altLang="en-US" sz="1400" b="1" dirty="0">
                  <a:latin typeface="微软雅黑" panose="020B0503020204020204" pitchFamily="34" charset="-122"/>
                  <a:ea typeface="微软雅黑" panose="020B0503020204020204" pitchFamily="34" charset="-122"/>
                </a:rPr>
                <a:t>系统运维</a:t>
              </a:r>
              <a:r>
                <a:rPr lang="zh-CN" altLang="en-US" sz="1400" dirty="0">
                  <a:latin typeface="微软雅黑" panose="020B0503020204020204" pitchFamily="34" charset="-122"/>
                  <a:ea typeface="微软雅黑" panose="020B0503020204020204" pitchFamily="34" charset="-122"/>
                </a:rPr>
                <a:t>，以及小范围新公司的推广工作</a:t>
              </a:r>
              <a:endParaRPr lang="en-US" altLang="zh-CN" sz="1400" dirty="0">
                <a:latin typeface="微软雅黑" panose="020B0503020204020204" pitchFamily="34" charset="-122"/>
                <a:ea typeface="微软雅黑" panose="020B0503020204020204" pitchFamily="34" charset="-122"/>
              </a:endParaRPr>
            </a:p>
          </p:txBody>
        </p:sp>
        <p:sp>
          <p:nvSpPr>
            <p:cNvPr id="9" name="Rectangle 6">
              <a:extLst>
                <a:ext uri="{FF2B5EF4-FFF2-40B4-BE49-F238E27FC236}">
                  <a16:creationId xmlns:a16="http://schemas.microsoft.com/office/drawing/2014/main" id="{C2751F13-76BD-3FA7-1339-2A1EB81CABC4}"/>
                </a:ext>
              </a:extLst>
            </p:cNvPr>
            <p:cNvSpPr>
              <a:spLocks noChangeArrowheads="1"/>
            </p:cNvSpPr>
            <p:nvPr/>
          </p:nvSpPr>
          <p:spPr bwMode="gray">
            <a:xfrm>
              <a:off x="3779630" y="3871347"/>
              <a:ext cx="2700967"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panose="020B0503020204020204" pitchFamily="34" charset="-122"/>
                  <a:ea typeface="微软雅黑" panose="020B0503020204020204" pitchFamily="34" charset="-122"/>
                </a:rPr>
                <a:t>全职全程</a:t>
              </a:r>
              <a:r>
                <a:rPr lang="zh-CN" altLang="en-US" sz="1400" b="1" dirty="0">
                  <a:latin typeface="微软雅黑" panose="020B0503020204020204" pitchFamily="34" charset="-122"/>
                  <a:ea typeface="微软雅黑" panose="020B0503020204020204" pitchFamily="34" charset="-122"/>
                </a:rPr>
                <a:t>参与</a:t>
              </a:r>
              <a:r>
                <a:rPr lang="en-US" altLang="zh-CN" sz="1400" b="1" dirty="0">
                  <a:latin typeface="微软雅黑" panose="020B0503020204020204" pitchFamily="34" charset="-122"/>
                  <a:ea typeface="微软雅黑" panose="020B0503020204020204" pitchFamily="34" charset="-122"/>
                </a:rPr>
                <a:t>ERP</a:t>
              </a:r>
              <a:r>
                <a:rPr lang="zh-CN" altLang="en-US" sz="1400" b="1" dirty="0">
                  <a:latin typeface="微软雅黑" panose="020B0503020204020204" pitchFamily="34" charset="-122"/>
                  <a:ea typeface="微软雅黑" panose="020B0503020204020204" pitchFamily="34" charset="-122"/>
                </a:rPr>
                <a:t>实施工作</a:t>
              </a:r>
              <a:r>
                <a:rPr lang="zh-CN" altLang="en-US" sz="1400" dirty="0">
                  <a:latin typeface="微软雅黑" panose="020B0503020204020204" pitchFamily="34" charset="-122"/>
                  <a:ea typeface="微软雅黑" panose="020B0503020204020204" pitchFamily="34" charset="-122"/>
                </a:rPr>
                <a:t>，与顾问一起参与试点、推广工作，注重全集团业务在</a:t>
              </a:r>
              <a:r>
                <a:rPr lang="en-US" altLang="zh-CN" sz="1400" dirty="0">
                  <a:latin typeface="微软雅黑" panose="020B0503020204020204" pitchFamily="34" charset="-122"/>
                  <a:ea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rPr>
                <a:t>方案中有效落地</a:t>
              </a:r>
            </a:p>
          </p:txBody>
        </p:sp>
        <p:sp>
          <p:nvSpPr>
            <p:cNvPr id="10" name="Rectangle 6">
              <a:extLst>
                <a:ext uri="{FF2B5EF4-FFF2-40B4-BE49-F238E27FC236}">
                  <a16:creationId xmlns:a16="http://schemas.microsoft.com/office/drawing/2014/main" id="{877C6A15-94C1-5FEE-C324-C043E8E0F1ED}"/>
                </a:ext>
              </a:extLst>
            </p:cNvPr>
            <p:cNvSpPr>
              <a:spLocks noChangeArrowheads="1"/>
            </p:cNvSpPr>
            <p:nvPr/>
          </p:nvSpPr>
          <p:spPr bwMode="gray">
            <a:xfrm>
              <a:off x="3779629" y="5076834"/>
              <a:ext cx="2669278"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en-US" altLang="zh-CN" sz="1400" dirty="0">
                  <a:latin typeface="微软雅黑" panose="020B0503020204020204" pitchFamily="34" charset="-122"/>
                  <a:ea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rPr>
                <a:t>项目实施完成后，一般会</a:t>
              </a:r>
              <a:r>
                <a:rPr lang="zh-CN" altLang="en-US" sz="1400" b="1" dirty="0">
                  <a:latin typeface="微软雅黑" panose="020B0503020204020204" pitchFamily="34" charset="-122"/>
                  <a:ea typeface="微软雅黑" panose="020B0503020204020204" pitchFamily="34" charset="-122"/>
                </a:rPr>
                <a:t>回原单位</a:t>
              </a:r>
              <a:r>
                <a:rPr lang="zh-CN" altLang="en-US" sz="1400" dirty="0">
                  <a:latin typeface="微软雅黑" panose="020B0503020204020204" pitchFamily="34" charset="-122"/>
                  <a:ea typeface="微软雅黑" panose="020B0503020204020204" pitchFamily="34" charset="-122"/>
                </a:rPr>
                <a:t>，或者从事</a:t>
              </a:r>
              <a:r>
                <a:rPr lang="en-US" altLang="zh-CN" sz="1400" dirty="0">
                  <a:latin typeface="微软雅黑" panose="020B0503020204020204" pitchFamily="34" charset="-122"/>
                  <a:ea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rPr>
                <a:t>相关工作</a:t>
              </a:r>
              <a:endParaRPr lang="en-US" altLang="zh-CN" sz="1400" dirty="0">
                <a:latin typeface="微软雅黑" panose="020B0503020204020204" pitchFamily="34" charset="-122"/>
                <a:ea typeface="微软雅黑" panose="020B0503020204020204" pitchFamily="34" charset="-122"/>
              </a:endParaRPr>
            </a:p>
          </p:txBody>
        </p:sp>
        <p:sp>
          <p:nvSpPr>
            <p:cNvPr id="11" name="Rectangle 7">
              <a:extLst>
                <a:ext uri="{FF2B5EF4-FFF2-40B4-BE49-F238E27FC236}">
                  <a16:creationId xmlns:a16="http://schemas.microsoft.com/office/drawing/2014/main" id="{1167FC8F-6265-E7B6-6495-D15E39AFBA81}"/>
                </a:ext>
              </a:extLst>
            </p:cNvPr>
            <p:cNvSpPr>
              <a:spLocks noChangeArrowheads="1"/>
            </p:cNvSpPr>
            <p:nvPr/>
          </p:nvSpPr>
          <p:spPr bwMode="gray">
            <a:xfrm>
              <a:off x="6340339" y="3830403"/>
              <a:ext cx="2712680"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b="1" dirty="0">
                  <a:latin typeface="微软雅黑" panose="020B0503020204020204" pitchFamily="34" charset="-122"/>
                  <a:ea typeface="微软雅黑" panose="020B0503020204020204" pitchFamily="34" charset="-122"/>
                </a:rPr>
                <a:t>参与</a:t>
              </a:r>
              <a:r>
                <a:rPr lang="en-US" altLang="zh-CN" sz="1400" b="1" dirty="0">
                  <a:latin typeface="微软雅黑" panose="020B0503020204020204" pitchFamily="34" charset="-122"/>
                  <a:ea typeface="微软雅黑" panose="020B0503020204020204" pitchFamily="34" charset="-122"/>
                </a:rPr>
                <a:t>ERP</a:t>
              </a:r>
              <a:r>
                <a:rPr lang="zh-CN" altLang="en-US" sz="1400" b="1" dirty="0">
                  <a:latin typeface="微软雅黑" panose="020B0503020204020204" pitchFamily="34" charset="-122"/>
                  <a:ea typeface="微软雅黑" panose="020B0503020204020204" pitchFamily="34" charset="-122"/>
                </a:rPr>
                <a:t>实施工作</a:t>
              </a:r>
              <a:r>
                <a:rPr lang="zh-CN" altLang="en-US" sz="1400" dirty="0">
                  <a:latin typeface="微软雅黑" panose="020B0503020204020204" pitchFamily="34" charset="-122"/>
                  <a:ea typeface="微软雅黑" panose="020B0503020204020204" pitchFamily="34" charset="-122"/>
                </a:rPr>
                <a:t>，注重实施过程中的工作协调、数据收集协调及最终用户培训等工作</a:t>
              </a:r>
              <a:endParaRPr lang="en-US" altLang="zh-CN" sz="1400" dirty="0">
                <a:latin typeface="微软雅黑" panose="020B0503020204020204" pitchFamily="34" charset="-122"/>
                <a:ea typeface="微软雅黑" panose="020B0503020204020204" pitchFamily="34" charset="-122"/>
              </a:endParaRPr>
            </a:p>
          </p:txBody>
        </p:sp>
        <p:sp>
          <p:nvSpPr>
            <p:cNvPr id="12" name="Rectangle 7">
              <a:extLst>
                <a:ext uri="{FF2B5EF4-FFF2-40B4-BE49-F238E27FC236}">
                  <a16:creationId xmlns:a16="http://schemas.microsoft.com/office/drawing/2014/main" id="{10412385-C72C-F027-36C7-D22714FD8065}"/>
                </a:ext>
              </a:extLst>
            </p:cNvPr>
            <p:cNvSpPr>
              <a:spLocks noChangeArrowheads="1"/>
            </p:cNvSpPr>
            <p:nvPr/>
          </p:nvSpPr>
          <p:spPr bwMode="gray">
            <a:xfrm>
              <a:off x="6329454" y="5076834"/>
              <a:ext cx="2712680"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en-US" altLang="zh-CN" sz="1400" dirty="0">
                  <a:latin typeface="微软雅黑" panose="020B0503020204020204" pitchFamily="34" charset="-122"/>
                  <a:ea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rPr>
                <a:t>上线后，将</a:t>
              </a:r>
              <a:r>
                <a:rPr lang="zh-CN" altLang="en-US" sz="1400" b="1" dirty="0">
                  <a:latin typeface="微软雅黑" panose="020B0503020204020204" pitchFamily="34" charset="-122"/>
                  <a:ea typeface="微软雅黑" panose="020B0503020204020204" pitchFamily="34" charset="-122"/>
                </a:rPr>
                <a:t>回到原单位</a:t>
              </a:r>
              <a:r>
                <a:rPr lang="zh-CN" altLang="en-US" sz="1400" dirty="0">
                  <a:latin typeface="微软雅黑" panose="020B0503020204020204" pitchFamily="34" charset="-122"/>
                  <a:ea typeface="微软雅黑" panose="020B0503020204020204" pitchFamily="34" charset="-122"/>
                </a:rPr>
                <a:t>，兼职承担本单位的一线运维工作</a:t>
              </a:r>
            </a:p>
          </p:txBody>
        </p:sp>
        <p:pic>
          <p:nvPicPr>
            <p:cNvPr id="13" name="Picture 7">
              <a:extLst>
                <a:ext uri="{FF2B5EF4-FFF2-40B4-BE49-F238E27FC236}">
                  <a16:creationId xmlns:a16="http://schemas.microsoft.com/office/drawing/2014/main" id="{534C12F6-9BA5-6E76-7272-535406ED50AD}"/>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2467285" y="1551752"/>
              <a:ext cx="784776" cy="784776"/>
            </a:xfrm>
            <a:prstGeom prst="rect">
              <a:avLst/>
            </a:prstGeom>
            <a:noFill/>
          </p:spPr>
        </p:pic>
        <p:sp>
          <p:nvSpPr>
            <p:cNvPr id="14" name="AutoShape 5">
              <a:extLst>
                <a:ext uri="{FF2B5EF4-FFF2-40B4-BE49-F238E27FC236}">
                  <a16:creationId xmlns:a16="http://schemas.microsoft.com/office/drawing/2014/main" id="{6D0BD521-6744-9ED2-603A-8278D06CC28C}"/>
                </a:ext>
              </a:extLst>
            </p:cNvPr>
            <p:cNvSpPr>
              <a:spLocks noChangeArrowheads="1"/>
            </p:cNvSpPr>
            <p:nvPr/>
          </p:nvSpPr>
          <p:spPr bwMode="auto">
            <a:xfrm>
              <a:off x="4430556" y="2179028"/>
              <a:ext cx="1828800" cy="365760"/>
            </a:xfrm>
            <a:prstGeom prst="rect">
              <a:avLst/>
            </a:prstGeom>
            <a:solidFill>
              <a:schemeClr val="bg1">
                <a:lumMod val="95000"/>
              </a:schemeClr>
            </a:solid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panose="020B0503020204020204" pitchFamily="34" charset="-122"/>
                  <a:ea typeface="微软雅黑" panose="020B0503020204020204" pitchFamily="34" charset="-122"/>
                </a:rPr>
                <a:t>项目组关键用户</a:t>
              </a:r>
            </a:p>
          </p:txBody>
        </p:sp>
        <p:pic>
          <p:nvPicPr>
            <p:cNvPr id="15" name="Picture 24">
              <a:extLst>
                <a:ext uri="{FF2B5EF4-FFF2-40B4-BE49-F238E27FC236}">
                  <a16:creationId xmlns:a16="http://schemas.microsoft.com/office/drawing/2014/main" id="{A8B5A779-4418-37CC-2F95-9E11835C5CE1}"/>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4952568" y="1551752"/>
              <a:ext cx="784776" cy="784776"/>
            </a:xfrm>
            <a:prstGeom prst="rect">
              <a:avLst/>
            </a:prstGeom>
          </p:spPr>
        </p:pic>
        <p:sp>
          <p:nvSpPr>
            <p:cNvPr id="16" name="AutoShape 5">
              <a:extLst>
                <a:ext uri="{FF2B5EF4-FFF2-40B4-BE49-F238E27FC236}">
                  <a16:creationId xmlns:a16="http://schemas.microsoft.com/office/drawing/2014/main" id="{4DE63ACC-1259-615C-3770-2CF86B5E428D}"/>
                </a:ext>
              </a:extLst>
            </p:cNvPr>
            <p:cNvSpPr>
              <a:spLocks noChangeArrowheads="1"/>
            </p:cNvSpPr>
            <p:nvPr/>
          </p:nvSpPr>
          <p:spPr bwMode="auto">
            <a:xfrm>
              <a:off x="6985051" y="2179028"/>
              <a:ext cx="1828800" cy="365760"/>
            </a:xfrm>
            <a:prstGeom prst="rect">
              <a:avLst/>
            </a:prstGeom>
            <a:solidFill>
              <a:schemeClr val="bg1">
                <a:lumMod val="95000"/>
              </a:schemeClr>
            </a:solid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panose="020B0503020204020204" pitchFamily="34" charset="-122"/>
                  <a:ea typeface="微软雅黑" panose="020B0503020204020204" pitchFamily="34" charset="-122"/>
                </a:rPr>
                <a:t>实施单位关键用户</a:t>
              </a:r>
            </a:p>
          </p:txBody>
        </p:sp>
        <p:pic>
          <p:nvPicPr>
            <p:cNvPr id="17" name="Picture 27">
              <a:extLst>
                <a:ext uri="{FF2B5EF4-FFF2-40B4-BE49-F238E27FC236}">
                  <a16:creationId xmlns:a16="http://schemas.microsoft.com/office/drawing/2014/main" id="{1C5A1BF4-90C4-DE19-BB9A-CE9EEE59BA8E}"/>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7507063" y="1551752"/>
              <a:ext cx="784776" cy="784776"/>
            </a:xfrm>
            <a:prstGeom prst="rect">
              <a:avLst/>
            </a:prstGeom>
          </p:spPr>
        </p:pic>
        <p:sp>
          <p:nvSpPr>
            <p:cNvPr id="18" name="Rectangle 8">
              <a:extLst>
                <a:ext uri="{FF2B5EF4-FFF2-40B4-BE49-F238E27FC236}">
                  <a16:creationId xmlns:a16="http://schemas.microsoft.com/office/drawing/2014/main" id="{756F0FC2-88BE-6BF8-4D92-35BC481E592E}"/>
                </a:ext>
              </a:extLst>
            </p:cNvPr>
            <p:cNvSpPr/>
            <p:nvPr/>
          </p:nvSpPr>
          <p:spPr bwMode="auto">
            <a:xfrm>
              <a:off x="1670953" y="2640354"/>
              <a:ext cx="2377440" cy="1005840"/>
            </a:xfrm>
            <a:prstGeom prst="rect">
              <a:avLst/>
            </a:prstGeom>
            <a:noFill/>
            <a:ln w="9525" algn="ctr">
              <a:solidFill>
                <a:srgbClr val="ECECEC"/>
              </a:solidFill>
              <a:miter lim="800000"/>
              <a:headEnd/>
              <a:tailEnd/>
            </a:ln>
          </p:spPr>
          <p:txBody>
            <a:bodyPr wrap="square" lIns="72000" tIns="0" rIns="0" bIns="0" rtlCol="0" anchor="ctr"/>
            <a:lstStyle/>
            <a:p>
              <a:pPr defTabSz="914296"/>
              <a:r>
                <a:rPr lang="zh-CN" altLang="en-US" sz="1400" dirty="0">
                  <a:latin typeface="微软雅黑" panose="020B0503020204020204" pitchFamily="34" charset="-122"/>
                  <a:ea typeface="微软雅黑" panose="020B0503020204020204" pitchFamily="34" charset="-122"/>
                </a:rPr>
                <a:t>通常来自</a:t>
              </a:r>
              <a:r>
                <a:rPr lang="zh-CN" altLang="en-US" sz="1400" b="1" dirty="0">
                  <a:latin typeface="微软雅黑" panose="020B0503020204020204" pitchFamily="34" charset="-122"/>
                  <a:ea typeface="微软雅黑" panose="020B0503020204020204" pitchFamily="34" charset="-122"/>
                </a:rPr>
                <a:t>集团信息部门，</a:t>
              </a:r>
              <a:r>
                <a:rPr lang="zh-CN" altLang="en-US" sz="1400" dirty="0">
                  <a:latin typeface="微软雅黑" panose="020B0503020204020204" pitchFamily="34" charset="-122"/>
                  <a:ea typeface="微软雅黑" panose="020B0503020204020204" pitchFamily="34" charset="-122"/>
                </a:rPr>
                <a:t>未来作为集团集中运维的中坚力量</a:t>
              </a:r>
              <a:endParaRPr lang="en-US" altLang="zh-CN" sz="1400" dirty="0">
                <a:latin typeface="微软雅黑" panose="020B0503020204020204" pitchFamily="34" charset="-122"/>
                <a:ea typeface="微软雅黑" panose="020B0503020204020204" pitchFamily="34" charset="-122"/>
              </a:endParaRPr>
            </a:p>
          </p:txBody>
        </p:sp>
        <p:sp>
          <p:nvSpPr>
            <p:cNvPr id="19" name="Rectangle 28">
              <a:extLst>
                <a:ext uri="{FF2B5EF4-FFF2-40B4-BE49-F238E27FC236}">
                  <a16:creationId xmlns:a16="http://schemas.microsoft.com/office/drawing/2014/main" id="{A0B15BEF-20C3-B598-EBEA-BB113B09D2A2}"/>
                </a:ext>
              </a:extLst>
            </p:cNvPr>
            <p:cNvSpPr/>
            <p:nvPr/>
          </p:nvSpPr>
          <p:spPr bwMode="auto">
            <a:xfrm>
              <a:off x="4156236" y="2640354"/>
              <a:ext cx="2377440" cy="1005840"/>
            </a:xfrm>
            <a:prstGeom prst="rect">
              <a:avLst/>
            </a:prstGeom>
            <a:noFill/>
            <a:ln w="9525" algn="ctr">
              <a:solidFill>
                <a:srgbClr val="ECECEC"/>
              </a:solidFill>
              <a:miter lim="800000"/>
              <a:headEnd/>
              <a:tailEnd/>
            </a:ln>
          </p:spPr>
          <p:txBody>
            <a:bodyPr wrap="square" lIns="72000" tIns="0" rIns="0" bIns="0" rtlCol="0" anchor="ctr"/>
            <a:lstStyle/>
            <a:p>
              <a:pPr defTabSz="914296"/>
              <a:r>
                <a:rPr lang="zh-CN" altLang="en-US" sz="1400" dirty="0">
                  <a:latin typeface="微软雅黑" panose="020B0503020204020204" pitchFamily="34" charset="-122"/>
                  <a:ea typeface="微软雅黑" panose="020B0503020204020204" pitchFamily="34" charset="-122"/>
                </a:rPr>
                <a:t>集团各单位</a:t>
              </a:r>
              <a:r>
                <a:rPr lang="zh-CN" altLang="en-US" sz="1400" b="1" dirty="0">
                  <a:latin typeface="微软雅黑" panose="020B0503020204020204" pitchFamily="34" charset="-122"/>
                  <a:ea typeface="微软雅黑" panose="020B0503020204020204" pitchFamily="34" charset="-122"/>
                </a:rPr>
                <a:t>甄选的业务骨干</a:t>
              </a:r>
              <a:r>
                <a:rPr lang="zh-CN" altLang="en-US" sz="1400" dirty="0">
                  <a:latin typeface="微软雅黑" panose="020B0503020204020204" pitchFamily="34" charset="-122"/>
                  <a:ea typeface="微软雅黑" panose="020B0503020204020204" pitchFamily="34" charset="-122"/>
                </a:rPr>
                <a:t>，一般来自于职能部门的业务骨干</a:t>
              </a:r>
              <a:endParaRPr lang="en-US" sz="1400" dirty="0">
                <a:latin typeface="微软雅黑" panose="020B0503020204020204" pitchFamily="34" charset="-122"/>
                <a:ea typeface="微软雅黑" panose="020B0503020204020204" pitchFamily="34" charset="-122"/>
              </a:endParaRPr>
            </a:p>
          </p:txBody>
        </p:sp>
        <p:sp>
          <p:nvSpPr>
            <p:cNvPr id="20" name="Rectangle 29">
              <a:extLst>
                <a:ext uri="{FF2B5EF4-FFF2-40B4-BE49-F238E27FC236}">
                  <a16:creationId xmlns:a16="http://schemas.microsoft.com/office/drawing/2014/main" id="{9BB22341-6BA5-6CC2-6B51-C684ACC9A021}"/>
                </a:ext>
              </a:extLst>
            </p:cNvPr>
            <p:cNvSpPr/>
            <p:nvPr/>
          </p:nvSpPr>
          <p:spPr bwMode="auto">
            <a:xfrm>
              <a:off x="6710731" y="2640354"/>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1" name="Rectangle 30">
              <a:extLst>
                <a:ext uri="{FF2B5EF4-FFF2-40B4-BE49-F238E27FC236}">
                  <a16:creationId xmlns:a16="http://schemas.microsoft.com/office/drawing/2014/main" id="{C9107F36-9FB9-6B6B-44BE-DCB6E5CEB281}"/>
                </a:ext>
              </a:extLst>
            </p:cNvPr>
            <p:cNvSpPr/>
            <p:nvPr/>
          </p:nvSpPr>
          <p:spPr bwMode="auto">
            <a:xfrm>
              <a:off x="1670953" y="3958351"/>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2" name="Rectangle 31">
              <a:extLst>
                <a:ext uri="{FF2B5EF4-FFF2-40B4-BE49-F238E27FC236}">
                  <a16:creationId xmlns:a16="http://schemas.microsoft.com/office/drawing/2014/main" id="{DCBC92B0-0C4C-25BA-8438-D3AF60E9FBCE}"/>
                </a:ext>
              </a:extLst>
            </p:cNvPr>
            <p:cNvSpPr/>
            <p:nvPr/>
          </p:nvSpPr>
          <p:spPr bwMode="auto">
            <a:xfrm>
              <a:off x="4156236" y="3958351"/>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3" name="Rectangle 32">
              <a:extLst>
                <a:ext uri="{FF2B5EF4-FFF2-40B4-BE49-F238E27FC236}">
                  <a16:creationId xmlns:a16="http://schemas.microsoft.com/office/drawing/2014/main" id="{A75D140A-F18C-6A0F-B14E-A8EF465C685D}"/>
                </a:ext>
              </a:extLst>
            </p:cNvPr>
            <p:cNvSpPr/>
            <p:nvPr/>
          </p:nvSpPr>
          <p:spPr bwMode="auto">
            <a:xfrm>
              <a:off x="6710731" y="3958351"/>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4" name="Rectangle 33">
              <a:extLst>
                <a:ext uri="{FF2B5EF4-FFF2-40B4-BE49-F238E27FC236}">
                  <a16:creationId xmlns:a16="http://schemas.microsoft.com/office/drawing/2014/main" id="{C694E0CE-FC1D-75AE-90BB-DDDF06B21ACD}"/>
                </a:ext>
              </a:extLst>
            </p:cNvPr>
            <p:cNvSpPr/>
            <p:nvPr/>
          </p:nvSpPr>
          <p:spPr bwMode="auto">
            <a:xfrm>
              <a:off x="1670953" y="5260829"/>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5" name="Rectangle 34">
              <a:extLst>
                <a:ext uri="{FF2B5EF4-FFF2-40B4-BE49-F238E27FC236}">
                  <a16:creationId xmlns:a16="http://schemas.microsoft.com/office/drawing/2014/main" id="{CFFA6BEA-267B-E81B-ED77-2A3AE1020BAD}"/>
                </a:ext>
              </a:extLst>
            </p:cNvPr>
            <p:cNvSpPr/>
            <p:nvPr/>
          </p:nvSpPr>
          <p:spPr bwMode="auto">
            <a:xfrm>
              <a:off x="4156236" y="5260829"/>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6" name="Rectangle 35">
              <a:extLst>
                <a:ext uri="{FF2B5EF4-FFF2-40B4-BE49-F238E27FC236}">
                  <a16:creationId xmlns:a16="http://schemas.microsoft.com/office/drawing/2014/main" id="{25F211C3-DECB-7D27-28B5-8C52162A89C9}"/>
                </a:ext>
              </a:extLst>
            </p:cNvPr>
            <p:cNvSpPr/>
            <p:nvPr/>
          </p:nvSpPr>
          <p:spPr bwMode="auto">
            <a:xfrm>
              <a:off x="6710731" y="5260829"/>
              <a:ext cx="2377440" cy="1005840"/>
            </a:xfrm>
            <a:prstGeom prst="rect">
              <a:avLst/>
            </a:prstGeom>
            <a:noFill/>
            <a:ln w="9525" algn="ctr">
              <a:solidFill>
                <a:srgbClr val="ECECEC"/>
              </a:solidFill>
              <a:miter lim="800000"/>
              <a:headEnd/>
              <a:tailEnd/>
            </a:ln>
          </p:spPr>
          <p:txBody>
            <a:bodyPr wrap="none" lIns="0" tIns="0" rIns="0" bIns="0" rtlCol="0" anchor="ctr"/>
            <a:lstStyle/>
            <a:p>
              <a:pPr algn="ctr" defTabSz="914296"/>
              <a:endParaRPr lang="en-US" dirty="0">
                <a:solidFill>
                  <a:prstClr val="black"/>
                </a:solidFill>
                <a:latin typeface="微软雅黑" panose="020B0503020204020204" pitchFamily="34" charset="-122"/>
                <a:ea typeface="微软雅黑" panose="020B0503020204020204" pitchFamily="34" charset="-122"/>
              </a:endParaRPr>
            </a:p>
          </p:txBody>
        </p:sp>
        <p:sp>
          <p:nvSpPr>
            <p:cNvPr id="27" name="Rectangle 36">
              <a:extLst>
                <a:ext uri="{FF2B5EF4-FFF2-40B4-BE49-F238E27FC236}">
                  <a16:creationId xmlns:a16="http://schemas.microsoft.com/office/drawing/2014/main" id="{893FD649-D73E-148D-2390-5FB42969903B}"/>
                </a:ext>
              </a:extLst>
            </p:cNvPr>
            <p:cNvSpPr/>
            <p:nvPr/>
          </p:nvSpPr>
          <p:spPr bwMode="auto">
            <a:xfrm>
              <a:off x="837082" y="2640354"/>
              <a:ext cx="731520" cy="1005840"/>
            </a:xfrm>
            <a:prstGeom prst="rect">
              <a:avLst/>
            </a:prstGeom>
            <a:solidFill>
              <a:srgbClr val="238EF7"/>
            </a:solidFill>
            <a:ln w="6350" algn="ctr">
              <a:noFill/>
              <a:miter lim="800000"/>
              <a:headEnd/>
              <a:tailEnd/>
            </a:ln>
          </p:spPr>
          <p:txBody>
            <a:bodyPr wrap="none" lIns="0" tIns="0" rIns="0" bIns="0" rtlCol="0" anchor="ctr"/>
            <a:lstStyle/>
            <a:p>
              <a:pPr algn="ctr" defTabSz="914296"/>
              <a:r>
                <a:rPr lang="zh-CN" altLang="en-US" sz="1600" b="1" dirty="0">
                  <a:solidFill>
                    <a:schemeClr val="bg1"/>
                  </a:solidFill>
                  <a:latin typeface="微软雅黑" pitchFamily="34" charset="-122"/>
                  <a:ea typeface="微软雅黑" pitchFamily="34" charset="-122"/>
                </a:rPr>
                <a:t>来源</a:t>
              </a:r>
              <a:endParaRPr lang="en-US" sz="1600" b="1" dirty="0">
                <a:solidFill>
                  <a:schemeClr val="bg1"/>
                </a:solidFill>
                <a:latin typeface="微软雅黑" pitchFamily="34" charset="-122"/>
                <a:ea typeface="微软雅黑" pitchFamily="34" charset="-122"/>
              </a:endParaRPr>
            </a:p>
          </p:txBody>
        </p:sp>
        <p:cxnSp>
          <p:nvCxnSpPr>
            <p:cNvPr id="28" name="Straight Connector 38">
              <a:extLst>
                <a:ext uri="{FF2B5EF4-FFF2-40B4-BE49-F238E27FC236}">
                  <a16:creationId xmlns:a16="http://schemas.microsoft.com/office/drawing/2014/main" id="{9C7C7629-7FFF-4377-5B20-87EA2BDDC2FB}"/>
                </a:ext>
              </a:extLst>
            </p:cNvPr>
            <p:cNvCxnSpPr>
              <a:cxnSpLocks/>
            </p:cNvCxnSpPr>
            <p:nvPr/>
          </p:nvCxnSpPr>
          <p:spPr bwMode="auto">
            <a:xfrm flipV="1">
              <a:off x="825500" y="3811366"/>
              <a:ext cx="8328724" cy="6811"/>
            </a:xfrm>
            <a:prstGeom prst="line">
              <a:avLst/>
            </a:prstGeom>
            <a:solidFill>
              <a:schemeClr val="bg1"/>
            </a:solidFill>
            <a:ln w="28575" cap="flat" cmpd="sng" algn="ctr">
              <a:solidFill>
                <a:schemeClr val="bg2"/>
              </a:solidFill>
              <a:prstDash val="dash"/>
              <a:round/>
              <a:headEnd type="none" w="med" len="med"/>
              <a:tailEnd type="none" w="med" len="med"/>
            </a:ln>
            <a:effectLst/>
          </p:spPr>
        </p:cxnSp>
        <p:cxnSp>
          <p:nvCxnSpPr>
            <p:cNvPr id="29" name="Straight Connector 40">
              <a:extLst>
                <a:ext uri="{FF2B5EF4-FFF2-40B4-BE49-F238E27FC236}">
                  <a16:creationId xmlns:a16="http://schemas.microsoft.com/office/drawing/2014/main" id="{B21D212B-F63C-D2F9-F081-51AA9EB0B1EC}"/>
                </a:ext>
              </a:extLst>
            </p:cNvPr>
            <p:cNvCxnSpPr>
              <a:cxnSpLocks/>
            </p:cNvCxnSpPr>
            <p:nvPr/>
          </p:nvCxnSpPr>
          <p:spPr bwMode="auto">
            <a:xfrm flipV="1">
              <a:off x="837082" y="5104537"/>
              <a:ext cx="8328724" cy="6811"/>
            </a:xfrm>
            <a:prstGeom prst="line">
              <a:avLst/>
            </a:prstGeom>
            <a:solidFill>
              <a:schemeClr val="bg1"/>
            </a:solidFill>
            <a:ln w="28575" cap="flat" cmpd="sng" algn="ctr">
              <a:solidFill>
                <a:schemeClr val="bg2"/>
              </a:solidFill>
              <a:prstDash val="dash"/>
              <a:round/>
              <a:headEnd type="none" w="med" len="med"/>
              <a:tailEnd type="none" w="med" len="med"/>
            </a:ln>
            <a:effectLst/>
          </p:spPr>
        </p:cxnSp>
        <p:sp>
          <p:nvSpPr>
            <p:cNvPr id="30" name="Rectangle 41">
              <a:extLst>
                <a:ext uri="{FF2B5EF4-FFF2-40B4-BE49-F238E27FC236}">
                  <a16:creationId xmlns:a16="http://schemas.microsoft.com/office/drawing/2014/main" id="{AF88C582-FBC9-CC82-C4C4-835C90D4202E}"/>
                </a:ext>
              </a:extLst>
            </p:cNvPr>
            <p:cNvSpPr/>
            <p:nvPr/>
          </p:nvSpPr>
          <p:spPr bwMode="auto">
            <a:xfrm>
              <a:off x="837082" y="3958351"/>
              <a:ext cx="731520" cy="1005840"/>
            </a:xfrm>
            <a:prstGeom prst="rect">
              <a:avLst/>
            </a:prstGeom>
            <a:solidFill>
              <a:srgbClr val="238EF7"/>
            </a:solidFill>
            <a:ln w="6350" algn="ctr">
              <a:noFill/>
              <a:miter lim="800000"/>
              <a:headEnd/>
              <a:tailEnd/>
            </a:ln>
          </p:spPr>
          <p:txBody>
            <a:bodyPr wrap="none" lIns="0" tIns="0" rIns="0" bIns="0" rtlCol="0" anchor="ctr"/>
            <a:lstStyle/>
            <a:p>
              <a:pPr algn="ctr" defTabSz="914296"/>
              <a:r>
                <a:rPr lang="zh-CN" altLang="en-US" sz="1600" b="1">
                  <a:solidFill>
                    <a:schemeClr val="bg1"/>
                  </a:solidFill>
                  <a:latin typeface="微软雅黑" pitchFamily="34" charset="-122"/>
                  <a:ea typeface="微软雅黑" pitchFamily="34" charset="-122"/>
                </a:rPr>
                <a:t>工作</a:t>
              </a:r>
              <a:endParaRPr lang="en-US" altLang="zh-CN" sz="1600" b="1" dirty="0">
                <a:solidFill>
                  <a:schemeClr val="bg1"/>
                </a:solidFill>
                <a:latin typeface="微软雅黑" pitchFamily="34" charset="-122"/>
                <a:ea typeface="微软雅黑" pitchFamily="34" charset="-122"/>
              </a:endParaRPr>
            </a:p>
            <a:p>
              <a:pPr algn="ctr" defTabSz="914296"/>
              <a:r>
                <a:rPr lang="zh-CN" altLang="en-US" sz="1600" b="1">
                  <a:solidFill>
                    <a:schemeClr val="bg1"/>
                  </a:solidFill>
                  <a:latin typeface="微软雅黑" pitchFamily="34" charset="-122"/>
                  <a:ea typeface="微软雅黑" pitchFamily="34" charset="-122"/>
                </a:rPr>
                <a:t>重点</a:t>
              </a:r>
              <a:endParaRPr lang="en-US" altLang="zh-CN" sz="1600" b="1" dirty="0">
                <a:solidFill>
                  <a:schemeClr val="bg1"/>
                </a:solidFill>
                <a:latin typeface="微软雅黑" pitchFamily="34" charset="-122"/>
                <a:ea typeface="微软雅黑" pitchFamily="34" charset="-122"/>
              </a:endParaRPr>
            </a:p>
          </p:txBody>
        </p:sp>
        <p:sp>
          <p:nvSpPr>
            <p:cNvPr id="31" name="Rectangle 42">
              <a:extLst>
                <a:ext uri="{FF2B5EF4-FFF2-40B4-BE49-F238E27FC236}">
                  <a16:creationId xmlns:a16="http://schemas.microsoft.com/office/drawing/2014/main" id="{D5D870EB-0165-FF50-E706-48ACD301ACA5}"/>
                </a:ext>
              </a:extLst>
            </p:cNvPr>
            <p:cNvSpPr/>
            <p:nvPr/>
          </p:nvSpPr>
          <p:spPr bwMode="auto">
            <a:xfrm>
              <a:off x="837082" y="5260829"/>
              <a:ext cx="731520" cy="1005840"/>
            </a:xfrm>
            <a:prstGeom prst="rect">
              <a:avLst/>
            </a:prstGeom>
            <a:solidFill>
              <a:srgbClr val="238EF7"/>
            </a:solidFill>
            <a:ln w="6350" algn="ctr">
              <a:noFill/>
              <a:miter lim="800000"/>
              <a:headEnd/>
              <a:tailEnd/>
            </a:ln>
          </p:spPr>
          <p:txBody>
            <a:bodyPr wrap="none" lIns="0" tIns="0" rIns="0" bIns="0" rtlCol="0" anchor="ctr"/>
            <a:lstStyle/>
            <a:p>
              <a:pPr algn="ctr" defTabSz="914296"/>
              <a:r>
                <a:rPr lang="zh-CN" altLang="en-US" sz="1600" b="1" dirty="0">
                  <a:solidFill>
                    <a:schemeClr val="bg1"/>
                  </a:solidFill>
                  <a:latin typeface="微软雅黑" pitchFamily="34" charset="-122"/>
                  <a:ea typeface="微软雅黑" pitchFamily="34" charset="-122"/>
                </a:rPr>
                <a:t>上线后</a:t>
              </a:r>
              <a:endParaRPr lang="en-US" altLang="zh-CN" sz="1600" b="1" dirty="0">
                <a:solidFill>
                  <a:schemeClr val="bg1"/>
                </a:solidFill>
                <a:latin typeface="微软雅黑" pitchFamily="34" charset="-122"/>
                <a:ea typeface="微软雅黑" pitchFamily="34" charset="-122"/>
              </a:endParaRPr>
            </a:p>
            <a:p>
              <a:pPr algn="ctr" defTabSz="914296"/>
              <a:r>
                <a:rPr lang="zh-CN" altLang="en-US" sz="1600" b="1" dirty="0">
                  <a:solidFill>
                    <a:schemeClr val="bg1"/>
                  </a:solidFill>
                  <a:latin typeface="微软雅黑" pitchFamily="34" charset="-122"/>
                  <a:ea typeface="微软雅黑" pitchFamily="34" charset="-122"/>
                </a:rPr>
                <a:t>安排</a:t>
              </a:r>
              <a:endParaRPr lang="en-US" altLang="zh-CN" sz="16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90881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项目关键用户工作职责与工作技能</a:t>
            </a:r>
          </a:p>
        </p:txBody>
      </p:sp>
      <p:grpSp>
        <p:nvGrpSpPr>
          <p:cNvPr id="3" name="组合 2">
            <a:extLst>
              <a:ext uri="{FF2B5EF4-FFF2-40B4-BE49-F238E27FC236}">
                <a16:creationId xmlns:a16="http://schemas.microsoft.com/office/drawing/2014/main" id="{AC79189E-E73C-550D-60FB-BC9A60AAFCE3}"/>
              </a:ext>
            </a:extLst>
          </p:cNvPr>
          <p:cNvGrpSpPr/>
          <p:nvPr/>
        </p:nvGrpSpPr>
        <p:grpSpPr>
          <a:xfrm>
            <a:off x="984037" y="845325"/>
            <a:ext cx="10359188" cy="5327005"/>
            <a:chOff x="-415997" y="949004"/>
            <a:chExt cx="10819592" cy="5521001"/>
          </a:xfrm>
        </p:grpSpPr>
        <p:pic>
          <p:nvPicPr>
            <p:cNvPr id="5" name="图片 18">
              <a:extLst>
                <a:ext uri="{FF2B5EF4-FFF2-40B4-BE49-F238E27FC236}">
                  <a16:creationId xmlns:a16="http://schemas.microsoft.com/office/drawing/2014/main" id="{CECB9AD2-D760-18BE-B600-9B836A0F24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 y="949004"/>
              <a:ext cx="9925050" cy="552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 5">
              <a:extLst>
                <a:ext uri="{FF2B5EF4-FFF2-40B4-BE49-F238E27FC236}">
                  <a16:creationId xmlns:a16="http://schemas.microsoft.com/office/drawing/2014/main" id="{FE38B299-60D9-8C1D-9148-7B8ADA5F01DB}"/>
                </a:ext>
              </a:extLst>
            </p:cNvPr>
            <p:cNvSpPr/>
            <p:nvPr/>
          </p:nvSpPr>
          <p:spPr bwMode="auto">
            <a:xfrm>
              <a:off x="4217436" y="1490182"/>
              <a:ext cx="1489943" cy="236375"/>
            </a:xfrm>
            <a:prstGeom prst="roundRect">
              <a:avLst/>
            </a:prstGeom>
            <a:solidFill>
              <a:srgbClr val="BDC0B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7" name="圆角矩形 6">
              <a:extLst>
                <a:ext uri="{FF2B5EF4-FFF2-40B4-BE49-F238E27FC236}">
                  <a16:creationId xmlns:a16="http://schemas.microsoft.com/office/drawing/2014/main" id="{8D8D2536-A684-DECA-940E-8ADC99868F6E}"/>
                </a:ext>
              </a:extLst>
            </p:cNvPr>
            <p:cNvSpPr/>
            <p:nvPr/>
          </p:nvSpPr>
          <p:spPr bwMode="auto">
            <a:xfrm>
              <a:off x="7377113" y="1885053"/>
              <a:ext cx="2309431" cy="1023381"/>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8" name="圆角矩形 7">
              <a:extLst>
                <a:ext uri="{FF2B5EF4-FFF2-40B4-BE49-F238E27FC236}">
                  <a16:creationId xmlns:a16="http://schemas.microsoft.com/office/drawing/2014/main" id="{E0A1795B-827A-F16A-6E3C-52DA37AE5B16}"/>
                </a:ext>
              </a:extLst>
            </p:cNvPr>
            <p:cNvSpPr/>
            <p:nvPr/>
          </p:nvSpPr>
          <p:spPr bwMode="auto">
            <a:xfrm>
              <a:off x="7596569" y="3400989"/>
              <a:ext cx="1997011" cy="1023381"/>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9" name="圆角矩形 8">
              <a:extLst>
                <a:ext uri="{FF2B5EF4-FFF2-40B4-BE49-F238E27FC236}">
                  <a16:creationId xmlns:a16="http://schemas.microsoft.com/office/drawing/2014/main" id="{1A25D7C5-C82C-56A5-4393-A2C250433297}"/>
                </a:ext>
              </a:extLst>
            </p:cNvPr>
            <p:cNvSpPr/>
            <p:nvPr/>
          </p:nvSpPr>
          <p:spPr bwMode="auto">
            <a:xfrm>
              <a:off x="7596569" y="5147113"/>
              <a:ext cx="2089975" cy="1023381"/>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0" name="圆角矩形 9">
              <a:extLst>
                <a:ext uri="{FF2B5EF4-FFF2-40B4-BE49-F238E27FC236}">
                  <a16:creationId xmlns:a16="http://schemas.microsoft.com/office/drawing/2014/main" id="{C6469AD4-B4D0-29A9-D1A5-BA32C5FACB5F}"/>
                </a:ext>
              </a:extLst>
            </p:cNvPr>
            <p:cNvSpPr/>
            <p:nvPr/>
          </p:nvSpPr>
          <p:spPr bwMode="auto">
            <a:xfrm>
              <a:off x="288989" y="1885054"/>
              <a:ext cx="1997011" cy="847344"/>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1" name="圆角矩形 10">
              <a:extLst>
                <a:ext uri="{FF2B5EF4-FFF2-40B4-BE49-F238E27FC236}">
                  <a16:creationId xmlns:a16="http://schemas.microsoft.com/office/drawing/2014/main" id="{E51417E8-E060-F255-F86F-30F59B3BE2AB}"/>
                </a:ext>
              </a:extLst>
            </p:cNvPr>
            <p:cNvSpPr/>
            <p:nvPr/>
          </p:nvSpPr>
          <p:spPr bwMode="auto">
            <a:xfrm>
              <a:off x="403289" y="3285833"/>
              <a:ext cx="1997011" cy="847344"/>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2" name="圆角矩形 11">
              <a:extLst>
                <a:ext uri="{FF2B5EF4-FFF2-40B4-BE49-F238E27FC236}">
                  <a16:creationId xmlns:a16="http://schemas.microsoft.com/office/drawing/2014/main" id="{43077D08-540A-C7EE-A346-37A6D8045840}"/>
                </a:ext>
              </a:extLst>
            </p:cNvPr>
            <p:cNvSpPr/>
            <p:nvPr/>
          </p:nvSpPr>
          <p:spPr bwMode="auto">
            <a:xfrm>
              <a:off x="403288" y="4811459"/>
              <a:ext cx="1997011" cy="847344"/>
            </a:xfrm>
            <a:prstGeom prst="roundRect">
              <a:avLst/>
            </a:prstGeom>
            <a:solidFill>
              <a:srgbClr val="FFFFF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3" name="矩形 12">
              <a:extLst>
                <a:ext uri="{FF2B5EF4-FFF2-40B4-BE49-F238E27FC236}">
                  <a16:creationId xmlns:a16="http://schemas.microsoft.com/office/drawing/2014/main" id="{CFB474D9-FD57-F30C-CA47-FBFAEDA92A0E}"/>
                </a:ext>
              </a:extLst>
            </p:cNvPr>
            <p:cNvSpPr/>
            <p:nvPr/>
          </p:nvSpPr>
          <p:spPr bwMode="auto">
            <a:xfrm>
              <a:off x="7711440" y="1449915"/>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4" name="矩形 13">
              <a:extLst>
                <a:ext uri="{FF2B5EF4-FFF2-40B4-BE49-F238E27FC236}">
                  <a16:creationId xmlns:a16="http://schemas.microsoft.com/office/drawing/2014/main" id="{8C3F4269-FCB3-6949-0EC2-AB0373E18A70}"/>
                </a:ext>
              </a:extLst>
            </p:cNvPr>
            <p:cNvSpPr/>
            <p:nvPr/>
          </p:nvSpPr>
          <p:spPr bwMode="auto">
            <a:xfrm>
              <a:off x="7711440" y="3000670"/>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5" name="矩形 14">
              <a:extLst>
                <a:ext uri="{FF2B5EF4-FFF2-40B4-BE49-F238E27FC236}">
                  <a16:creationId xmlns:a16="http://schemas.microsoft.com/office/drawing/2014/main" id="{5D2F820A-CFE1-8FF4-265E-C39B3D2F3387}"/>
                </a:ext>
              </a:extLst>
            </p:cNvPr>
            <p:cNvSpPr/>
            <p:nvPr/>
          </p:nvSpPr>
          <p:spPr bwMode="auto">
            <a:xfrm>
              <a:off x="7711440" y="4637342"/>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6" name="矩形 15">
              <a:extLst>
                <a:ext uri="{FF2B5EF4-FFF2-40B4-BE49-F238E27FC236}">
                  <a16:creationId xmlns:a16="http://schemas.microsoft.com/office/drawing/2014/main" id="{546F3537-CD77-913B-A3EC-1872C178C688}"/>
                </a:ext>
              </a:extLst>
            </p:cNvPr>
            <p:cNvSpPr/>
            <p:nvPr/>
          </p:nvSpPr>
          <p:spPr bwMode="auto">
            <a:xfrm>
              <a:off x="288989" y="4376321"/>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7" name="矩形 16">
              <a:extLst>
                <a:ext uri="{FF2B5EF4-FFF2-40B4-BE49-F238E27FC236}">
                  <a16:creationId xmlns:a16="http://schemas.microsoft.com/office/drawing/2014/main" id="{27BC2A7E-1B72-10A4-D1BF-D10A52797B88}"/>
                </a:ext>
              </a:extLst>
            </p:cNvPr>
            <p:cNvSpPr/>
            <p:nvPr/>
          </p:nvSpPr>
          <p:spPr bwMode="auto">
            <a:xfrm>
              <a:off x="288989" y="2861241"/>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8" name="矩形 17">
              <a:extLst>
                <a:ext uri="{FF2B5EF4-FFF2-40B4-BE49-F238E27FC236}">
                  <a16:creationId xmlns:a16="http://schemas.microsoft.com/office/drawing/2014/main" id="{8CBE92D1-6EEF-9BD6-B249-46D9F5AFDF91}"/>
                </a:ext>
              </a:extLst>
            </p:cNvPr>
            <p:cNvSpPr/>
            <p:nvPr/>
          </p:nvSpPr>
          <p:spPr bwMode="auto">
            <a:xfrm>
              <a:off x="288989" y="1460461"/>
              <a:ext cx="1348740" cy="228601"/>
            </a:xfrm>
            <a:prstGeom prst="rect">
              <a:avLst/>
            </a:prstGeom>
            <a:solidFill>
              <a:srgbClr val="FCBF8E"/>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19" name="矩形 18">
              <a:extLst>
                <a:ext uri="{FF2B5EF4-FFF2-40B4-BE49-F238E27FC236}">
                  <a16:creationId xmlns:a16="http://schemas.microsoft.com/office/drawing/2014/main" id="{380778EC-B1DC-625F-2A82-03AF2844B0E8}"/>
                </a:ext>
              </a:extLst>
            </p:cNvPr>
            <p:cNvSpPr/>
            <p:nvPr/>
          </p:nvSpPr>
          <p:spPr bwMode="auto">
            <a:xfrm>
              <a:off x="5490210" y="2908434"/>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0" name="矩形 19">
              <a:extLst>
                <a:ext uri="{FF2B5EF4-FFF2-40B4-BE49-F238E27FC236}">
                  <a16:creationId xmlns:a16="http://schemas.microsoft.com/office/drawing/2014/main" id="{414E8F16-D00F-4F63-C368-29DC71C384AD}"/>
                </a:ext>
              </a:extLst>
            </p:cNvPr>
            <p:cNvSpPr/>
            <p:nvPr/>
          </p:nvSpPr>
          <p:spPr bwMode="auto">
            <a:xfrm>
              <a:off x="4560570" y="2396503"/>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1" name="矩形 20">
              <a:extLst>
                <a:ext uri="{FF2B5EF4-FFF2-40B4-BE49-F238E27FC236}">
                  <a16:creationId xmlns:a16="http://schemas.microsoft.com/office/drawing/2014/main" id="{ECA7ABA0-C38B-6A23-7525-3930371F2346}"/>
                </a:ext>
              </a:extLst>
            </p:cNvPr>
            <p:cNvSpPr/>
            <p:nvPr/>
          </p:nvSpPr>
          <p:spPr bwMode="auto">
            <a:xfrm>
              <a:off x="3695224" y="2908434"/>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2" name="矩形 21">
              <a:extLst>
                <a:ext uri="{FF2B5EF4-FFF2-40B4-BE49-F238E27FC236}">
                  <a16:creationId xmlns:a16="http://schemas.microsoft.com/office/drawing/2014/main" id="{A7D389E2-479C-1DDD-4F39-4EAA7A753CDE}"/>
                </a:ext>
              </a:extLst>
            </p:cNvPr>
            <p:cNvSpPr/>
            <p:nvPr/>
          </p:nvSpPr>
          <p:spPr bwMode="auto">
            <a:xfrm>
              <a:off x="3695224" y="4057446"/>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3" name="矩形 22">
              <a:extLst>
                <a:ext uri="{FF2B5EF4-FFF2-40B4-BE49-F238E27FC236}">
                  <a16:creationId xmlns:a16="http://schemas.microsoft.com/office/drawing/2014/main" id="{CF343A55-8D27-82D0-CEB2-ED5556374919}"/>
                </a:ext>
              </a:extLst>
            </p:cNvPr>
            <p:cNvSpPr/>
            <p:nvPr/>
          </p:nvSpPr>
          <p:spPr bwMode="auto">
            <a:xfrm>
              <a:off x="4560570" y="4424370"/>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4" name="矩形 23">
              <a:extLst>
                <a:ext uri="{FF2B5EF4-FFF2-40B4-BE49-F238E27FC236}">
                  <a16:creationId xmlns:a16="http://schemas.microsoft.com/office/drawing/2014/main" id="{194F6B7B-6D90-8401-F594-B1228B0D9227}"/>
                </a:ext>
              </a:extLst>
            </p:cNvPr>
            <p:cNvSpPr/>
            <p:nvPr/>
          </p:nvSpPr>
          <p:spPr bwMode="auto">
            <a:xfrm>
              <a:off x="5490210" y="3844481"/>
              <a:ext cx="765810" cy="425943"/>
            </a:xfrm>
            <a:prstGeom prst="rect">
              <a:avLst/>
            </a:prstGeom>
            <a:solidFill>
              <a:srgbClr val="BFBFBF"/>
            </a:solidFill>
            <a:ln w="6350" algn="ctr">
              <a:noFill/>
              <a:round/>
              <a:headEnd/>
              <a:tailEnd/>
            </a:ln>
          </p:spPr>
          <p:txBody>
            <a:bodyPr wrap="none" rtlCol="0" anchor="ctr" anchorCtr="1"/>
            <a:lstStyle/>
            <a:p>
              <a:pPr algn="ctr"/>
              <a:endParaRPr lang="zh-CN" altLang="en-US">
                <a:latin typeface="宋体" pitchFamily="2" charset="-122"/>
                <a:ea typeface="宋体" pitchFamily="2" charset="-122"/>
                <a:cs typeface="Arial" charset="0"/>
              </a:endParaRPr>
            </a:p>
          </p:txBody>
        </p:sp>
        <p:sp>
          <p:nvSpPr>
            <p:cNvPr id="25" name="文本框 24">
              <a:extLst>
                <a:ext uri="{FF2B5EF4-FFF2-40B4-BE49-F238E27FC236}">
                  <a16:creationId xmlns:a16="http://schemas.microsoft.com/office/drawing/2014/main" id="{463DF1F4-6E05-ECC6-E0B4-9BADF419CD07}"/>
                </a:ext>
              </a:extLst>
            </p:cNvPr>
            <p:cNvSpPr txBox="1"/>
            <p:nvPr/>
          </p:nvSpPr>
          <p:spPr>
            <a:xfrm>
              <a:off x="384683" y="1410326"/>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产品知识</a:t>
              </a:r>
            </a:p>
          </p:txBody>
        </p:sp>
        <p:sp>
          <p:nvSpPr>
            <p:cNvPr id="26" name="文本框 25">
              <a:extLst>
                <a:ext uri="{FF2B5EF4-FFF2-40B4-BE49-F238E27FC236}">
                  <a16:creationId xmlns:a16="http://schemas.microsoft.com/office/drawing/2014/main" id="{5EC9DC39-79A8-9643-0E32-1B20FF291360}"/>
                </a:ext>
              </a:extLst>
            </p:cNvPr>
            <p:cNvSpPr txBox="1"/>
            <p:nvPr/>
          </p:nvSpPr>
          <p:spPr>
            <a:xfrm>
              <a:off x="374127" y="2837084"/>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问题处理</a:t>
              </a:r>
            </a:p>
          </p:txBody>
        </p:sp>
        <p:sp>
          <p:nvSpPr>
            <p:cNvPr id="27" name="文本框 26">
              <a:extLst>
                <a:ext uri="{FF2B5EF4-FFF2-40B4-BE49-F238E27FC236}">
                  <a16:creationId xmlns:a16="http://schemas.microsoft.com/office/drawing/2014/main" id="{52F51C07-9831-F421-7255-5294DA798E50}"/>
                </a:ext>
              </a:extLst>
            </p:cNvPr>
            <p:cNvSpPr txBox="1"/>
            <p:nvPr/>
          </p:nvSpPr>
          <p:spPr>
            <a:xfrm>
              <a:off x="360929" y="4339714"/>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系统运维</a:t>
              </a:r>
            </a:p>
          </p:txBody>
        </p:sp>
        <p:sp>
          <p:nvSpPr>
            <p:cNvPr id="28" name="文本框 27">
              <a:extLst>
                <a:ext uri="{FF2B5EF4-FFF2-40B4-BE49-F238E27FC236}">
                  <a16:creationId xmlns:a16="http://schemas.microsoft.com/office/drawing/2014/main" id="{E831E8DD-4A3F-36E4-667B-3D0463741099}"/>
                </a:ext>
              </a:extLst>
            </p:cNvPr>
            <p:cNvSpPr txBox="1"/>
            <p:nvPr/>
          </p:nvSpPr>
          <p:spPr>
            <a:xfrm>
              <a:off x="7835680" y="1420872"/>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业务理解</a:t>
              </a:r>
            </a:p>
          </p:txBody>
        </p:sp>
        <p:sp>
          <p:nvSpPr>
            <p:cNvPr id="29" name="文本框 28">
              <a:extLst>
                <a:ext uri="{FF2B5EF4-FFF2-40B4-BE49-F238E27FC236}">
                  <a16:creationId xmlns:a16="http://schemas.microsoft.com/office/drawing/2014/main" id="{01EE5234-4CBC-F0B5-13DB-5D0006ECF8A0}"/>
                </a:ext>
              </a:extLst>
            </p:cNvPr>
            <p:cNvSpPr txBox="1"/>
            <p:nvPr/>
          </p:nvSpPr>
          <p:spPr>
            <a:xfrm>
              <a:off x="7835285" y="2961081"/>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流程梳理</a:t>
              </a:r>
            </a:p>
          </p:txBody>
        </p:sp>
        <p:sp>
          <p:nvSpPr>
            <p:cNvPr id="30" name="文本框 29">
              <a:extLst>
                <a:ext uri="{FF2B5EF4-FFF2-40B4-BE49-F238E27FC236}">
                  <a16:creationId xmlns:a16="http://schemas.microsoft.com/office/drawing/2014/main" id="{CF093E43-7DC0-C8D6-997A-BF8D6C6A6739}"/>
                </a:ext>
              </a:extLst>
            </p:cNvPr>
            <p:cNvSpPr txBox="1"/>
            <p:nvPr/>
          </p:nvSpPr>
          <p:spPr>
            <a:xfrm>
              <a:off x="7836571" y="4604922"/>
              <a:ext cx="902811"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协调配合</a:t>
              </a:r>
            </a:p>
          </p:txBody>
        </p:sp>
        <p:sp>
          <p:nvSpPr>
            <p:cNvPr id="31" name="文本框 30">
              <a:extLst>
                <a:ext uri="{FF2B5EF4-FFF2-40B4-BE49-F238E27FC236}">
                  <a16:creationId xmlns:a16="http://schemas.microsoft.com/office/drawing/2014/main" id="{111CF832-CF35-E1AC-7B07-AAB20334469F}"/>
                </a:ext>
              </a:extLst>
            </p:cNvPr>
            <p:cNvSpPr txBox="1"/>
            <p:nvPr/>
          </p:nvSpPr>
          <p:spPr>
            <a:xfrm>
              <a:off x="4007916" y="1460462"/>
              <a:ext cx="1968912" cy="350883"/>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关键用户主要职责</a:t>
              </a:r>
            </a:p>
          </p:txBody>
        </p:sp>
        <p:sp>
          <p:nvSpPr>
            <p:cNvPr id="32" name="文本框 31">
              <a:extLst>
                <a:ext uri="{FF2B5EF4-FFF2-40B4-BE49-F238E27FC236}">
                  <a16:creationId xmlns:a16="http://schemas.microsoft.com/office/drawing/2014/main" id="{7EDAFA41-10F6-3983-4B22-47CF319AF8AD}"/>
                </a:ext>
              </a:extLst>
            </p:cNvPr>
            <p:cNvSpPr txBox="1"/>
            <p:nvPr/>
          </p:nvSpPr>
          <p:spPr>
            <a:xfrm>
              <a:off x="-395055" y="1986331"/>
              <a:ext cx="3007999" cy="738664"/>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参加系统功能培训，了解</a:t>
              </a:r>
              <a:r>
                <a:rPr lang="en-US" altLang="zh-CN" sz="1400" b="1" dirty="0">
                  <a:latin typeface="微软雅黑" panose="020B0503020204020204" pitchFamily="34" charset="-122"/>
                  <a:ea typeface="微软雅黑" panose="020B0503020204020204" pitchFamily="34" charset="-122"/>
                </a:rPr>
                <a:t>ERP</a:t>
              </a:r>
              <a:r>
                <a:rPr lang="zh-CN" altLang="en-US" sz="1400" b="1" dirty="0">
                  <a:latin typeface="微软雅黑" panose="020B0503020204020204" pitchFamily="34" charset="-122"/>
                  <a:ea typeface="微软雅黑" panose="020B0503020204020204" pitchFamily="34" charset="-122"/>
                </a:rPr>
                <a:t>系统各模块功能，熟练操作</a:t>
              </a:r>
            </a:p>
          </p:txBody>
        </p:sp>
        <p:sp>
          <p:nvSpPr>
            <p:cNvPr id="33" name="文本框 32">
              <a:extLst>
                <a:ext uri="{FF2B5EF4-FFF2-40B4-BE49-F238E27FC236}">
                  <a16:creationId xmlns:a16="http://schemas.microsoft.com/office/drawing/2014/main" id="{0CCF0244-9F9B-54E9-1814-8864B3FF4BC5}"/>
                </a:ext>
              </a:extLst>
            </p:cNvPr>
            <p:cNvSpPr txBox="1"/>
            <p:nvPr/>
          </p:nvSpPr>
          <p:spPr>
            <a:xfrm>
              <a:off x="-415997" y="3238522"/>
              <a:ext cx="2816297" cy="765564"/>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系统上线后进行系统支持，同项目组一起推动系统在项目公司运用</a:t>
              </a:r>
            </a:p>
          </p:txBody>
        </p:sp>
        <p:sp>
          <p:nvSpPr>
            <p:cNvPr id="34" name="文本框 33">
              <a:extLst>
                <a:ext uri="{FF2B5EF4-FFF2-40B4-BE49-F238E27FC236}">
                  <a16:creationId xmlns:a16="http://schemas.microsoft.com/office/drawing/2014/main" id="{A90F1763-9CB2-C0CF-AE08-22C4C9941C96}"/>
                </a:ext>
              </a:extLst>
            </p:cNvPr>
            <p:cNvSpPr txBox="1"/>
            <p:nvPr/>
          </p:nvSpPr>
          <p:spPr>
            <a:xfrm>
              <a:off x="-395055" y="4911168"/>
              <a:ext cx="2989094" cy="765564"/>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系统在项目公司平稳运行后，解决平时遇到的与系统操作相关的问题</a:t>
              </a:r>
            </a:p>
          </p:txBody>
        </p:sp>
        <p:sp>
          <p:nvSpPr>
            <p:cNvPr id="35" name="文本框 34">
              <a:extLst>
                <a:ext uri="{FF2B5EF4-FFF2-40B4-BE49-F238E27FC236}">
                  <a16:creationId xmlns:a16="http://schemas.microsoft.com/office/drawing/2014/main" id="{2E43A0FC-BECE-9449-318F-B808533C4940}"/>
                </a:ext>
              </a:extLst>
            </p:cNvPr>
            <p:cNvSpPr txBox="1"/>
            <p:nvPr/>
          </p:nvSpPr>
          <p:spPr>
            <a:xfrm>
              <a:off x="7386354" y="1912253"/>
              <a:ext cx="3007999" cy="954107"/>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同其他项目公司关键用户一起，摸清吃透系统业务流程，理解业务含义</a:t>
              </a:r>
            </a:p>
          </p:txBody>
        </p:sp>
        <p:sp>
          <p:nvSpPr>
            <p:cNvPr id="36" name="文本框 35">
              <a:extLst>
                <a:ext uri="{FF2B5EF4-FFF2-40B4-BE49-F238E27FC236}">
                  <a16:creationId xmlns:a16="http://schemas.microsoft.com/office/drawing/2014/main" id="{7D108D9B-7958-30AB-BFB6-3A471DD97A28}"/>
                </a:ext>
              </a:extLst>
            </p:cNvPr>
            <p:cNvSpPr txBox="1"/>
            <p:nvPr/>
          </p:nvSpPr>
          <p:spPr>
            <a:xfrm>
              <a:off x="7395596" y="3475149"/>
              <a:ext cx="3007999" cy="738664"/>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项目公司系统上线前后，梳理本公司业务流程并与系统业务流程相匹配</a:t>
              </a:r>
            </a:p>
          </p:txBody>
        </p:sp>
        <p:sp>
          <p:nvSpPr>
            <p:cNvPr id="37" name="文本框 36">
              <a:extLst>
                <a:ext uri="{FF2B5EF4-FFF2-40B4-BE49-F238E27FC236}">
                  <a16:creationId xmlns:a16="http://schemas.microsoft.com/office/drawing/2014/main" id="{51A34FA6-CE06-FA06-F52E-78B18F359285}"/>
                </a:ext>
              </a:extLst>
            </p:cNvPr>
            <p:cNvSpPr txBox="1"/>
            <p:nvPr/>
          </p:nvSpPr>
          <p:spPr>
            <a:xfrm>
              <a:off x="7386352" y="5070586"/>
              <a:ext cx="3007999" cy="1212143"/>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协调项目组与项目公司之间沟通交流，协调公司内部部门（工程部、财务部、物资部等）、外部人员间业务配合，搭建良好的沟通交流平台</a:t>
              </a:r>
            </a:p>
          </p:txBody>
        </p:sp>
        <p:sp>
          <p:nvSpPr>
            <p:cNvPr id="38" name="文本框 37">
              <a:extLst>
                <a:ext uri="{FF2B5EF4-FFF2-40B4-BE49-F238E27FC236}">
                  <a16:creationId xmlns:a16="http://schemas.microsoft.com/office/drawing/2014/main" id="{D62BD611-E7F0-BAE5-8571-832898887240}"/>
                </a:ext>
              </a:extLst>
            </p:cNvPr>
            <p:cNvSpPr txBox="1"/>
            <p:nvPr/>
          </p:nvSpPr>
          <p:spPr>
            <a:xfrm>
              <a:off x="4493686" y="2509416"/>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业务理解</a:t>
              </a:r>
            </a:p>
          </p:txBody>
        </p:sp>
        <p:sp>
          <p:nvSpPr>
            <p:cNvPr id="39" name="文本框 38">
              <a:extLst>
                <a:ext uri="{FF2B5EF4-FFF2-40B4-BE49-F238E27FC236}">
                  <a16:creationId xmlns:a16="http://schemas.microsoft.com/office/drawing/2014/main" id="{6ED1347C-9CF8-0B78-BADE-A9B94BF50EC6}"/>
                </a:ext>
              </a:extLst>
            </p:cNvPr>
            <p:cNvSpPr txBox="1"/>
            <p:nvPr/>
          </p:nvSpPr>
          <p:spPr>
            <a:xfrm>
              <a:off x="5380604" y="2976920"/>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流程梳理</a:t>
              </a:r>
            </a:p>
          </p:txBody>
        </p:sp>
        <p:sp>
          <p:nvSpPr>
            <p:cNvPr id="40" name="文本框 39">
              <a:extLst>
                <a:ext uri="{FF2B5EF4-FFF2-40B4-BE49-F238E27FC236}">
                  <a16:creationId xmlns:a16="http://schemas.microsoft.com/office/drawing/2014/main" id="{A6445830-E321-00A9-1836-883F1045A015}"/>
                </a:ext>
              </a:extLst>
            </p:cNvPr>
            <p:cNvSpPr txBox="1"/>
            <p:nvPr/>
          </p:nvSpPr>
          <p:spPr>
            <a:xfrm>
              <a:off x="5452732" y="4021783"/>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协调配合</a:t>
              </a:r>
            </a:p>
          </p:txBody>
        </p:sp>
        <p:sp>
          <p:nvSpPr>
            <p:cNvPr id="41" name="文本框 40">
              <a:extLst>
                <a:ext uri="{FF2B5EF4-FFF2-40B4-BE49-F238E27FC236}">
                  <a16:creationId xmlns:a16="http://schemas.microsoft.com/office/drawing/2014/main" id="{BCF8CB71-7052-EC1B-F4E1-9F0B69A58DB0}"/>
                </a:ext>
              </a:extLst>
            </p:cNvPr>
            <p:cNvSpPr txBox="1"/>
            <p:nvPr/>
          </p:nvSpPr>
          <p:spPr>
            <a:xfrm>
              <a:off x="4477255" y="4488040"/>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系统运维</a:t>
              </a:r>
            </a:p>
          </p:txBody>
        </p:sp>
        <p:sp>
          <p:nvSpPr>
            <p:cNvPr id="42" name="文本框 41">
              <a:extLst>
                <a:ext uri="{FF2B5EF4-FFF2-40B4-BE49-F238E27FC236}">
                  <a16:creationId xmlns:a16="http://schemas.microsoft.com/office/drawing/2014/main" id="{58787310-16F3-19B8-4E0C-BE23D9467194}"/>
                </a:ext>
              </a:extLst>
            </p:cNvPr>
            <p:cNvSpPr txBox="1"/>
            <p:nvPr/>
          </p:nvSpPr>
          <p:spPr>
            <a:xfrm>
              <a:off x="3557885" y="4031937"/>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问题处理</a:t>
              </a:r>
            </a:p>
          </p:txBody>
        </p:sp>
        <p:sp>
          <p:nvSpPr>
            <p:cNvPr id="43" name="文本框 42">
              <a:extLst>
                <a:ext uri="{FF2B5EF4-FFF2-40B4-BE49-F238E27FC236}">
                  <a16:creationId xmlns:a16="http://schemas.microsoft.com/office/drawing/2014/main" id="{004408D2-9140-1F57-81BD-5D2B1A4256C2}"/>
                </a:ext>
              </a:extLst>
            </p:cNvPr>
            <p:cNvSpPr txBox="1"/>
            <p:nvPr/>
          </p:nvSpPr>
          <p:spPr>
            <a:xfrm>
              <a:off x="3640550" y="3009837"/>
              <a:ext cx="1002685" cy="307777"/>
            </a:xfrm>
            <a:prstGeom prst="rect">
              <a:avLst/>
            </a:prstGeom>
            <a:noFill/>
          </p:spPr>
          <p:txBody>
            <a:bodyPr wrap="square" rtlCol="0">
              <a:spAutoFit/>
            </a:bodyPr>
            <a:lstStyle>
              <a:defPPr>
                <a:defRPr lang="zh-CN"/>
              </a:defPPr>
              <a:lvl1pPr marL="285750" indent="-285750">
                <a:buClr>
                  <a:schemeClr val="tx2"/>
                </a:buClr>
                <a:buFont typeface="Wingdings" panose="05000000000000000000" pitchFamily="2" charset="2"/>
                <a:buChar char="Ø"/>
                <a:defRPr sz="1400" b="1">
                  <a:latin typeface="微软雅黑" panose="020B0503020204020204" pitchFamily="34" charset="-122"/>
                  <a:ea typeface="微软雅黑" panose="020B0503020204020204" pitchFamily="34" charset="-122"/>
                </a:defRPr>
              </a:lvl1pPr>
            </a:lstStyle>
            <a:p>
              <a:pPr marL="0" indent="0">
                <a:buNone/>
              </a:pPr>
              <a:r>
                <a:rPr lang="zh-CN" altLang="en-US" b="0" dirty="0"/>
                <a:t>产品知识</a:t>
              </a:r>
            </a:p>
          </p:txBody>
        </p:sp>
      </p:grpSp>
    </p:spTree>
    <p:extLst>
      <p:ext uri="{BB962C8B-B14F-4D97-AF65-F5344CB8AC3E}">
        <p14:creationId xmlns:p14="http://schemas.microsoft.com/office/powerpoint/2010/main" val="3923351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关键用户工作态度</a:t>
            </a:r>
          </a:p>
        </p:txBody>
      </p:sp>
      <p:grpSp>
        <p:nvGrpSpPr>
          <p:cNvPr id="2" name="组合 1">
            <a:extLst>
              <a:ext uri="{FF2B5EF4-FFF2-40B4-BE49-F238E27FC236}">
                <a16:creationId xmlns:a16="http://schemas.microsoft.com/office/drawing/2014/main" id="{2288B3DF-75D6-23A9-DD9B-2C500561BC71}"/>
              </a:ext>
            </a:extLst>
          </p:cNvPr>
          <p:cNvGrpSpPr/>
          <p:nvPr/>
        </p:nvGrpSpPr>
        <p:grpSpPr>
          <a:xfrm>
            <a:off x="781050" y="1014639"/>
            <a:ext cx="10782300" cy="4739938"/>
            <a:chOff x="393700" y="1014639"/>
            <a:chExt cx="9228138" cy="4605502"/>
          </a:xfrm>
        </p:grpSpPr>
        <p:sp>
          <p:nvSpPr>
            <p:cNvPr id="3" name="Oval 2">
              <a:extLst>
                <a:ext uri="{FF2B5EF4-FFF2-40B4-BE49-F238E27FC236}">
                  <a16:creationId xmlns:a16="http://schemas.microsoft.com/office/drawing/2014/main" id="{78E0443E-A49A-88AC-2DB4-07D920A4712C}"/>
                </a:ext>
              </a:extLst>
            </p:cNvPr>
            <p:cNvSpPr>
              <a:spLocks noChangeArrowheads="1"/>
            </p:cNvSpPr>
            <p:nvPr/>
          </p:nvSpPr>
          <p:spPr bwMode="auto">
            <a:xfrm>
              <a:off x="4176713" y="2920548"/>
              <a:ext cx="1273175" cy="1273175"/>
            </a:xfrm>
            <a:prstGeom prst="ellipse">
              <a:avLst/>
            </a:prstGeom>
            <a:solidFill>
              <a:schemeClr val="bg2">
                <a:lumMod val="85000"/>
              </a:schemeClr>
            </a:solidFill>
            <a:ln w="6350">
              <a:noFill/>
              <a:round/>
              <a:headEnd/>
              <a:tailEnd/>
            </a:ln>
            <a:effectLst/>
          </p:spPr>
          <p:txBody>
            <a:bodyPr wrap="none" lIns="0" tIns="0" rIns="0" bIns="0" anchor="ctr"/>
            <a:lstStyle/>
            <a:p>
              <a:pPr>
                <a:defRPr/>
              </a:pPr>
              <a:endParaRPr lang="zh-CN" altLang="en-US" sz="1600" b="1">
                <a:solidFill>
                  <a:srgbClr val="000000"/>
                </a:solidFill>
                <a:latin typeface="Arial" charset="0"/>
                <a:ea typeface="华文楷体" panose="02010600040101010101" pitchFamily="2" charset="-122"/>
              </a:endParaRPr>
            </a:p>
          </p:txBody>
        </p:sp>
        <p:sp>
          <p:nvSpPr>
            <p:cNvPr id="5" name="AutoShape 7">
              <a:extLst>
                <a:ext uri="{FF2B5EF4-FFF2-40B4-BE49-F238E27FC236}">
                  <a16:creationId xmlns:a16="http://schemas.microsoft.com/office/drawing/2014/main" id="{BAEA736B-96BF-0699-1588-8562860C76FF}"/>
                </a:ext>
              </a:extLst>
            </p:cNvPr>
            <p:cNvSpPr>
              <a:spLocks noChangeArrowheads="1"/>
            </p:cNvSpPr>
            <p:nvPr/>
          </p:nvSpPr>
          <p:spPr bwMode="auto">
            <a:xfrm>
              <a:off x="4238625" y="3656239"/>
              <a:ext cx="114300" cy="536575"/>
            </a:xfrm>
            <a:prstGeom prst="chevron">
              <a:avLst>
                <a:gd name="adj" fmla="val 100000"/>
              </a:avLst>
            </a:prstGeom>
            <a:solidFill>
              <a:schemeClr val="accent1"/>
            </a:solidFill>
            <a:ln w="25400">
              <a:solidFill>
                <a:schemeClr val="bg1"/>
              </a:solidFill>
              <a:miter lim="800000"/>
              <a:headEnd/>
              <a:tailEnd/>
            </a:ln>
          </p:spPr>
          <p:txBody>
            <a:bodyPr wrap="none" lIns="0" tIns="0" rIns="0" bIns="0" anchor="ctr"/>
            <a:lstStyle>
              <a:lvl1pPr>
                <a:defRPr sz="1600" b="1">
                  <a:solidFill>
                    <a:schemeClr val="tx1"/>
                  </a:solidFill>
                  <a:latin typeface="Arial" panose="020B0604020202020204" pitchFamily="34" charset="0"/>
                  <a:ea typeface="华文楷体" panose="02010600040101010101" pitchFamily="2" charset="-122"/>
                </a:defRPr>
              </a:lvl1pPr>
              <a:lvl2pPr marL="742950" indent="-285750">
                <a:defRPr sz="1600" b="1">
                  <a:solidFill>
                    <a:schemeClr val="tx1"/>
                  </a:solidFill>
                  <a:latin typeface="Arial" panose="020B0604020202020204" pitchFamily="34" charset="0"/>
                  <a:ea typeface="华文楷体" panose="02010600040101010101" pitchFamily="2" charset="-122"/>
                </a:defRPr>
              </a:lvl2pPr>
              <a:lvl3pPr marL="1143000" indent="-228600">
                <a:defRPr sz="1600" b="1">
                  <a:solidFill>
                    <a:schemeClr val="tx1"/>
                  </a:solidFill>
                  <a:latin typeface="Arial" panose="020B0604020202020204" pitchFamily="34" charset="0"/>
                  <a:ea typeface="华文楷体" panose="02010600040101010101" pitchFamily="2" charset="-122"/>
                </a:defRPr>
              </a:lvl3pPr>
              <a:lvl4pPr marL="1600200" indent="-228600">
                <a:defRPr sz="1600" b="1">
                  <a:solidFill>
                    <a:schemeClr val="tx1"/>
                  </a:solidFill>
                  <a:latin typeface="Arial" panose="020B0604020202020204" pitchFamily="34" charset="0"/>
                  <a:ea typeface="华文楷体" panose="02010600040101010101" pitchFamily="2" charset="-122"/>
                </a:defRPr>
              </a:lvl4pPr>
              <a:lvl5pPr marL="2057400" indent="-228600">
                <a:defRPr sz="1600" b="1">
                  <a:solidFill>
                    <a:schemeClr val="tx1"/>
                  </a:solidFill>
                  <a:latin typeface="Arial" panose="020B0604020202020204" pitchFamily="34" charset="0"/>
                  <a:ea typeface="华文楷体" panose="0201060004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9pPr>
            </a:lstStyle>
            <a:p>
              <a:endParaRPr lang="zh-CN" altLang="en-US">
                <a:solidFill>
                  <a:srgbClr val="000000"/>
                </a:solidFill>
              </a:endParaRPr>
            </a:p>
          </p:txBody>
        </p:sp>
        <p:sp>
          <p:nvSpPr>
            <p:cNvPr id="6" name="AutoShape 8">
              <a:extLst>
                <a:ext uri="{FF2B5EF4-FFF2-40B4-BE49-F238E27FC236}">
                  <a16:creationId xmlns:a16="http://schemas.microsoft.com/office/drawing/2014/main" id="{5E8B453F-365C-DC7A-ABE8-EC5A8DF7A9D7}"/>
                </a:ext>
              </a:extLst>
            </p:cNvPr>
            <p:cNvSpPr>
              <a:spLocks noChangeArrowheads="1"/>
            </p:cNvSpPr>
            <p:nvPr/>
          </p:nvSpPr>
          <p:spPr bwMode="auto">
            <a:xfrm flipH="1">
              <a:off x="5270500" y="3656239"/>
              <a:ext cx="114300" cy="536575"/>
            </a:xfrm>
            <a:prstGeom prst="chevron">
              <a:avLst>
                <a:gd name="adj" fmla="val 100000"/>
              </a:avLst>
            </a:prstGeom>
            <a:solidFill>
              <a:schemeClr val="accent1"/>
            </a:solidFill>
            <a:ln w="25400">
              <a:solidFill>
                <a:schemeClr val="bg1"/>
              </a:solidFill>
              <a:miter lim="800000"/>
              <a:headEnd/>
              <a:tailEnd/>
            </a:ln>
          </p:spPr>
          <p:txBody>
            <a:bodyPr wrap="none" lIns="0" tIns="0" rIns="0" bIns="0" anchor="ctr"/>
            <a:lstStyle>
              <a:lvl1pPr>
                <a:defRPr sz="1600" b="1">
                  <a:solidFill>
                    <a:schemeClr val="tx1"/>
                  </a:solidFill>
                  <a:latin typeface="Arial" panose="020B0604020202020204" pitchFamily="34" charset="0"/>
                  <a:ea typeface="华文楷体" panose="02010600040101010101" pitchFamily="2" charset="-122"/>
                </a:defRPr>
              </a:lvl1pPr>
              <a:lvl2pPr marL="742950" indent="-285750">
                <a:defRPr sz="1600" b="1">
                  <a:solidFill>
                    <a:schemeClr val="tx1"/>
                  </a:solidFill>
                  <a:latin typeface="Arial" panose="020B0604020202020204" pitchFamily="34" charset="0"/>
                  <a:ea typeface="华文楷体" panose="02010600040101010101" pitchFamily="2" charset="-122"/>
                </a:defRPr>
              </a:lvl2pPr>
              <a:lvl3pPr marL="1143000" indent="-228600">
                <a:defRPr sz="1600" b="1">
                  <a:solidFill>
                    <a:schemeClr val="tx1"/>
                  </a:solidFill>
                  <a:latin typeface="Arial" panose="020B0604020202020204" pitchFamily="34" charset="0"/>
                  <a:ea typeface="华文楷体" panose="02010600040101010101" pitchFamily="2" charset="-122"/>
                </a:defRPr>
              </a:lvl3pPr>
              <a:lvl4pPr marL="1600200" indent="-228600">
                <a:defRPr sz="1600" b="1">
                  <a:solidFill>
                    <a:schemeClr val="tx1"/>
                  </a:solidFill>
                  <a:latin typeface="Arial" panose="020B0604020202020204" pitchFamily="34" charset="0"/>
                  <a:ea typeface="华文楷体" panose="02010600040101010101" pitchFamily="2" charset="-122"/>
                </a:defRPr>
              </a:lvl4pPr>
              <a:lvl5pPr marL="2057400" indent="-228600">
                <a:defRPr sz="1600" b="1">
                  <a:solidFill>
                    <a:schemeClr val="tx1"/>
                  </a:solidFill>
                  <a:latin typeface="Arial" panose="020B0604020202020204" pitchFamily="34" charset="0"/>
                  <a:ea typeface="华文楷体" panose="0201060004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9pPr>
            </a:lstStyle>
            <a:p>
              <a:endParaRPr lang="zh-CN" altLang="en-US">
                <a:solidFill>
                  <a:srgbClr val="000000"/>
                </a:solidFill>
              </a:endParaRPr>
            </a:p>
          </p:txBody>
        </p:sp>
        <p:sp>
          <p:nvSpPr>
            <p:cNvPr id="7" name="AutoShape 4">
              <a:extLst>
                <a:ext uri="{FF2B5EF4-FFF2-40B4-BE49-F238E27FC236}">
                  <a16:creationId xmlns:a16="http://schemas.microsoft.com/office/drawing/2014/main" id="{42C3FBE9-CAF4-259B-3D8F-AB8B7E06ACB9}"/>
                </a:ext>
              </a:extLst>
            </p:cNvPr>
            <p:cNvSpPr>
              <a:spLocks noChangeArrowheads="1"/>
            </p:cNvSpPr>
            <p:nvPr/>
          </p:nvSpPr>
          <p:spPr bwMode="auto">
            <a:xfrm>
              <a:off x="3122613" y="1861685"/>
              <a:ext cx="1222375" cy="3351213"/>
            </a:xfrm>
            <a:prstGeom prst="chevron">
              <a:avLst>
                <a:gd name="adj" fmla="val 85426"/>
              </a:avLst>
            </a:prstGeom>
            <a:solidFill>
              <a:srgbClr val="9DA3CD"/>
            </a:solidFill>
            <a:ln w="6350">
              <a:solidFill>
                <a:schemeClr val="hlink"/>
              </a:solidFill>
              <a:miter lim="800000"/>
              <a:headEnd/>
              <a:tailEnd/>
            </a:ln>
          </p:spPr>
          <p:txBody>
            <a:bodyPr wrap="none" lIns="0" tIns="0" rIns="0" bIns="0" anchor="ctr"/>
            <a:lstStyle>
              <a:lvl1pPr>
                <a:defRPr sz="1600" b="1">
                  <a:solidFill>
                    <a:schemeClr val="tx1"/>
                  </a:solidFill>
                  <a:latin typeface="Arial" panose="020B0604020202020204" pitchFamily="34" charset="0"/>
                  <a:ea typeface="华文楷体" panose="02010600040101010101" pitchFamily="2" charset="-122"/>
                </a:defRPr>
              </a:lvl1pPr>
              <a:lvl2pPr marL="742950" indent="-285750">
                <a:defRPr sz="1600" b="1">
                  <a:solidFill>
                    <a:schemeClr val="tx1"/>
                  </a:solidFill>
                  <a:latin typeface="Arial" panose="020B0604020202020204" pitchFamily="34" charset="0"/>
                  <a:ea typeface="华文楷体" panose="02010600040101010101" pitchFamily="2" charset="-122"/>
                </a:defRPr>
              </a:lvl2pPr>
              <a:lvl3pPr marL="1143000" indent="-228600">
                <a:defRPr sz="1600" b="1">
                  <a:solidFill>
                    <a:schemeClr val="tx1"/>
                  </a:solidFill>
                  <a:latin typeface="Arial" panose="020B0604020202020204" pitchFamily="34" charset="0"/>
                  <a:ea typeface="华文楷体" panose="02010600040101010101" pitchFamily="2" charset="-122"/>
                </a:defRPr>
              </a:lvl3pPr>
              <a:lvl4pPr marL="1600200" indent="-228600">
                <a:defRPr sz="1600" b="1">
                  <a:solidFill>
                    <a:schemeClr val="tx1"/>
                  </a:solidFill>
                  <a:latin typeface="Arial" panose="020B0604020202020204" pitchFamily="34" charset="0"/>
                  <a:ea typeface="华文楷体" panose="02010600040101010101" pitchFamily="2" charset="-122"/>
                </a:defRPr>
              </a:lvl4pPr>
              <a:lvl5pPr marL="2057400" indent="-228600">
                <a:defRPr sz="1600" b="1">
                  <a:solidFill>
                    <a:schemeClr val="tx1"/>
                  </a:solidFill>
                  <a:latin typeface="Arial" panose="020B0604020202020204" pitchFamily="34" charset="0"/>
                  <a:ea typeface="华文楷体" panose="0201060004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9pPr>
            </a:lstStyle>
            <a:p>
              <a:endParaRPr lang="zh-CN" altLang="en-US">
                <a:solidFill>
                  <a:srgbClr val="000000"/>
                </a:solidFill>
              </a:endParaRPr>
            </a:p>
          </p:txBody>
        </p:sp>
        <p:sp>
          <p:nvSpPr>
            <p:cNvPr id="8" name="TextBox 10">
              <a:extLst>
                <a:ext uri="{FF2B5EF4-FFF2-40B4-BE49-F238E27FC236}">
                  <a16:creationId xmlns:a16="http://schemas.microsoft.com/office/drawing/2014/main" id="{782D24F2-F8A7-B676-8899-672D5B0C9275}"/>
                </a:ext>
              </a:extLst>
            </p:cNvPr>
            <p:cNvSpPr txBox="1"/>
            <p:nvPr/>
          </p:nvSpPr>
          <p:spPr>
            <a:xfrm>
              <a:off x="4360863" y="3328535"/>
              <a:ext cx="998537" cy="523220"/>
            </a:xfrm>
            <a:prstGeom prst="rect">
              <a:avLst/>
            </a:prstGeom>
            <a:noFill/>
            <a:ln>
              <a:noFill/>
            </a:ln>
          </p:spPr>
          <p:txBody>
            <a:bodyPr>
              <a:spAutoFit/>
            </a:bodyPr>
            <a:lstStyle/>
            <a:p>
              <a:pPr>
                <a:defRPr/>
              </a:pPr>
              <a:r>
                <a:rPr lang="zh-CN" altLang="en-US" sz="2800" b="1" dirty="0">
                  <a:latin typeface="微软雅黑" panose="020B0503020204020204" pitchFamily="34" charset="-122"/>
                  <a:ea typeface="微软雅黑" panose="020B0503020204020204" pitchFamily="34" charset="-122"/>
                </a:rPr>
                <a:t>转变</a:t>
              </a:r>
            </a:p>
          </p:txBody>
        </p:sp>
        <p:sp>
          <p:nvSpPr>
            <p:cNvPr id="9" name="AutoShape 4">
              <a:extLst>
                <a:ext uri="{FF2B5EF4-FFF2-40B4-BE49-F238E27FC236}">
                  <a16:creationId xmlns:a16="http://schemas.microsoft.com/office/drawing/2014/main" id="{CC63CF6F-8B4E-2972-19F1-108BDF1DE091}"/>
                </a:ext>
              </a:extLst>
            </p:cNvPr>
            <p:cNvSpPr>
              <a:spLocks noChangeArrowheads="1"/>
            </p:cNvSpPr>
            <p:nvPr/>
          </p:nvSpPr>
          <p:spPr bwMode="auto">
            <a:xfrm rot="10800000">
              <a:off x="5259388" y="1861685"/>
              <a:ext cx="1085850" cy="3351213"/>
            </a:xfrm>
            <a:prstGeom prst="chevron">
              <a:avLst>
                <a:gd name="adj" fmla="val 85426"/>
              </a:avLst>
            </a:prstGeom>
            <a:solidFill>
              <a:srgbClr val="9DA3CD"/>
            </a:solidFill>
            <a:ln w="6350">
              <a:solidFill>
                <a:schemeClr val="hlink"/>
              </a:solidFill>
              <a:miter lim="800000"/>
              <a:headEnd/>
              <a:tailEnd/>
            </a:ln>
          </p:spPr>
          <p:txBody>
            <a:bodyPr wrap="none" lIns="0" tIns="0" rIns="0" bIns="0" anchor="ctr"/>
            <a:lstStyle>
              <a:lvl1pPr>
                <a:defRPr sz="1600" b="1">
                  <a:solidFill>
                    <a:schemeClr val="tx1"/>
                  </a:solidFill>
                  <a:latin typeface="Arial" panose="020B0604020202020204" pitchFamily="34" charset="0"/>
                  <a:ea typeface="华文楷体" panose="02010600040101010101" pitchFamily="2" charset="-122"/>
                </a:defRPr>
              </a:lvl1pPr>
              <a:lvl2pPr marL="742950" indent="-285750">
                <a:defRPr sz="1600" b="1">
                  <a:solidFill>
                    <a:schemeClr val="tx1"/>
                  </a:solidFill>
                  <a:latin typeface="Arial" panose="020B0604020202020204" pitchFamily="34" charset="0"/>
                  <a:ea typeface="华文楷体" panose="02010600040101010101" pitchFamily="2" charset="-122"/>
                </a:defRPr>
              </a:lvl2pPr>
              <a:lvl3pPr marL="1143000" indent="-228600">
                <a:defRPr sz="1600" b="1">
                  <a:solidFill>
                    <a:schemeClr val="tx1"/>
                  </a:solidFill>
                  <a:latin typeface="Arial" panose="020B0604020202020204" pitchFamily="34" charset="0"/>
                  <a:ea typeface="华文楷体" panose="02010600040101010101" pitchFamily="2" charset="-122"/>
                </a:defRPr>
              </a:lvl3pPr>
              <a:lvl4pPr marL="1600200" indent="-228600">
                <a:defRPr sz="1600" b="1">
                  <a:solidFill>
                    <a:schemeClr val="tx1"/>
                  </a:solidFill>
                  <a:latin typeface="Arial" panose="020B0604020202020204" pitchFamily="34" charset="0"/>
                  <a:ea typeface="华文楷体" panose="02010600040101010101" pitchFamily="2" charset="-122"/>
                </a:defRPr>
              </a:lvl4pPr>
              <a:lvl5pPr marL="2057400" indent="-228600">
                <a:defRPr sz="1600" b="1">
                  <a:solidFill>
                    <a:schemeClr val="tx1"/>
                  </a:solidFill>
                  <a:latin typeface="Arial" panose="020B0604020202020204" pitchFamily="34" charset="0"/>
                  <a:ea typeface="华文楷体" panose="02010600040101010101" pitchFamily="2"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华文楷体" panose="02010600040101010101" pitchFamily="2" charset="-122"/>
                </a:defRPr>
              </a:lvl9pPr>
            </a:lstStyle>
            <a:p>
              <a:endParaRPr lang="zh-CN" altLang="en-US">
                <a:solidFill>
                  <a:srgbClr val="000000"/>
                </a:solidFill>
              </a:endParaRPr>
            </a:p>
          </p:txBody>
        </p:sp>
        <p:sp>
          <p:nvSpPr>
            <p:cNvPr id="10" name="左箭头 8">
              <a:extLst>
                <a:ext uri="{FF2B5EF4-FFF2-40B4-BE49-F238E27FC236}">
                  <a16:creationId xmlns:a16="http://schemas.microsoft.com/office/drawing/2014/main" id="{576A9586-2F6F-8336-0904-4B79379D9FBD}"/>
                </a:ext>
              </a:extLst>
            </p:cNvPr>
            <p:cNvSpPr/>
            <p:nvPr/>
          </p:nvSpPr>
          <p:spPr bwMode="auto">
            <a:xfrm>
              <a:off x="393700" y="1014639"/>
              <a:ext cx="2982913" cy="984250"/>
            </a:xfrm>
            <a:prstGeom prst="leftArrow">
              <a:avLst/>
            </a:prstGeom>
            <a:gradFill rotWithShape="1">
              <a:gsLst>
                <a:gs pos="0">
                  <a:srgbClr val="5E9EFF"/>
                </a:gs>
                <a:gs pos="39999">
                  <a:srgbClr val="85C2FF"/>
                </a:gs>
                <a:gs pos="70000">
                  <a:srgbClr val="C4D6EB"/>
                </a:gs>
                <a:gs pos="100000">
                  <a:srgbClr val="FFEBFA"/>
                </a:gs>
              </a:gsLst>
              <a:lin ang="10800000" scaled="1"/>
            </a:gradFill>
            <a:ln w="6350" algn="ctr">
              <a:solidFill>
                <a:schemeClr val="accent1"/>
              </a:solidFill>
              <a:round/>
              <a:headEnd/>
              <a:tailEnd/>
            </a:ln>
          </p:spPr>
          <p:txBody>
            <a:bodyPr wrap="none" anchor="ctr" anchorCtr="1"/>
            <a:lstStyle/>
            <a:p>
              <a:pPr>
                <a:defRPr/>
              </a:pPr>
              <a:r>
                <a:rPr lang="zh-CN" altLang="en-US" b="1" dirty="0">
                  <a:solidFill>
                    <a:srgbClr val="000000"/>
                  </a:solidFill>
                  <a:latin typeface="微软雅黑" panose="020B0503020204020204" pitchFamily="34" charset="-122"/>
                  <a:ea typeface="微软雅黑" panose="020B0503020204020204" pitchFamily="34" charset="-122"/>
                </a:rPr>
                <a:t>我们即将面临的是。。。</a:t>
              </a:r>
            </a:p>
          </p:txBody>
        </p:sp>
        <p:sp>
          <p:nvSpPr>
            <p:cNvPr id="11" name="右箭头 9">
              <a:extLst>
                <a:ext uri="{FF2B5EF4-FFF2-40B4-BE49-F238E27FC236}">
                  <a16:creationId xmlns:a16="http://schemas.microsoft.com/office/drawing/2014/main" id="{D663800C-5F56-1A98-6855-8559B0BFB4BA}"/>
                </a:ext>
              </a:extLst>
            </p:cNvPr>
            <p:cNvSpPr/>
            <p:nvPr/>
          </p:nvSpPr>
          <p:spPr bwMode="auto">
            <a:xfrm>
              <a:off x="6146800" y="1014639"/>
              <a:ext cx="2981325" cy="990600"/>
            </a:xfrm>
            <a:prstGeom prst="rightArrow">
              <a:avLst/>
            </a:prstGeom>
            <a:gradFill rotWithShape="1">
              <a:gsLst>
                <a:gs pos="0">
                  <a:srgbClr val="5E9EFF"/>
                </a:gs>
                <a:gs pos="39999">
                  <a:srgbClr val="85C2FF"/>
                </a:gs>
                <a:gs pos="70000">
                  <a:srgbClr val="C4D6EB"/>
                </a:gs>
                <a:gs pos="100000">
                  <a:srgbClr val="FFEBFA"/>
                </a:gs>
              </a:gsLst>
              <a:lin ang="10800000" scaled="1"/>
            </a:gradFill>
            <a:ln w="6350" algn="ctr">
              <a:solidFill>
                <a:schemeClr val="accent1"/>
              </a:solidFill>
              <a:round/>
              <a:headEnd/>
              <a:tailEnd/>
            </a:ln>
          </p:spPr>
          <p:txBody>
            <a:bodyPr wrap="none" anchor="ctr" anchorCtr="1"/>
            <a:lstStyle/>
            <a:p>
              <a:pPr algn="ctr">
                <a:defRPr/>
              </a:pPr>
              <a:r>
                <a:rPr lang="zh-CN" altLang="en-US" b="1" dirty="0">
                  <a:solidFill>
                    <a:srgbClr val="000000"/>
                  </a:solidFill>
                  <a:latin typeface="微软雅黑" panose="020B0503020204020204" pitchFamily="34" charset="-122"/>
                  <a:ea typeface="微软雅黑" panose="020B0503020204020204" pitchFamily="34" charset="-122"/>
                </a:rPr>
                <a:t>我们需要做到的是。。。</a:t>
              </a:r>
            </a:p>
          </p:txBody>
        </p:sp>
        <p:sp>
          <p:nvSpPr>
            <p:cNvPr id="12" name="TextBox 18">
              <a:extLst>
                <a:ext uri="{FF2B5EF4-FFF2-40B4-BE49-F238E27FC236}">
                  <a16:creationId xmlns:a16="http://schemas.microsoft.com/office/drawing/2014/main" id="{F580ACFA-1402-48A8-644D-97686F25FAFC}"/>
                </a:ext>
              </a:extLst>
            </p:cNvPr>
            <p:cNvSpPr txBox="1"/>
            <p:nvPr/>
          </p:nvSpPr>
          <p:spPr>
            <a:xfrm>
              <a:off x="787400" y="2238602"/>
              <a:ext cx="2068513" cy="338137"/>
            </a:xfrm>
            <a:prstGeom prst="rect">
              <a:avLst/>
            </a:prstGeom>
            <a:noFill/>
            <a:ln>
              <a:noFill/>
            </a:ln>
          </p:spPr>
          <p:txBody>
            <a:bodyPr>
              <a:spAutoFit/>
            </a:bodyPr>
            <a:lstStyle/>
            <a:p>
              <a:pPr>
                <a:defRPr/>
              </a:pPr>
              <a:r>
                <a:rPr lang="zh-CN" altLang="en-US" sz="1600" b="1" dirty="0">
                  <a:solidFill>
                    <a:srgbClr val="000000"/>
                  </a:solidFill>
                  <a:latin typeface="微软雅黑" panose="020B0503020204020204" pitchFamily="34" charset="-122"/>
                  <a:ea typeface="微软雅黑" panose="020B0503020204020204" pitchFamily="34" charset="-122"/>
                </a:rPr>
                <a:t>薄弱的基础管理现状</a:t>
              </a:r>
            </a:p>
          </p:txBody>
        </p:sp>
        <p:sp>
          <p:nvSpPr>
            <p:cNvPr id="13" name="TextBox 19">
              <a:extLst>
                <a:ext uri="{FF2B5EF4-FFF2-40B4-BE49-F238E27FC236}">
                  <a16:creationId xmlns:a16="http://schemas.microsoft.com/office/drawing/2014/main" id="{576396DB-3C1F-0EBA-2A21-55A440C5012C}"/>
                </a:ext>
              </a:extLst>
            </p:cNvPr>
            <p:cNvSpPr txBox="1"/>
            <p:nvPr/>
          </p:nvSpPr>
          <p:spPr>
            <a:xfrm>
              <a:off x="787400" y="2995839"/>
              <a:ext cx="2225675" cy="338138"/>
            </a:xfrm>
            <a:prstGeom prst="rect">
              <a:avLst/>
            </a:prstGeom>
            <a:noFill/>
            <a:ln>
              <a:noFill/>
            </a:ln>
          </p:spPr>
          <p:txBody>
            <a:bodyPr>
              <a:spAutoFit/>
            </a:bodyPr>
            <a:lstStyle/>
            <a:p>
              <a:pPr>
                <a:defRPr/>
              </a:pPr>
              <a:r>
                <a:rPr lang="zh-CN" altLang="en-US" sz="1600" b="1" dirty="0">
                  <a:solidFill>
                    <a:srgbClr val="000000"/>
                  </a:solidFill>
                  <a:latin typeface="微软雅黑" panose="020B0503020204020204" pitchFamily="34" charset="-122"/>
                  <a:ea typeface="微软雅黑" panose="020B0503020204020204" pitchFamily="34" charset="-122"/>
                </a:rPr>
                <a:t>害怕变革的心态</a:t>
              </a:r>
            </a:p>
          </p:txBody>
        </p:sp>
        <p:sp>
          <p:nvSpPr>
            <p:cNvPr id="14" name="TextBox 20">
              <a:extLst>
                <a:ext uri="{FF2B5EF4-FFF2-40B4-BE49-F238E27FC236}">
                  <a16:creationId xmlns:a16="http://schemas.microsoft.com/office/drawing/2014/main" id="{9C4859C1-CDFE-7CAA-9CE2-2FC3BF54B723}"/>
                </a:ext>
              </a:extLst>
            </p:cNvPr>
            <p:cNvSpPr txBox="1"/>
            <p:nvPr/>
          </p:nvSpPr>
          <p:spPr>
            <a:xfrm>
              <a:off x="787400" y="3753077"/>
              <a:ext cx="2225675" cy="338137"/>
            </a:xfrm>
            <a:prstGeom prst="rect">
              <a:avLst/>
            </a:prstGeom>
            <a:noFill/>
            <a:ln>
              <a:noFill/>
            </a:ln>
          </p:spPr>
          <p:txBody>
            <a:bodyPr>
              <a:spAutoFit/>
            </a:bodyPr>
            <a:lstStyle/>
            <a:p>
              <a:pPr>
                <a:defRPr/>
              </a:pPr>
              <a:r>
                <a:rPr lang="zh-CN" altLang="en-US" sz="1600" b="1" dirty="0">
                  <a:solidFill>
                    <a:srgbClr val="000000"/>
                  </a:solidFill>
                  <a:latin typeface="微软雅黑" panose="020B0503020204020204" pitchFamily="34" charset="-122"/>
                  <a:ea typeface="微软雅黑" panose="020B0503020204020204" pitchFamily="34" charset="-122"/>
                </a:rPr>
                <a:t>管理变革的过程</a:t>
              </a:r>
            </a:p>
          </p:txBody>
        </p:sp>
        <p:sp>
          <p:nvSpPr>
            <p:cNvPr id="15" name="TextBox 23">
              <a:extLst>
                <a:ext uri="{FF2B5EF4-FFF2-40B4-BE49-F238E27FC236}">
                  <a16:creationId xmlns:a16="http://schemas.microsoft.com/office/drawing/2014/main" id="{A2C11041-F8D5-5F44-548B-DDE97D3FC28C}"/>
                </a:ext>
              </a:extLst>
            </p:cNvPr>
            <p:cNvSpPr txBox="1"/>
            <p:nvPr/>
          </p:nvSpPr>
          <p:spPr>
            <a:xfrm>
              <a:off x="6440488" y="2165577"/>
              <a:ext cx="3181350" cy="717714"/>
            </a:xfrm>
            <a:prstGeom prst="rect">
              <a:avLst/>
            </a:prstGeom>
            <a:noFill/>
            <a:ln>
              <a:noFill/>
            </a:ln>
          </p:spPr>
          <p:txBody>
            <a:bodyPr>
              <a:spAutoFit/>
            </a:bodyPr>
            <a:lstStyle/>
            <a:p>
              <a:pPr>
                <a:defRPr/>
              </a:pPr>
              <a:r>
                <a:rPr lang="zh-CN" altLang="en-US" sz="1400" b="1" dirty="0">
                  <a:solidFill>
                    <a:srgbClr val="000000"/>
                  </a:solidFill>
                  <a:latin typeface="微软雅黑" panose="020B0503020204020204" pitchFamily="34" charset="-122"/>
                  <a:ea typeface="微软雅黑" panose="020B0503020204020204" pitchFamily="34" charset="-122"/>
                </a:rPr>
                <a:t>价值认同：</a:t>
              </a:r>
              <a:r>
                <a:rPr lang="zh-CN" altLang="en-US" sz="1400" dirty="0">
                  <a:solidFill>
                    <a:srgbClr val="000000"/>
                  </a:solidFill>
                  <a:latin typeface="微软雅黑" panose="020B0503020204020204" pitchFamily="34" charset="-122"/>
                  <a:ea typeface="微软雅黑" panose="020B0503020204020204" pitchFamily="34" charset="-122"/>
                </a:rPr>
                <a:t>要有一定的思想高度，认可信息化对于企业的价值，并通过自己，传播给别人</a:t>
              </a:r>
            </a:p>
          </p:txBody>
        </p:sp>
        <p:sp>
          <p:nvSpPr>
            <p:cNvPr id="16" name="TextBox 24">
              <a:extLst>
                <a:ext uri="{FF2B5EF4-FFF2-40B4-BE49-F238E27FC236}">
                  <a16:creationId xmlns:a16="http://schemas.microsoft.com/office/drawing/2014/main" id="{02CB197D-27E6-22BE-A734-FA6ADEEE5F8C}"/>
                </a:ext>
              </a:extLst>
            </p:cNvPr>
            <p:cNvSpPr txBox="1"/>
            <p:nvPr/>
          </p:nvSpPr>
          <p:spPr>
            <a:xfrm>
              <a:off x="6440488" y="3160939"/>
              <a:ext cx="3181350" cy="508380"/>
            </a:xfrm>
            <a:prstGeom prst="rect">
              <a:avLst/>
            </a:prstGeom>
            <a:noFill/>
            <a:ln>
              <a:noFill/>
            </a:ln>
          </p:spPr>
          <p:txBody>
            <a:bodyPr>
              <a:spAutoFit/>
            </a:bodyPr>
            <a:lstStyle/>
            <a:p>
              <a:pPr>
                <a:defRPr/>
              </a:pPr>
              <a:r>
                <a:rPr lang="zh-CN" altLang="en-US" sz="1400" b="1" dirty="0">
                  <a:solidFill>
                    <a:srgbClr val="000000"/>
                  </a:solidFill>
                  <a:latin typeface="微软雅黑" panose="020B0503020204020204" pitchFamily="34" charset="-122"/>
                  <a:ea typeface="微软雅黑" panose="020B0503020204020204" pitchFamily="34" charset="-122"/>
                </a:rPr>
                <a:t>责任担当：</a:t>
              </a:r>
              <a:r>
                <a:rPr lang="zh-CN" altLang="en-US" sz="1400" dirty="0">
                  <a:solidFill>
                    <a:srgbClr val="000000"/>
                  </a:solidFill>
                  <a:latin typeface="微软雅黑" panose="020B0503020204020204" pitchFamily="34" charset="-122"/>
                  <a:ea typeface="微软雅黑" panose="020B0503020204020204" pitchFamily="34" charset="-122"/>
                </a:rPr>
                <a:t>敢想敢闯敢于承担责任，在遇见问题时不退缩、不畏惧，勇于担当</a:t>
              </a:r>
            </a:p>
          </p:txBody>
        </p:sp>
        <p:sp>
          <p:nvSpPr>
            <p:cNvPr id="17" name="TextBox 25">
              <a:extLst>
                <a:ext uri="{FF2B5EF4-FFF2-40B4-BE49-F238E27FC236}">
                  <a16:creationId xmlns:a16="http://schemas.microsoft.com/office/drawing/2014/main" id="{503F6975-35D3-D236-A8F0-9C0BD1E1FF05}"/>
                </a:ext>
              </a:extLst>
            </p:cNvPr>
            <p:cNvSpPr txBox="1"/>
            <p:nvPr/>
          </p:nvSpPr>
          <p:spPr>
            <a:xfrm>
              <a:off x="6440488" y="4154714"/>
              <a:ext cx="3181350" cy="508380"/>
            </a:xfrm>
            <a:prstGeom prst="rect">
              <a:avLst/>
            </a:prstGeom>
            <a:noFill/>
            <a:ln>
              <a:noFill/>
            </a:ln>
          </p:spPr>
          <p:txBody>
            <a:bodyPr>
              <a:spAutoFit/>
            </a:bodyPr>
            <a:lstStyle/>
            <a:p>
              <a:pPr>
                <a:defRPr/>
              </a:pPr>
              <a:r>
                <a:rPr lang="zh-CN" altLang="en-US" sz="1400" b="1" dirty="0">
                  <a:solidFill>
                    <a:srgbClr val="000000"/>
                  </a:solidFill>
                  <a:latin typeface="微软雅黑" panose="020B0503020204020204" pitchFamily="34" charset="-122"/>
                  <a:ea typeface="微软雅黑" panose="020B0503020204020204" pitchFamily="34" charset="-122"/>
                </a:rPr>
                <a:t>承受压力：</a:t>
              </a:r>
              <a:r>
                <a:rPr lang="zh-CN" altLang="en-US" sz="1400" dirty="0">
                  <a:solidFill>
                    <a:srgbClr val="000000"/>
                  </a:solidFill>
                  <a:latin typeface="微软雅黑" panose="020B0503020204020204" pitchFamily="34" charset="-122"/>
                  <a:ea typeface="微软雅黑" panose="020B0503020204020204" pitchFamily="34" charset="-122"/>
                </a:rPr>
                <a:t>不理解、挑刺、抗拒都会存在，要学会看着大方向</a:t>
              </a:r>
            </a:p>
          </p:txBody>
        </p:sp>
        <p:sp>
          <p:nvSpPr>
            <p:cNvPr id="18" name="TextBox 26">
              <a:extLst>
                <a:ext uri="{FF2B5EF4-FFF2-40B4-BE49-F238E27FC236}">
                  <a16:creationId xmlns:a16="http://schemas.microsoft.com/office/drawing/2014/main" id="{2193EB4B-5856-5019-9630-6B6B5B5F63FE}"/>
                </a:ext>
              </a:extLst>
            </p:cNvPr>
            <p:cNvSpPr txBox="1"/>
            <p:nvPr/>
          </p:nvSpPr>
          <p:spPr>
            <a:xfrm>
              <a:off x="6440488" y="4902427"/>
              <a:ext cx="3181350" cy="717714"/>
            </a:xfrm>
            <a:prstGeom prst="rect">
              <a:avLst/>
            </a:prstGeom>
            <a:noFill/>
            <a:ln>
              <a:noFill/>
            </a:ln>
          </p:spPr>
          <p:txBody>
            <a:bodyPr>
              <a:spAutoFit/>
            </a:bodyPr>
            <a:lstStyle/>
            <a:p>
              <a:pPr>
                <a:defRPr/>
              </a:pPr>
              <a:r>
                <a:rPr lang="zh-CN" altLang="en-US" sz="1400" b="1" dirty="0">
                  <a:solidFill>
                    <a:srgbClr val="000000"/>
                  </a:solidFill>
                  <a:latin typeface="微软雅黑" panose="020B0503020204020204" pitchFamily="34" charset="-122"/>
                  <a:ea typeface="微软雅黑" panose="020B0503020204020204" pitchFamily="34" charset="-122"/>
                </a:rPr>
                <a:t>自主学习：</a:t>
              </a:r>
              <a:r>
                <a:rPr lang="zh-CN" altLang="en-US" sz="1400" dirty="0">
                  <a:solidFill>
                    <a:srgbClr val="000000"/>
                  </a:solidFill>
                  <a:latin typeface="微软雅黑" panose="020B0503020204020204" pitchFamily="34" charset="-122"/>
                  <a:ea typeface="微软雅黑" panose="020B0503020204020204" pitchFamily="34" charset="-122"/>
                </a:rPr>
                <a:t>业务方面，同其他成员公司相互学习、共同提升；信息化及其他公司管理经验方面，向咨询公司学习</a:t>
              </a:r>
            </a:p>
          </p:txBody>
        </p:sp>
      </p:grpSp>
    </p:spTree>
    <p:extLst>
      <p:ext uri="{BB962C8B-B14F-4D97-AF65-F5344CB8AC3E}">
        <p14:creationId xmlns:p14="http://schemas.microsoft.com/office/powerpoint/2010/main" val="3913340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5C0B65-0A57-01A1-D14D-0B0A2390A970}"/>
              </a:ext>
            </a:extLst>
          </p:cNvPr>
          <p:cNvSpPr>
            <a:spLocks noGrp="1"/>
          </p:cNvSpPr>
          <p:nvPr>
            <p:ph type="title"/>
          </p:nvPr>
        </p:nvSpPr>
        <p:spPr/>
        <p:txBody>
          <a:bodyPr/>
          <a:lstStyle/>
          <a:p>
            <a:r>
              <a:rPr kumimoji="1" lang="zh-CN" altLang="en-US" dirty="0"/>
              <a:t>近期关键用户重点工作</a:t>
            </a:r>
          </a:p>
        </p:txBody>
      </p:sp>
      <p:sp>
        <p:nvSpPr>
          <p:cNvPr id="3" name="文本占位符 2">
            <a:extLst>
              <a:ext uri="{FF2B5EF4-FFF2-40B4-BE49-F238E27FC236}">
                <a16:creationId xmlns:a16="http://schemas.microsoft.com/office/drawing/2014/main" id="{3D2FA5F9-FAFC-3994-E370-995E5B442515}"/>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1042803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en-US" altLang="zh-CN" dirty="0"/>
              <a:t>4-1 </a:t>
            </a:r>
            <a:r>
              <a:rPr kumimoji="1" lang="zh-CN" altLang="en-US" dirty="0"/>
              <a:t>参加项目组组织的培训</a:t>
            </a:r>
          </a:p>
        </p:txBody>
      </p:sp>
      <p:grpSp>
        <p:nvGrpSpPr>
          <p:cNvPr id="2" name="组合 1">
            <a:extLst>
              <a:ext uri="{FF2B5EF4-FFF2-40B4-BE49-F238E27FC236}">
                <a16:creationId xmlns:a16="http://schemas.microsoft.com/office/drawing/2014/main" id="{8CF4EDD8-245F-225E-2EEA-C8DA06AD79BA}"/>
              </a:ext>
            </a:extLst>
          </p:cNvPr>
          <p:cNvGrpSpPr/>
          <p:nvPr/>
        </p:nvGrpSpPr>
        <p:grpSpPr>
          <a:xfrm>
            <a:off x="647700" y="919849"/>
            <a:ext cx="11010900" cy="5309501"/>
            <a:chOff x="304404" y="919849"/>
            <a:chExt cx="9291659" cy="4566551"/>
          </a:xfrm>
        </p:grpSpPr>
        <p:sp>
          <p:nvSpPr>
            <p:cNvPr id="3" name="内容占位符 1">
              <a:extLst>
                <a:ext uri="{FF2B5EF4-FFF2-40B4-BE49-F238E27FC236}">
                  <a16:creationId xmlns:a16="http://schemas.microsoft.com/office/drawing/2014/main" id="{C68E2995-490B-D562-9032-46452595D04B}"/>
                </a:ext>
              </a:extLst>
            </p:cNvPr>
            <p:cNvSpPr txBox="1">
              <a:spLocks/>
            </p:cNvSpPr>
            <p:nvPr/>
          </p:nvSpPr>
          <p:spPr>
            <a:xfrm>
              <a:off x="304404" y="919849"/>
              <a:ext cx="9291659" cy="6786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9230" indent="-189230">
                <a:lnSpc>
                  <a:spcPct val="150000"/>
                </a:lnSpc>
              </a:pPr>
              <a:r>
                <a:rPr lang="zh-CN" altLang="en-US" sz="1600" dirty="0">
                  <a:solidFill>
                    <a:prstClr val="black"/>
                  </a:solidFill>
                </a:rPr>
                <a:t>项目组会针对</a:t>
              </a:r>
              <a:r>
                <a:rPr lang="en-US" altLang="zh-CN" sz="1600" dirty="0">
                  <a:solidFill>
                    <a:prstClr val="black"/>
                  </a:solidFill>
                </a:rPr>
                <a:t>ERP</a:t>
              </a:r>
              <a:r>
                <a:rPr lang="zh-CN" altLang="en-US" sz="1600" dirty="0">
                  <a:solidFill>
                    <a:prstClr val="black"/>
                  </a:solidFill>
                </a:rPr>
                <a:t>建设所需的技能对关键用户全面开展培训，涉及</a:t>
              </a:r>
              <a:r>
                <a:rPr lang="en-US" altLang="zh-CN" sz="1600" dirty="0">
                  <a:solidFill>
                    <a:prstClr val="black"/>
                  </a:solidFill>
                </a:rPr>
                <a:t>ERP</a:t>
              </a:r>
              <a:r>
                <a:rPr lang="zh-CN" altLang="en-US" sz="1600" dirty="0">
                  <a:solidFill>
                    <a:prstClr val="black"/>
                  </a:solidFill>
                </a:rPr>
                <a:t>系统概念培训、系统标准功能培训、</a:t>
              </a:r>
              <a:r>
                <a:rPr lang="en-US" altLang="zh-CN" sz="1600" dirty="0">
                  <a:solidFill>
                    <a:prstClr val="black"/>
                  </a:solidFill>
                </a:rPr>
                <a:t>OFFICE</a:t>
              </a:r>
              <a:r>
                <a:rPr lang="zh-CN" altLang="en-US" sz="1600" dirty="0">
                  <a:solidFill>
                    <a:prstClr val="black"/>
                  </a:solidFill>
                </a:rPr>
                <a:t>基础技能培训、业务标准培训以及行业领先实践分享</a:t>
              </a:r>
              <a:endParaRPr lang="en-US" altLang="zh-CN" sz="1600" dirty="0">
                <a:solidFill>
                  <a:prstClr val="black"/>
                </a:solidFill>
              </a:endParaRPr>
            </a:p>
          </p:txBody>
        </p:sp>
        <p:grpSp>
          <p:nvGrpSpPr>
            <p:cNvPr id="5" name="21765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08857AD-C28A-8130-D065-91C60EDD35F4}"/>
                </a:ext>
              </a:extLst>
            </p:cNvPr>
            <p:cNvGrpSpPr>
              <a:grpSpLocks noChangeAspect="1"/>
            </p:cNvGrpSpPr>
            <p:nvPr>
              <p:custDataLst>
                <p:tags r:id="rId1"/>
              </p:custDataLst>
            </p:nvPr>
          </p:nvGrpSpPr>
          <p:grpSpPr>
            <a:xfrm>
              <a:off x="304404" y="2155371"/>
              <a:ext cx="9231442" cy="3331029"/>
              <a:chOff x="674322" y="1570892"/>
              <a:chExt cx="11361780" cy="4135303"/>
            </a:xfrm>
          </p:grpSpPr>
          <p:sp>
            <p:nvSpPr>
              <p:cNvPr id="6" name="işḻiḍê">
                <a:extLst>
                  <a:ext uri="{FF2B5EF4-FFF2-40B4-BE49-F238E27FC236}">
                    <a16:creationId xmlns:a16="http://schemas.microsoft.com/office/drawing/2014/main" id="{FEB523B3-6D80-03CE-0A15-153A3AF0595C}"/>
                  </a:ext>
                </a:extLst>
              </p:cNvPr>
              <p:cNvSpPr/>
              <p:nvPr/>
            </p:nvSpPr>
            <p:spPr>
              <a:xfrm>
                <a:off x="674322" y="2076446"/>
                <a:ext cx="3124202" cy="312419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sz="2400"/>
              </a:p>
            </p:txBody>
          </p:sp>
          <p:grpSp>
            <p:nvGrpSpPr>
              <p:cNvPr id="7" name="îŝḷîḍé">
                <a:extLst>
                  <a:ext uri="{FF2B5EF4-FFF2-40B4-BE49-F238E27FC236}">
                    <a16:creationId xmlns:a16="http://schemas.microsoft.com/office/drawing/2014/main" id="{AAB99E9E-4503-F541-3B0B-0EAD38115B5B}"/>
                  </a:ext>
                </a:extLst>
              </p:cNvPr>
              <p:cNvGrpSpPr/>
              <p:nvPr/>
            </p:nvGrpSpPr>
            <p:grpSpPr>
              <a:xfrm>
                <a:off x="712476" y="2439137"/>
                <a:ext cx="3047896" cy="2780726"/>
                <a:chOff x="1839996" y="2384881"/>
                <a:chExt cx="3378619" cy="3082466"/>
              </a:xfrm>
            </p:grpSpPr>
            <p:sp>
              <p:nvSpPr>
                <p:cNvPr id="36" name="iŝľïdè">
                  <a:extLst>
                    <a:ext uri="{FF2B5EF4-FFF2-40B4-BE49-F238E27FC236}">
                      <a16:creationId xmlns:a16="http://schemas.microsoft.com/office/drawing/2014/main" id="{D171D638-E926-4843-BFC5-53DD169C238D}"/>
                    </a:ext>
                  </a:extLst>
                </p:cNvPr>
                <p:cNvSpPr/>
                <p:nvPr/>
              </p:nvSpPr>
              <p:spPr bwMode="auto">
                <a:xfrm>
                  <a:off x="3077558" y="2384881"/>
                  <a:ext cx="903494" cy="3082466"/>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chemeClr val="bg1">
                    <a:lumMod val="65000"/>
                  </a:schemeClr>
                </a:solidFill>
                <a:ln>
                  <a:no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algn="ctr"/>
                  <a:endParaRPr sz="2400"/>
                </a:p>
              </p:txBody>
            </p:sp>
            <p:sp>
              <p:nvSpPr>
                <p:cNvPr id="37" name="ïṣḻïḓè">
                  <a:extLst>
                    <a:ext uri="{FF2B5EF4-FFF2-40B4-BE49-F238E27FC236}">
                      <a16:creationId xmlns:a16="http://schemas.microsoft.com/office/drawing/2014/main" id="{3C6192FD-55EE-F76C-77A2-867CAC51C515}"/>
                    </a:ext>
                  </a:extLst>
                </p:cNvPr>
                <p:cNvSpPr/>
                <p:nvPr/>
              </p:nvSpPr>
              <p:spPr bwMode="auto">
                <a:xfrm>
                  <a:off x="1839996" y="2471816"/>
                  <a:ext cx="3378619" cy="2325660"/>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chemeClr val="bg1">
                    <a:lumMod val="75000"/>
                  </a:schemeClr>
                </a:solidFill>
                <a:ln>
                  <a:noFill/>
                </a:ln>
              </p:spPr>
              <p:txBody>
                <a:bodyPr wrap="square" lIns="91440" tIns="45720" rIns="91440" bIns="45720" anchor="ctr">
                  <a:normAutofit/>
                </a:bodyPr>
                <a:lstStyle/>
                <a:p>
                  <a:pPr algn="ctr"/>
                  <a:endParaRPr sz="2400"/>
                </a:p>
              </p:txBody>
            </p:sp>
            <p:sp>
              <p:nvSpPr>
                <p:cNvPr id="38" name="ïS1iḑe">
                  <a:extLst>
                    <a:ext uri="{FF2B5EF4-FFF2-40B4-BE49-F238E27FC236}">
                      <a16:creationId xmlns:a16="http://schemas.microsoft.com/office/drawing/2014/main" id="{5A307BE1-ECD6-05F1-66DA-DF5BFB42E91A}"/>
                    </a:ext>
                  </a:extLst>
                </p:cNvPr>
                <p:cNvSpPr/>
                <p:nvPr/>
              </p:nvSpPr>
              <p:spPr bwMode="auto">
                <a:xfrm>
                  <a:off x="1968269" y="2576666"/>
                  <a:ext cx="3122072" cy="21159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sz="2400"/>
                </a:p>
              </p:txBody>
            </p:sp>
            <p:grpSp>
              <p:nvGrpSpPr>
                <p:cNvPr id="39" name="isļiḓê">
                  <a:extLst>
                    <a:ext uri="{FF2B5EF4-FFF2-40B4-BE49-F238E27FC236}">
                      <a16:creationId xmlns:a16="http://schemas.microsoft.com/office/drawing/2014/main" id="{E0EA7011-CFCC-33E5-0403-4A3FD504A144}"/>
                    </a:ext>
                  </a:extLst>
                </p:cNvPr>
                <p:cNvGrpSpPr/>
                <p:nvPr/>
              </p:nvGrpSpPr>
              <p:grpSpPr>
                <a:xfrm>
                  <a:off x="2418058" y="2836154"/>
                  <a:ext cx="2293647" cy="1608845"/>
                  <a:chOff x="4775741" y="2025519"/>
                  <a:chExt cx="1839889" cy="1290566"/>
                </a:xfrm>
              </p:grpSpPr>
              <p:sp>
                <p:nvSpPr>
                  <p:cNvPr id="40" name="iṡḷiḓé">
                    <a:extLst>
                      <a:ext uri="{FF2B5EF4-FFF2-40B4-BE49-F238E27FC236}">
                        <a16:creationId xmlns:a16="http://schemas.microsoft.com/office/drawing/2014/main" id="{4A2E04E8-7650-41DC-C115-19A10A25C8D5}"/>
                      </a:ext>
                    </a:extLst>
                  </p:cNvPr>
                  <p:cNvSpPr/>
                  <p:nvPr/>
                </p:nvSpPr>
                <p:spPr bwMode="auto">
                  <a:xfrm>
                    <a:off x="5954680" y="2163584"/>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1" name="íšliḓê">
                    <a:extLst>
                      <a:ext uri="{FF2B5EF4-FFF2-40B4-BE49-F238E27FC236}">
                        <a16:creationId xmlns:a16="http://schemas.microsoft.com/office/drawing/2014/main" id="{C089814B-B390-93C8-C5A1-C3C130B4BC89}"/>
                      </a:ext>
                    </a:extLst>
                  </p:cNvPr>
                  <p:cNvSpPr/>
                  <p:nvPr/>
                </p:nvSpPr>
                <p:spPr bwMode="auto">
                  <a:xfrm>
                    <a:off x="5954680" y="2260523"/>
                    <a:ext cx="660950" cy="3525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2" name="ïṡľîḋe">
                    <a:extLst>
                      <a:ext uri="{FF2B5EF4-FFF2-40B4-BE49-F238E27FC236}">
                        <a16:creationId xmlns:a16="http://schemas.microsoft.com/office/drawing/2014/main" id="{46B94327-03FE-CE29-ADE9-135AA3AB2B1D}"/>
                      </a:ext>
                    </a:extLst>
                  </p:cNvPr>
                  <p:cNvSpPr/>
                  <p:nvPr/>
                </p:nvSpPr>
                <p:spPr bwMode="auto">
                  <a:xfrm>
                    <a:off x="5954680" y="2358442"/>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3" name="ï$1îďê">
                    <a:extLst>
                      <a:ext uri="{FF2B5EF4-FFF2-40B4-BE49-F238E27FC236}">
                        <a16:creationId xmlns:a16="http://schemas.microsoft.com/office/drawing/2014/main" id="{00F97239-2E47-A37B-F1FF-186D373DEF80}"/>
                      </a:ext>
                    </a:extLst>
                  </p:cNvPr>
                  <p:cNvSpPr/>
                  <p:nvPr/>
                </p:nvSpPr>
                <p:spPr bwMode="auto">
                  <a:xfrm>
                    <a:off x="5954680" y="2455381"/>
                    <a:ext cx="660950" cy="3525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4" name="íšḷidê">
                    <a:extLst>
                      <a:ext uri="{FF2B5EF4-FFF2-40B4-BE49-F238E27FC236}">
                        <a16:creationId xmlns:a16="http://schemas.microsoft.com/office/drawing/2014/main" id="{579620C8-6944-BF8F-84B2-11CE4E2AE94E}"/>
                      </a:ext>
                    </a:extLst>
                  </p:cNvPr>
                  <p:cNvSpPr/>
                  <p:nvPr/>
                </p:nvSpPr>
                <p:spPr bwMode="auto">
                  <a:xfrm>
                    <a:off x="5954680" y="2553300"/>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5" name="ïSľïḓe">
                    <a:extLst>
                      <a:ext uri="{FF2B5EF4-FFF2-40B4-BE49-F238E27FC236}">
                        <a16:creationId xmlns:a16="http://schemas.microsoft.com/office/drawing/2014/main" id="{98BF374A-482E-A876-E359-79A98EF5307F}"/>
                      </a:ext>
                    </a:extLst>
                  </p:cNvPr>
                  <p:cNvSpPr/>
                  <p:nvPr/>
                </p:nvSpPr>
                <p:spPr bwMode="auto">
                  <a:xfrm>
                    <a:off x="5954680" y="2650239"/>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6" name="ïs1ïḑe">
                    <a:extLst>
                      <a:ext uri="{FF2B5EF4-FFF2-40B4-BE49-F238E27FC236}">
                        <a16:creationId xmlns:a16="http://schemas.microsoft.com/office/drawing/2014/main" id="{880BB0CD-BF5C-0558-B58F-DCB8219504F4}"/>
                      </a:ext>
                    </a:extLst>
                  </p:cNvPr>
                  <p:cNvSpPr/>
                  <p:nvPr/>
                </p:nvSpPr>
                <p:spPr bwMode="auto">
                  <a:xfrm>
                    <a:off x="5954680" y="2747178"/>
                    <a:ext cx="660950" cy="3525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7" name="ïšḷidè">
                    <a:extLst>
                      <a:ext uri="{FF2B5EF4-FFF2-40B4-BE49-F238E27FC236}">
                        <a16:creationId xmlns:a16="http://schemas.microsoft.com/office/drawing/2014/main" id="{4C81576F-865A-41EB-34D9-84FE87EE75E7}"/>
                      </a:ext>
                    </a:extLst>
                  </p:cNvPr>
                  <p:cNvSpPr/>
                  <p:nvPr/>
                </p:nvSpPr>
                <p:spPr bwMode="auto">
                  <a:xfrm>
                    <a:off x="5954680" y="2845097"/>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8" name="ï$ḷiḋè">
                    <a:extLst>
                      <a:ext uri="{FF2B5EF4-FFF2-40B4-BE49-F238E27FC236}">
                        <a16:creationId xmlns:a16="http://schemas.microsoft.com/office/drawing/2014/main" id="{76167215-5AC7-889F-C7F5-291D7C67F8E1}"/>
                      </a:ext>
                    </a:extLst>
                  </p:cNvPr>
                  <p:cNvSpPr/>
                  <p:nvPr/>
                </p:nvSpPr>
                <p:spPr bwMode="auto">
                  <a:xfrm>
                    <a:off x="5954680" y="2942036"/>
                    <a:ext cx="660950" cy="3525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49" name="ïṥľïḓê">
                    <a:extLst>
                      <a:ext uri="{FF2B5EF4-FFF2-40B4-BE49-F238E27FC236}">
                        <a16:creationId xmlns:a16="http://schemas.microsoft.com/office/drawing/2014/main" id="{36FA7808-219A-1027-C2B2-A81502E1004E}"/>
                      </a:ext>
                    </a:extLst>
                  </p:cNvPr>
                  <p:cNvSpPr/>
                  <p:nvPr/>
                </p:nvSpPr>
                <p:spPr bwMode="auto">
                  <a:xfrm>
                    <a:off x="5954680" y="3039955"/>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50" name="ï$ḷíḋé">
                    <a:extLst>
                      <a:ext uri="{FF2B5EF4-FFF2-40B4-BE49-F238E27FC236}">
                        <a16:creationId xmlns:a16="http://schemas.microsoft.com/office/drawing/2014/main" id="{7450828E-936D-E29F-DABF-1A51E774E971}"/>
                      </a:ext>
                    </a:extLst>
                  </p:cNvPr>
                  <p:cNvSpPr/>
                  <p:nvPr/>
                </p:nvSpPr>
                <p:spPr bwMode="auto">
                  <a:xfrm>
                    <a:off x="5954680" y="3136894"/>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51" name="íSļíḑe">
                    <a:extLst>
                      <a:ext uri="{FF2B5EF4-FFF2-40B4-BE49-F238E27FC236}">
                        <a16:creationId xmlns:a16="http://schemas.microsoft.com/office/drawing/2014/main" id="{C5C32EB0-B978-45CC-C791-43F45CEEC79D}"/>
                      </a:ext>
                    </a:extLst>
                  </p:cNvPr>
                  <p:cNvSpPr/>
                  <p:nvPr/>
                </p:nvSpPr>
                <p:spPr bwMode="auto">
                  <a:xfrm>
                    <a:off x="5954680" y="3234813"/>
                    <a:ext cx="660950" cy="34271"/>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p>
                    <a:pPr algn="ctr"/>
                    <a:endParaRPr sz="700"/>
                  </a:p>
                </p:txBody>
              </p:sp>
              <p:sp>
                <p:nvSpPr>
                  <p:cNvPr id="52" name="işļiḓe">
                    <a:extLst>
                      <a:ext uri="{FF2B5EF4-FFF2-40B4-BE49-F238E27FC236}">
                        <a16:creationId xmlns:a16="http://schemas.microsoft.com/office/drawing/2014/main" id="{6B405C78-6228-9110-600D-1923116F0E55}"/>
                      </a:ext>
                    </a:extLst>
                  </p:cNvPr>
                  <p:cNvSpPr/>
                  <p:nvPr/>
                </p:nvSpPr>
                <p:spPr bwMode="auto">
                  <a:xfrm>
                    <a:off x="4783574" y="2418172"/>
                    <a:ext cx="118481" cy="897913"/>
                  </a:xfrm>
                  <a:prstGeom prst="rect">
                    <a:avLst/>
                  </a:prstGeom>
                  <a:solidFill>
                    <a:srgbClr val="FF816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sz="2400"/>
                  </a:p>
                </p:txBody>
              </p:sp>
              <p:sp>
                <p:nvSpPr>
                  <p:cNvPr id="53" name="iṡḷíḋê">
                    <a:extLst>
                      <a:ext uri="{FF2B5EF4-FFF2-40B4-BE49-F238E27FC236}">
                        <a16:creationId xmlns:a16="http://schemas.microsoft.com/office/drawing/2014/main" id="{3B48DE98-514B-87D2-BC63-0878E56DA293}"/>
                      </a:ext>
                    </a:extLst>
                  </p:cNvPr>
                  <p:cNvSpPr/>
                  <p:nvPr/>
                </p:nvSpPr>
                <p:spPr bwMode="auto">
                  <a:xfrm>
                    <a:off x="5065579" y="2700177"/>
                    <a:ext cx="119461" cy="615908"/>
                  </a:xfrm>
                  <a:prstGeom prst="rect">
                    <a:avLst/>
                  </a:prstGeom>
                  <a:solidFill>
                    <a:srgbClr val="FFE7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sz="2400"/>
                  </a:p>
                </p:txBody>
              </p:sp>
              <p:sp>
                <p:nvSpPr>
                  <p:cNvPr id="54" name="iṧḷiďè">
                    <a:extLst>
                      <a:ext uri="{FF2B5EF4-FFF2-40B4-BE49-F238E27FC236}">
                        <a16:creationId xmlns:a16="http://schemas.microsoft.com/office/drawing/2014/main" id="{85AB6B4D-D5EE-79F8-4365-7C34092780A4}"/>
                      </a:ext>
                    </a:extLst>
                  </p:cNvPr>
                  <p:cNvSpPr/>
                  <p:nvPr/>
                </p:nvSpPr>
                <p:spPr bwMode="auto">
                  <a:xfrm>
                    <a:off x="5352481" y="2568967"/>
                    <a:ext cx="118481" cy="747118"/>
                  </a:xfrm>
                  <a:prstGeom prst="rect">
                    <a:avLst/>
                  </a:prstGeom>
                  <a:solidFill>
                    <a:srgbClr val="8887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sz="2400"/>
                  </a:p>
                </p:txBody>
              </p:sp>
              <p:sp>
                <p:nvSpPr>
                  <p:cNvPr id="55" name="îSľidè">
                    <a:extLst>
                      <a:ext uri="{FF2B5EF4-FFF2-40B4-BE49-F238E27FC236}">
                        <a16:creationId xmlns:a16="http://schemas.microsoft.com/office/drawing/2014/main" id="{3953B8B3-01BC-20F0-2880-F61EB95E8149}"/>
                      </a:ext>
                    </a:extLst>
                  </p:cNvPr>
                  <p:cNvSpPr/>
                  <p:nvPr/>
                </p:nvSpPr>
                <p:spPr bwMode="auto">
                  <a:xfrm>
                    <a:off x="5650153" y="2233106"/>
                    <a:ext cx="119461" cy="1082979"/>
                  </a:xfrm>
                  <a:prstGeom prst="rect">
                    <a:avLst/>
                  </a:prstGeom>
                  <a:solidFill>
                    <a:srgbClr val="9C98C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endParaRPr sz="2400"/>
                  </a:p>
                </p:txBody>
              </p:sp>
              <p:sp>
                <p:nvSpPr>
                  <p:cNvPr id="56" name="íṣḷiḑe">
                    <a:extLst>
                      <a:ext uri="{FF2B5EF4-FFF2-40B4-BE49-F238E27FC236}">
                        <a16:creationId xmlns:a16="http://schemas.microsoft.com/office/drawing/2014/main" id="{2128369F-A982-9EE4-F662-3F6CC3BA0D52}"/>
                      </a:ext>
                    </a:extLst>
                  </p:cNvPr>
                  <p:cNvSpPr/>
                  <p:nvPr/>
                </p:nvSpPr>
                <p:spPr bwMode="auto">
                  <a:xfrm>
                    <a:off x="4775741" y="2051957"/>
                    <a:ext cx="937080" cy="450425"/>
                  </a:xfrm>
                  <a:custGeom>
                    <a:avLst/>
                    <a:gdLst>
                      <a:gd name="T0" fmla="*/ 353 w 957"/>
                      <a:gd name="T1" fmla="*/ 460 h 460"/>
                      <a:gd name="T2" fmla="*/ 143 w 957"/>
                      <a:gd name="T3" fmla="*/ 83 h 460"/>
                      <a:gd name="T4" fmla="*/ 16 w 957"/>
                      <a:gd name="T5" fmla="*/ 287 h 460"/>
                      <a:gd name="T6" fmla="*/ 0 w 957"/>
                      <a:gd name="T7" fmla="*/ 278 h 460"/>
                      <a:gd name="T8" fmla="*/ 143 w 957"/>
                      <a:gd name="T9" fmla="*/ 43 h 460"/>
                      <a:gd name="T10" fmla="*/ 358 w 957"/>
                      <a:gd name="T11" fmla="*/ 425 h 460"/>
                      <a:gd name="T12" fmla="*/ 644 w 957"/>
                      <a:gd name="T13" fmla="*/ 114 h 460"/>
                      <a:gd name="T14" fmla="*/ 949 w 957"/>
                      <a:gd name="T15" fmla="*/ 0 h 460"/>
                      <a:gd name="T16" fmla="*/ 957 w 957"/>
                      <a:gd name="T17" fmla="*/ 19 h 460"/>
                      <a:gd name="T18" fmla="*/ 655 w 957"/>
                      <a:gd name="T19" fmla="*/ 132 h 460"/>
                      <a:gd name="T20" fmla="*/ 353 w 957"/>
                      <a:gd name="T21" fmla="*/ 46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7" h="460">
                        <a:moveTo>
                          <a:pt x="353" y="460"/>
                        </a:moveTo>
                        <a:lnTo>
                          <a:pt x="143" y="83"/>
                        </a:lnTo>
                        <a:lnTo>
                          <a:pt x="16" y="287"/>
                        </a:lnTo>
                        <a:lnTo>
                          <a:pt x="0" y="278"/>
                        </a:lnTo>
                        <a:lnTo>
                          <a:pt x="143" y="43"/>
                        </a:lnTo>
                        <a:lnTo>
                          <a:pt x="358" y="425"/>
                        </a:lnTo>
                        <a:lnTo>
                          <a:pt x="644" y="114"/>
                        </a:lnTo>
                        <a:lnTo>
                          <a:pt x="949" y="0"/>
                        </a:lnTo>
                        <a:lnTo>
                          <a:pt x="957" y="19"/>
                        </a:lnTo>
                        <a:lnTo>
                          <a:pt x="655" y="132"/>
                        </a:lnTo>
                        <a:lnTo>
                          <a:pt x="353" y="460"/>
                        </a:lnTo>
                        <a:close/>
                      </a:path>
                    </a:pathLst>
                  </a:custGeom>
                  <a:solidFill>
                    <a:srgbClr val="99C9A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endParaRPr sz="2000"/>
                  </a:p>
                </p:txBody>
              </p:sp>
              <p:sp>
                <p:nvSpPr>
                  <p:cNvPr id="57" name="ïṣļîďè">
                    <a:extLst>
                      <a:ext uri="{FF2B5EF4-FFF2-40B4-BE49-F238E27FC236}">
                        <a16:creationId xmlns:a16="http://schemas.microsoft.com/office/drawing/2014/main" id="{60BD0DC9-277B-5A3D-D9EE-86B6CC43DCD7}"/>
                      </a:ext>
                    </a:extLst>
                  </p:cNvPr>
                  <p:cNvSpPr/>
                  <p:nvPr/>
                </p:nvSpPr>
                <p:spPr bwMode="auto">
                  <a:xfrm>
                    <a:off x="5678550" y="2025519"/>
                    <a:ext cx="103794" cy="89106"/>
                  </a:xfrm>
                  <a:custGeom>
                    <a:avLst/>
                    <a:gdLst>
                      <a:gd name="T0" fmla="*/ 106 w 106"/>
                      <a:gd name="T1" fmla="*/ 0 h 91"/>
                      <a:gd name="T2" fmla="*/ 78 w 106"/>
                      <a:gd name="T3" fmla="*/ 46 h 91"/>
                      <a:gd name="T4" fmla="*/ 53 w 106"/>
                      <a:gd name="T5" fmla="*/ 91 h 91"/>
                      <a:gd name="T6" fmla="*/ 27 w 106"/>
                      <a:gd name="T7" fmla="*/ 45 h 91"/>
                      <a:gd name="T8" fmla="*/ 0 w 106"/>
                      <a:gd name="T9" fmla="*/ 0 h 91"/>
                      <a:gd name="T10" fmla="*/ 53 w 106"/>
                      <a:gd name="T11" fmla="*/ 0 h 91"/>
                      <a:gd name="T12" fmla="*/ 106 w 106"/>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106" h="91">
                        <a:moveTo>
                          <a:pt x="106" y="0"/>
                        </a:moveTo>
                        <a:lnTo>
                          <a:pt x="78" y="46"/>
                        </a:lnTo>
                        <a:lnTo>
                          <a:pt x="53" y="91"/>
                        </a:lnTo>
                        <a:lnTo>
                          <a:pt x="27" y="45"/>
                        </a:lnTo>
                        <a:lnTo>
                          <a:pt x="0" y="0"/>
                        </a:lnTo>
                        <a:lnTo>
                          <a:pt x="53" y="0"/>
                        </a:lnTo>
                        <a:lnTo>
                          <a:pt x="106" y="0"/>
                        </a:lnTo>
                        <a:close/>
                      </a:path>
                    </a:pathLst>
                  </a:custGeom>
                  <a:solidFill>
                    <a:srgbClr val="99C9A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Autofit/>
                  </a:bodyPr>
                  <a:lstStyle/>
                  <a:p>
                    <a:pPr algn="ctr"/>
                    <a:endParaRPr sz="700"/>
                  </a:p>
                </p:txBody>
              </p:sp>
              <p:sp>
                <p:nvSpPr>
                  <p:cNvPr id="58" name="îšḷíďè">
                    <a:extLst>
                      <a:ext uri="{FF2B5EF4-FFF2-40B4-BE49-F238E27FC236}">
                        <a16:creationId xmlns:a16="http://schemas.microsoft.com/office/drawing/2014/main" id="{05A1E558-2812-6CD3-FEB3-858FB2DE4A27}"/>
                      </a:ext>
                    </a:extLst>
                  </p:cNvPr>
                  <p:cNvSpPr/>
                  <p:nvPr/>
                </p:nvSpPr>
                <p:spPr bwMode="auto">
                  <a:xfrm>
                    <a:off x="4885409" y="2069582"/>
                    <a:ext cx="63647" cy="62668"/>
                  </a:xfrm>
                  <a:prstGeom prst="ellipse">
                    <a:avLst/>
                  </a:prstGeom>
                  <a:solidFill>
                    <a:srgbClr val="99C9A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Autofit/>
                  </a:bodyPr>
                  <a:lstStyle/>
                  <a:p>
                    <a:pPr algn="ctr"/>
                    <a:endParaRPr sz="700"/>
                  </a:p>
                </p:txBody>
              </p:sp>
              <p:sp>
                <p:nvSpPr>
                  <p:cNvPr id="59" name="iṡḻïdè">
                    <a:extLst>
                      <a:ext uri="{FF2B5EF4-FFF2-40B4-BE49-F238E27FC236}">
                        <a16:creationId xmlns:a16="http://schemas.microsoft.com/office/drawing/2014/main" id="{D4DFE3A6-737A-E25A-7373-176D2630C1DE}"/>
                      </a:ext>
                    </a:extLst>
                  </p:cNvPr>
                  <p:cNvSpPr/>
                  <p:nvPr/>
                </p:nvSpPr>
                <p:spPr bwMode="auto">
                  <a:xfrm>
                    <a:off x="5092017" y="2454402"/>
                    <a:ext cx="62668" cy="62668"/>
                  </a:xfrm>
                  <a:prstGeom prst="ellipse">
                    <a:avLst/>
                  </a:prstGeom>
                  <a:solidFill>
                    <a:srgbClr val="99C9A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Autofit/>
                  </a:bodyPr>
                  <a:lstStyle/>
                  <a:p>
                    <a:pPr algn="ctr"/>
                    <a:endParaRPr sz="700"/>
                  </a:p>
                </p:txBody>
              </p:sp>
              <p:sp>
                <p:nvSpPr>
                  <p:cNvPr id="60" name="ïṡ1íḑè">
                    <a:extLst>
                      <a:ext uri="{FF2B5EF4-FFF2-40B4-BE49-F238E27FC236}">
                        <a16:creationId xmlns:a16="http://schemas.microsoft.com/office/drawing/2014/main" id="{71FAB539-E2B0-73D7-B2B2-07B7E6D21DEC}"/>
                      </a:ext>
                    </a:extLst>
                  </p:cNvPr>
                  <p:cNvSpPr/>
                  <p:nvPr/>
                </p:nvSpPr>
                <p:spPr bwMode="auto">
                  <a:xfrm>
                    <a:off x="5380877" y="2132250"/>
                    <a:ext cx="62668" cy="62668"/>
                  </a:xfrm>
                  <a:prstGeom prst="ellipse">
                    <a:avLst/>
                  </a:prstGeom>
                  <a:solidFill>
                    <a:srgbClr val="99C9A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Autofit/>
                  </a:bodyPr>
                  <a:lstStyle/>
                  <a:p>
                    <a:pPr algn="ctr"/>
                    <a:endParaRPr sz="700"/>
                  </a:p>
                </p:txBody>
              </p:sp>
            </p:grpSp>
          </p:grpSp>
          <p:cxnSp>
            <p:nvCxnSpPr>
              <p:cNvPr id="8" name="肘形连接符 22">
                <a:extLst>
                  <a:ext uri="{FF2B5EF4-FFF2-40B4-BE49-F238E27FC236}">
                    <a16:creationId xmlns:a16="http://schemas.microsoft.com/office/drawing/2014/main" id="{20C6B5B6-F1A5-BD90-DE37-12CC340C0E7B}"/>
                  </a:ext>
                </a:extLst>
              </p:cNvPr>
              <p:cNvCxnSpPr>
                <a:cxnSpLocks/>
                <a:stCxn id="6" idx="6"/>
                <a:endCxn id="16" idx="1"/>
              </p:cNvCxnSpPr>
              <p:nvPr/>
            </p:nvCxnSpPr>
            <p:spPr>
              <a:xfrm flipV="1">
                <a:off x="3798526" y="1896617"/>
                <a:ext cx="1932594" cy="1741928"/>
              </a:xfrm>
              <a:prstGeom prst="bentConnector3">
                <a:avLst>
                  <a:gd name="adj1" fmla="val 50000"/>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肘形连接符 23">
                <a:extLst>
                  <a:ext uri="{FF2B5EF4-FFF2-40B4-BE49-F238E27FC236}">
                    <a16:creationId xmlns:a16="http://schemas.microsoft.com/office/drawing/2014/main" id="{3FE4BDA5-B4B7-6B71-FBF7-6BD7DB365797}"/>
                  </a:ext>
                </a:extLst>
              </p:cNvPr>
              <p:cNvCxnSpPr>
                <a:cxnSpLocks/>
                <a:stCxn id="6" idx="6"/>
                <a:endCxn id="20" idx="1"/>
              </p:cNvCxnSpPr>
              <p:nvPr/>
            </p:nvCxnSpPr>
            <p:spPr>
              <a:xfrm>
                <a:off x="3798524" y="3638544"/>
                <a:ext cx="1932596" cy="1741926"/>
              </a:xfrm>
              <a:prstGeom prst="bentConnector3">
                <a:avLst>
                  <a:gd name="adj1" fmla="val 50000"/>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 name="肘形连接符 24">
                <a:extLst>
                  <a:ext uri="{FF2B5EF4-FFF2-40B4-BE49-F238E27FC236}">
                    <a16:creationId xmlns:a16="http://schemas.microsoft.com/office/drawing/2014/main" id="{1F6029DA-13FC-6D01-2526-AB272AF8008B}"/>
                  </a:ext>
                </a:extLst>
              </p:cNvPr>
              <p:cNvCxnSpPr>
                <a:cxnSpLocks/>
                <a:stCxn id="6" idx="6"/>
                <a:endCxn id="17" idx="1"/>
              </p:cNvCxnSpPr>
              <p:nvPr/>
            </p:nvCxnSpPr>
            <p:spPr>
              <a:xfrm flipV="1">
                <a:off x="3798524" y="2767579"/>
                <a:ext cx="1932596" cy="870965"/>
              </a:xfrm>
              <a:prstGeom prst="bentConnector3">
                <a:avLst>
                  <a:gd name="adj1" fmla="val 50000"/>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 name="肘形连接符 25">
                <a:extLst>
                  <a:ext uri="{FF2B5EF4-FFF2-40B4-BE49-F238E27FC236}">
                    <a16:creationId xmlns:a16="http://schemas.microsoft.com/office/drawing/2014/main" id="{6E522A46-E216-76D1-C5E7-C8C9CF3F6289}"/>
                  </a:ext>
                </a:extLst>
              </p:cNvPr>
              <p:cNvCxnSpPr>
                <a:cxnSpLocks/>
                <a:stCxn id="6" idx="6"/>
                <a:endCxn id="19" idx="1"/>
              </p:cNvCxnSpPr>
              <p:nvPr/>
            </p:nvCxnSpPr>
            <p:spPr>
              <a:xfrm>
                <a:off x="3798524" y="3638544"/>
                <a:ext cx="1932596" cy="870962"/>
              </a:xfrm>
              <a:prstGeom prst="bentConnector3">
                <a:avLst>
                  <a:gd name="adj1" fmla="val 50000"/>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F0D5602-D90A-7D4C-ADB1-F9EE6EA9F5CC}"/>
                  </a:ext>
                </a:extLst>
              </p:cNvPr>
              <p:cNvCxnSpPr>
                <a:stCxn id="6" idx="6"/>
                <a:endCxn id="29" idx="2"/>
              </p:cNvCxnSpPr>
              <p:nvPr/>
            </p:nvCxnSpPr>
            <p:spPr>
              <a:xfrm>
                <a:off x="3798525" y="3638544"/>
                <a:ext cx="96917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3" name="íSḻïḋê">
                <a:extLst>
                  <a:ext uri="{FF2B5EF4-FFF2-40B4-BE49-F238E27FC236}">
                    <a16:creationId xmlns:a16="http://schemas.microsoft.com/office/drawing/2014/main" id="{37364081-C103-01F7-18DF-769B9BF18CD0}"/>
                  </a:ext>
                </a:extLst>
              </p:cNvPr>
              <p:cNvGrpSpPr/>
              <p:nvPr/>
            </p:nvGrpSpPr>
            <p:grpSpPr>
              <a:xfrm>
                <a:off x="4767702" y="1570892"/>
                <a:ext cx="7268400" cy="4135303"/>
                <a:chOff x="4767701" y="1570895"/>
                <a:chExt cx="7268397" cy="4135310"/>
              </a:xfrm>
            </p:grpSpPr>
            <p:sp>
              <p:nvSpPr>
                <p:cNvPr id="15" name="îşḻiḑe">
                  <a:extLst>
                    <a:ext uri="{FF2B5EF4-FFF2-40B4-BE49-F238E27FC236}">
                      <a16:creationId xmlns:a16="http://schemas.microsoft.com/office/drawing/2014/main" id="{F5A82153-D81A-1D32-8668-104555E4024B}"/>
                    </a:ext>
                  </a:extLst>
                </p:cNvPr>
                <p:cNvSpPr txBox="1"/>
                <p:nvPr/>
              </p:nvSpPr>
              <p:spPr>
                <a:xfrm>
                  <a:off x="7684158" y="1705659"/>
                  <a:ext cx="4351940" cy="381919"/>
                </a:xfrm>
                <a:prstGeom prst="rect">
                  <a:avLst/>
                </a:prstGeom>
                <a:noFill/>
              </p:spPr>
              <p:txBody>
                <a:bodyPr wrap="square" lIns="91440" tIns="45720" rIns="91440" bIns="45720" anchor="ctr">
                  <a:noAutofit/>
                </a:bodyPr>
                <a:lstStyle/>
                <a:p>
                  <a:r>
                    <a:rPr lang="en-US" altLang="zh-CN" sz="1600" b="1" dirty="0">
                      <a:latin typeface="微软雅黑" panose="020B0503020204020204" pitchFamily="34" charset="-122"/>
                      <a:ea typeface="微软雅黑" panose="020B0503020204020204" pitchFamily="34" charset="-122"/>
                    </a:rPr>
                    <a:t>ERP</a:t>
                  </a:r>
                  <a:r>
                    <a:rPr lang="zh-CN" altLang="en-US" sz="1600" b="1" dirty="0">
                      <a:latin typeface="微软雅黑" panose="020B0503020204020204" pitchFamily="34" charset="-122"/>
                      <a:ea typeface="微软雅黑" panose="020B0503020204020204" pitchFamily="34" charset="-122"/>
                    </a:rPr>
                    <a:t>系统整体概念培训</a:t>
                  </a:r>
                  <a:endParaRPr lang="en-US" altLang="zh-CN" sz="1600" b="1" dirty="0">
                    <a:latin typeface="微软雅黑" panose="020B0503020204020204" pitchFamily="34" charset="-122"/>
                    <a:ea typeface="微软雅黑" panose="020B0503020204020204" pitchFamily="34" charset="-122"/>
                  </a:endParaRPr>
                </a:p>
              </p:txBody>
            </p:sp>
            <p:sp>
              <p:nvSpPr>
                <p:cNvPr id="16" name="íşḷîḑé">
                  <a:extLst>
                    <a:ext uri="{FF2B5EF4-FFF2-40B4-BE49-F238E27FC236}">
                      <a16:creationId xmlns:a16="http://schemas.microsoft.com/office/drawing/2014/main" id="{E298F1E3-CCFC-70FC-CF20-2331D00AD85A}"/>
                    </a:ext>
                  </a:extLst>
                </p:cNvPr>
                <p:cNvSpPr/>
                <p:nvPr/>
              </p:nvSpPr>
              <p:spPr>
                <a:xfrm>
                  <a:off x="5731116" y="1687069"/>
                  <a:ext cx="1641077" cy="41910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en-US" altLang="zh-CN" sz="1600" b="1" dirty="0">
                      <a:solidFill>
                        <a:schemeClr val="tx1"/>
                      </a:solidFill>
                      <a:latin typeface="微软雅黑" panose="020B0503020204020204" pitchFamily="34" charset="-122"/>
                      <a:ea typeface="微软雅黑" panose="020B0503020204020204" pitchFamily="34" charset="-122"/>
                    </a:rPr>
                    <a:t>ERP</a:t>
                  </a:r>
                  <a:r>
                    <a:rPr lang="zh-CN" altLang="en-US" sz="1600" b="1" dirty="0">
                      <a:solidFill>
                        <a:schemeClr val="tx1"/>
                      </a:solidFill>
                      <a:latin typeface="微软雅黑" panose="020B0503020204020204" pitchFamily="34" charset="-122"/>
                      <a:ea typeface="微软雅黑" panose="020B0503020204020204" pitchFamily="34" charset="-122"/>
                    </a:rPr>
                    <a:t>系统</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zh-CN" altLang="en-US" sz="1600" b="1" dirty="0">
                      <a:solidFill>
                        <a:schemeClr val="tx1"/>
                      </a:solidFill>
                      <a:latin typeface="微软雅黑" panose="020B0503020204020204" pitchFamily="34" charset="-122"/>
                      <a:ea typeface="微软雅黑" panose="020B0503020204020204" pitchFamily="34" charset="-122"/>
                    </a:rPr>
                    <a:t>概念培训</a:t>
                  </a:r>
                </a:p>
              </p:txBody>
            </p:sp>
            <p:sp>
              <p:nvSpPr>
                <p:cNvPr id="17" name="iṥḻîḍe">
                  <a:extLst>
                    <a:ext uri="{FF2B5EF4-FFF2-40B4-BE49-F238E27FC236}">
                      <a16:creationId xmlns:a16="http://schemas.microsoft.com/office/drawing/2014/main" id="{062D0266-5AF2-BEE7-1E0B-CBFD8E093E1F}"/>
                    </a:ext>
                  </a:extLst>
                </p:cNvPr>
                <p:cNvSpPr/>
                <p:nvPr/>
              </p:nvSpPr>
              <p:spPr>
                <a:xfrm>
                  <a:off x="5731116" y="2558033"/>
                  <a:ext cx="1641076" cy="41910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系统标准</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zh-CN" altLang="en-US" sz="1600" b="1" dirty="0">
                      <a:solidFill>
                        <a:schemeClr val="tx1"/>
                      </a:solidFill>
                      <a:latin typeface="微软雅黑" panose="020B0503020204020204" pitchFamily="34" charset="-122"/>
                      <a:ea typeface="微软雅黑" panose="020B0503020204020204" pitchFamily="34" charset="-122"/>
                    </a:rPr>
                    <a:t>功能培训</a:t>
                  </a:r>
                </a:p>
              </p:txBody>
            </p:sp>
            <p:sp>
              <p:nvSpPr>
                <p:cNvPr id="18" name="îṩlidé">
                  <a:extLst>
                    <a:ext uri="{FF2B5EF4-FFF2-40B4-BE49-F238E27FC236}">
                      <a16:creationId xmlns:a16="http://schemas.microsoft.com/office/drawing/2014/main" id="{1B11342A-06E6-3308-6E15-40ACD94103F2}"/>
                    </a:ext>
                  </a:extLst>
                </p:cNvPr>
                <p:cNvSpPr/>
                <p:nvPr/>
              </p:nvSpPr>
              <p:spPr>
                <a:xfrm>
                  <a:off x="5731116" y="3428999"/>
                  <a:ext cx="1641075" cy="41910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en-US" altLang="zh-CN" sz="1600" b="1" dirty="0">
                      <a:solidFill>
                        <a:schemeClr val="tx1"/>
                      </a:solidFill>
                      <a:latin typeface="微软雅黑" panose="020B0503020204020204" pitchFamily="34" charset="-122"/>
                      <a:ea typeface="微软雅黑" panose="020B0503020204020204" pitchFamily="34" charset="-122"/>
                    </a:rPr>
                    <a:t>OFFICE</a:t>
                  </a:r>
                </a:p>
                <a:p>
                  <a:pPr algn="ctr"/>
                  <a:r>
                    <a:rPr lang="zh-CN" altLang="en-US" sz="1600" b="1" dirty="0">
                      <a:solidFill>
                        <a:schemeClr val="tx1"/>
                      </a:solidFill>
                      <a:latin typeface="微软雅黑" panose="020B0503020204020204" pitchFamily="34" charset="-122"/>
                      <a:ea typeface="微软雅黑" panose="020B0503020204020204" pitchFamily="34" charset="-122"/>
                    </a:rPr>
                    <a:t>技能培训</a:t>
                  </a:r>
                </a:p>
              </p:txBody>
            </p:sp>
            <p:sp>
              <p:nvSpPr>
                <p:cNvPr id="19" name="îṩľíde">
                  <a:extLst>
                    <a:ext uri="{FF2B5EF4-FFF2-40B4-BE49-F238E27FC236}">
                      <a16:creationId xmlns:a16="http://schemas.microsoft.com/office/drawing/2014/main" id="{368932C5-8E60-4821-87EE-A438AB42AF82}"/>
                    </a:ext>
                  </a:extLst>
                </p:cNvPr>
                <p:cNvSpPr/>
                <p:nvPr/>
              </p:nvSpPr>
              <p:spPr>
                <a:xfrm>
                  <a:off x="5731116" y="4299963"/>
                  <a:ext cx="1641073" cy="41910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业务标准</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r>
                    <a:rPr lang="zh-CN" altLang="en-US" sz="1600" b="1" dirty="0">
                      <a:solidFill>
                        <a:schemeClr val="tx1"/>
                      </a:solidFill>
                      <a:latin typeface="微软雅黑" panose="020B0503020204020204" pitchFamily="34" charset="-122"/>
                      <a:ea typeface="微软雅黑" panose="020B0503020204020204" pitchFamily="34" charset="-122"/>
                    </a:rPr>
                    <a:t>培训</a:t>
                  </a:r>
                </a:p>
              </p:txBody>
            </p:sp>
            <p:sp>
              <p:nvSpPr>
                <p:cNvPr id="20" name="ïṥ1ide">
                  <a:extLst>
                    <a:ext uri="{FF2B5EF4-FFF2-40B4-BE49-F238E27FC236}">
                      <a16:creationId xmlns:a16="http://schemas.microsoft.com/office/drawing/2014/main" id="{05F9B5E2-A4C8-B222-3EDB-9C17893A2E49}"/>
                    </a:ext>
                  </a:extLst>
                </p:cNvPr>
                <p:cNvSpPr/>
                <p:nvPr/>
              </p:nvSpPr>
              <p:spPr>
                <a:xfrm>
                  <a:off x="5731116" y="5170928"/>
                  <a:ext cx="1641073" cy="41910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业务分享</a:t>
                  </a:r>
                </a:p>
              </p:txBody>
            </p:sp>
            <p:sp>
              <p:nvSpPr>
                <p:cNvPr id="21" name="íṣlîďê">
                  <a:extLst>
                    <a:ext uri="{FF2B5EF4-FFF2-40B4-BE49-F238E27FC236}">
                      <a16:creationId xmlns:a16="http://schemas.microsoft.com/office/drawing/2014/main" id="{1E01EDB1-CA26-E365-6420-B099FA398E76}"/>
                    </a:ext>
                  </a:extLst>
                </p:cNvPr>
                <p:cNvSpPr txBox="1"/>
                <p:nvPr/>
              </p:nvSpPr>
              <p:spPr>
                <a:xfrm>
                  <a:off x="7684157" y="2576623"/>
                  <a:ext cx="4351940" cy="381919"/>
                </a:xfrm>
                <a:prstGeom prst="rect">
                  <a:avLst/>
                </a:prstGeom>
                <a:noFill/>
              </p:spPr>
              <p:txBody>
                <a:bodyPr wrap="square" lIns="91440" tIns="45720" rIns="91440" bIns="45720" anchor="ctr">
                  <a:noAutofit/>
                </a:bodyPr>
                <a:lstStyle/>
                <a:p>
                  <a:r>
                    <a:rPr lang="zh-CN" altLang="en-US" sz="1600" b="1" dirty="0">
                      <a:latin typeface="微软雅黑" panose="020B0503020204020204" pitchFamily="34" charset="-122"/>
                      <a:ea typeface="微软雅黑" panose="020B0503020204020204" pitchFamily="34" charset="-122"/>
                    </a:rPr>
                    <a:t>针对项目、增值、物资、设备各模块系统标准功能进行培训</a:t>
                  </a:r>
                  <a:endParaRPr lang="en-US" altLang="zh-CN" sz="1600" b="1" dirty="0">
                    <a:latin typeface="微软雅黑" panose="020B0503020204020204" pitchFamily="34" charset="-122"/>
                    <a:ea typeface="微软雅黑" panose="020B0503020204020204" pitchFamily="34" charset="-122"/>
                  </a:endParaRPr>
                </a:p>
              </p:txBody>
            </p:sp>
            <p:sp>
              <p:nvSpPr>
                <p:cNvPr id="22" name="îśḷíḑé">
                  <a:extLst>
                    <a:ext uri="{FF2B5EF4-FFF2-40B4-BE49-F238E27FC236}">
                      <a16:creationId xmlns:a16="http://schemas.microsoft.com/office/drawing/2014/main" id="{838633AB-EBD2-F780-B08B-ADE6EDABE193}"/>
                    </a:ext>
                  </a:extLst>
                </p:cNvPr>
                <p:cNvSpPr txBox="1"/>
                <p:nvPr/>
              </p:nvSpPr>
              <p:spPr>
                <a:xfrm>
                  <a:off x="7684155" y="3447588"/>
                  <a:ext cx="4351940" cy="381919"/>
                </a:xfrm>
                <a:prstGeom prst="rect">
                  <a:avLst/>
                </a:prstGeom>
                <a:noFill/>
              </p:spPr>
              <p:txBody>
                <a:bodyPr wrap="square" lIns="91440" tIns="45720" rIns="91440" bIns="45720" anchor="ctr">
                  <a:noAutofit/>
                </a:bodyPr>
                <a:lstStyle>
                  <a:defPPr>
                    <a:defRPr lang="en-US"/>
                  </a:defPPr>
                  <a:lvl1pPr>
                    <a:defRPr sz="1400" b="1">
                      <a:latin typeface="微软雅黑" panose="020B0503020204020204" pitchFamily="34" charset="-122"/>
                      <a:ea typeface="微软雅黑" panose="020B0503020204020204" pitchFamily="34" charset="-122"/>
                    </a:defRPr>
                  </a:lvl1pPr>
                </a:lstStyle>
                <a:p>
                  <a:r>
                    <a:rPr lang="en-US" altLang="zh-CN" sz="1600" dirty="0"/>
                    <a:t>WORD</a:t>
                  </a:r>
                  <a:r>
                    <a:rPr lang="zh-CN" altLang="en-US" sz="1600" dirty="0"/>
                    <a:t>、</a:t>
                  </a:r>
                  <a:r>
                    <a:rPr lang="en-US" altLang="zh-CN" sz="1600" dirty="0"/>
                    <a:t>PPT</a:t>
                  </a:r>
                  <a:r>
                    <a:rPr lang="zh-CN" altLang="en-US" sz="1600" dirty="0"/>
                    <a:t>、</a:t>
                  </a:r>
                  <a:r>
                    <a:rPr lang="en-US" altLang="zh-CN" sz="1600" dirty="0"/>
                    <a:t>VISIO</a:t>
                  </a:r>
                  <a:r>
                    <a:rPr lang="zh-CN" altLang="en-US" sz="1600" dirty="0"/>
                    <a:t>、</a:t>
                  </a:r>
                  <a:r>
                    <a:rPr lang="en-US" altLang="zh-CN" sz="1600" dirty="0"/>
                    <a:t>EXCEL</a:t>
                  </a:r>
                  <a:r>
                    <a:rPr lang="zh-CN" altLang="en-US" sz="1600" dirty="0"/>
                    <a:t>等基础办公软件的培训</a:t>
                  </a:r>
                  <a:endParaRPr lang="en-US" altLang="zh-CN" sz="1600" dirty="0"/>
                </a:p>
              </p:txBody>
            </p:sp>
            <p:sp>
              <p:nvSpPr>
                <p:cNvPr id="23" name="îṡḻïḓe">
                  <a:extLst>
                    <a:ext uri="{FF2B5EF4-FFF2-40B4-BE49-F238E27FC236}">
                      <a16:creationId xmlns:a16="http://schemas.microsoft.com/office/drawing/2014/main" id="{DF104C1D-D13B-7691-C7EA-7E0831C95A9F}"/>
                    </a:ext>
                  </a:extLst>
                </p:cNvPr>
                <p:cNvSpPr txBox="1"/>
                <p:nvPr/>
              </p:nvSpPr>
              <p:spPr>
                <a:xfrm>
                  <a:off x="7684154" y="4318551"/>
                  <a:ext cx="4351940" cy="381919"/>
                </a:xfrm>
                <a:prstGeom prst="rect">
                  <a:avLst/>
                </a:prstGeom>
                <a:noFill/>
              </p:spPr>
              <p:txBody>
                <a:bodyPr wrap="square" lIns="91440" tIns="45720" rIns="91440" bIns="45720" anchor="ctr">
                  <a:noAutofit/>
                </a:bodyPr>
                <a:lstStyle/>
                <a:p>
                  <a:r>
                    <a:rPr lang="zh-CN" altLang="en-US" sz="1600" b="1" dirty="0">
                      <a:latin typeface="微软雅黑" panose="020B0503020204020204" pitchFamily="34" charset="-122"/>
                      <a:ea typeface="微软雅黑" panose="020B0503020204020204" pitchFamily="34" charset="-122"/>
                    </a:rPr>
                    <a:t>对于</a:t>
                  </a:r>
                  <a:r>
                    <a:rPr lang="en-US" altLang="zh-CN" sz="1600" b="1" dirty="0">
                      <a:latin typeface="微软雅黑" panose="020B0503020204020204" pitchFamily="34" charset="-122"/>
                      <a:ea typeface="微软雅黑" panose="020B0503020204020204" pitchFamily="34" charset="-122"/>
                    </a:rPr>
                    <a:t>ERP</a:t>
                  </a:r>
                  <a:r>
                    <a:rPr lang="zh-CN" altLang="en-US" sz="1600" b="1" dirty="0">
                      <a:latin typeface="微软雅黑" panose="020B0503020204020204" pitchFamily="34" charset="-122"/>
                      <a:ea typeface="微软雅黑" panose="020B0503020204020204" pitchFamily="34" charset="-122"/>
                    </a:rPr>
                    <a:t>一期业务标准梳理成果进行培训</a:t>
                  </a:r>
                  <a:endParaRPr lang="en-US" altLang="zh-CN" sz="1600" b="1" dirty="0">
                    <a:latin typeface="微软雅黑" panose="020B0503020204020204" pitchFamily="34" charset="-122"/>
                    <a:ea typeface="微软雅黑" panose="020B0503020204020204" pitchFamily="34" charset="-122"/>
                  </a:endParaRPr>
                </a:p>
              </p:txBody>
            </p:sp>
            <p:sp>
              <p:nvSpPr>
                <p:cNvPr id="24" name="íṩḷiḑe">
                  <a:extLst>
                    <a:ext uri="{FF2B5EF4-FFF2-40B4-BE49-F238E27FC236}">
                      <a16:creationId xmlns:a16="http://schemas.microsoft.com/office/drawing/2014/main" id="{18D2C730-05EF-49D2-1708-F2F9EDD19D5C}"/>
                    </a:ext>
                  </a:extLst>
                </p:cNvPr>
                <p:cNvSpPr txBox="1"/>
                <p:nvPr/>
              </p:nvSpPr>
              <p:spPr>
                <a:xfrm>
                  <a:off x="7684153" y="5189515"/>
                  <a:ext cx="4351940" cy="381919"/>
                </a:xfrm>
                <a:prstGeom prst="rect">
                  <a:avLst/>
                </a:prstGeom>
                <a:noFill/>
              </p:spPr>
              <p:txBody>
                <a:bodyPr wrap="square" lIns="91440" tIns="45720" rIns="91440" bIns="45720" anchor="ctr">
                  <a:noAutofit/>
                </a:bodyPr>
                <a:lstStyle/>
                <a:p>
                  <a:r>
                    <a:rPr lang="zh-CN" altLang="en-US" sz="1600" b="1" dirty="0">
                      <a:latin typeface="微软雅黑" panose="020B0503020204020204" pitchFamily="34" charset="-122"/>
                      <a:ea typeface="微软雅黑" panose="020B0503020204020204" pitchFamily="34" charset="-122"/>
                    </a:rPr>
                    <a:t>对于行业内的领先实践进行不定期分享</a:t>
                  </a:r>
                  <a:endParaRPr lang="en-US" altLang="zh-CN" sz="1600" b="1" dirty="0">
                    <a:latin typeface="微软雅黑" panose="020B0503020204020204" pitchFamily="34" charset="-122"/>
                    <a:ea typeface="微软雅黑" panose="020B0503020204020204" pitchFamily="34" charset="-122"/>
                  </a:endParaRPr>
                </a:p>
              </p:txBody>
            </p:sp>
            <p:grpSp>
              <p:nvGrpSpPr>
                <p:cNvPr id="25" name="ï$1ïḓè">
                  <a:extLst>
                    <a:ext uri="{FF2B5EF4-FFF2-40B4-BE49-F238E27FC236}">
                      <a16:creationId xmlns:a16="http://schemas.microsoft.com/office/drawing/2014/main" id="{B999F3C0-C241-84B1-E661-82BEE5CFFD3D}"/>
                    </a:ext>
                  </a:extLst>
                </p:cNvPr>
                <p:cNvGrpSpPr/>
                <p:nvPr/>
              </p:nvGrpSpPr>
              <p:grpSpPr>
                <a:xfrm>
                  <a:off x="4767701" y="1570895"/>
                  <a:ext cx="651451" cy="4135310"/>
                  <a:chOff x="6382260" y="1570895"/>
                  <a:chExt cx="651451" cy="4135310"/>
                </a:xfrm>
              </p:grpSpPr>
              <p:sp>
                <p:nvSpPr>
                  <p:cNvPr id="26" name="îSḻîḓe">
                    <a:extLst>
                      <a:ext uri="{FF2B5EF4-FFF2-40B4-BE49-F238E27FC236}">
                        <a16:creationId xmlns:a16="http://schemas.microsoft.com/office/drawing/2014/main" id="{EEEFB5F7-A401-8D4A-D778-0ADB3A1D17CD}"/>
                      </a:ext>
                    </a:extLst>
                  </p:cNvPr>
                  <p:cNvSpPr/>
                  <p:nvPr/>
                </p:nvSpPr>
                <p:spPr>
                  <a:xfrm>
                    <a:off x="6382260" y="1570895"/>
                    <a:ext cx="651451" cy="651451"/>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a:p>
                </p:txBody>
              </p:sp>
              <p:sp>
                <p:nvSpPr>
                  <p:cNvPr id="27" name="îSļïdé">
                    <a:extLst>
                      <a:ext uri="{FF2B5EF4-FFF2-40B4-BE49-F238E27FC236}">
                        <a16:creationId xmlns:a16="http://schemas.microsoft.com/office/drawing/2014/main" id="{62CA649C-872C-5D45-E314-01545A60C182}"/>
                      </a:ext>
                    </a:extLst>
                  </p:cNvPr>
                  <p:cNvSpPr/>
                  <p:nvPr/>
                </p:nvSpPr>
                <p:spPr bwMode="auto">
                  <a:xfrm rot="10800000" flipH="1" flipV="1">
                    <a:off x="6551941" y="1765459"/>
                    <a:ext cx="312088" cy="262322"/>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sz="700"/>
                  </a:p>
                </p:txBody>
              </p:sp>
              <p:sp>
                <p:nvSpPr>
                  <p:cNvPr id="28" name="ïṧļíḑê">
                    <a:extLst>
                      <a:ext uri="{FF2B5EF4-FFF2-40B4-BE49-F238E27FC236}">
                        <a16:creationId xmlns:a16="http://schemas.microsoft.com/office/drawing/2014/main" id="{03CB990F-53C6-FB9F-55C6-B0FB042C7D46}"/>
                      </a:ext>
                    </a:extLst>
                  </p:cNvPr>
                  <p:cNvSpPr/>
                  <p:nvPr/>
                </p:nvSpPr>
                <p:spPr>
                  <a:xfrm>
                    <a:off x="6382260" y="2441860"/>
                    <a:ext cx="651451" cy="651451"/>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a:p>
                </p:txBody>
              </p:sp>
              <p:sp>
                <p:nvSpPr>
                  <p:cNvPr id="29" name="ïśḷïḓé">
                    <a:extLst>
                      <a:ext uri="{FF2B5EF4-FFF2-40B4-BE49-F238E27FC236}">
                        <a16:creationId xmlns:a16="http://schemas.microsoft.com/office/drawing/2014/main" id="{7F489921-70D4-72FA-A618-862C6D8247A0}"/>
                      </a:ext>
                    </a:extLst>
                  </p:cNvPr>
                  <p:cNvSpPr/>
                  <p:nvPr/>
                </p:nvSpPr>
                <p:spPr>
                  <a:xfrm>
                    <a:off x="6382260" y="3312824"/>
                    <a:ext cx="651451" cy="651451"/>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a:p>
                </p:txBody>
              </p:sp>
              <p:sp>
                <p:nvSpPr>
                  <p:cNvPr id="30" name="íSḷïďé">
                    <a:extLst>
                      <a:ext uri="{FF2B5EF4-FFF2-40B4-BE49-F238E27FC236}">
                        <a16:creationId xmlns:a16="http://schemas.microsoft.com/office/drawing/2014/main" id="{3C608786-E22C-9658-0D2B-D1CFBFEFA069}"/>
                      </a:ext>
                    </a:extLst>
                  </p:cNvPr>
                  <p:cNvSpPr/>
                  <p:nvPr/>
                </p:nvSpPr>
                <p:spPr>
                  <a:xfrm>
                    <a:off x="6382260" y="4183789"/>
                    <a:ext cx="651451" cy="651451"/>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a:p>
                </p:txBody>
              </p:sp>
              <p:sp>
                <p:nvSpPr>
                  <p:cNvPr id="31" name="iś1idê">
                    <a:extLst>
                      <a:ext uri="{FF2B5EF4-FFF2-40B4-BE49-F238E27FC236}">
                        <a16:creationId xmlns:a16="http://schemas.microsoft.com/office/drawing/2014/main" id="{C2125282-9077-CFAB-AFCE-730F9D973DDD}"/>
                      </a:ext>
                    </a:extLst>
                  </p:cNvPr>
                  <p:cNvSpPr/>
                  <p:nvPr/>
                </p:nvSpPr>
                <p:spPr>
                  <a:xfrm>
                    <a:off x="6382260" y="5054754"/>
                    <a:ext cx="651451" cy="651451"/>
                  </a:xfrm>
                  <a:prstGeom prst="ellipse">
                    <a:avLst/>
                  </a:prstGeom>
                  <a:solidFill>
                    <a:schemeClr val="bg1"/>
                  </a:solid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a:p>
                </p:txBody>
              </p:sp>
              <p:sp>
                <p:nvSpPr>
                  <p:cNvPr id="32" name="iSļïḑé">
                    <a:extLst>
                      <a:ext uri="{FF2B5EF4-FFF2-40B4-BE49-F238E27FC236}">
                        <a16:creationId xmlns:a16="http://schemas.microsoft.com/office/drawing/2014/main" id="{A2E0EFD3-039F-52E5-FB9E-BE0704271967}"/>
                      </a:ext>
                    </a:extLst>
                  </p:cNvPr>
                  <p:cNvSpPr/>
                  <p:nvPr/>
                </p:nvSpPr>
                <p:spPr bwMode="auto">
                  <a:xfrm>
                    <a:off x="6561915" y="2638749"/>
                    <a:ext cx="292140" cy="257670"/>
                  </a:xfrm>
                  <a:custGeom>
                    <a:avLst/>
                    <a:gdLst>
                      <a:gd name="connsiteX0" fmla="*/ 202564 w 607639"/>
                      <a:gd name="connsiteY0" fmla="*/ 444915 h 535944"/>
                      <a:gd name="connsiteX1" fmla="*/ 405075 w 607639"/>
                      <a:gd name="connsiteY1" fmla="*/ 444915 h 535944"/>
                      <a:gd name="connsiteX2" fmla="*/ 415223 w 607639"/>
                      <a:gd name="connsiteY2" fmla="*/ 455049 h 535944"/>
                      <a:gd name="connsiteX3" fmla="*/ 455725 w 607639"/>
                      <a:gd name="connsiteY3" fmla="*/ 515765 h 535944"/>
                      <a:gd name="connsiteX4" fmla="*/ 465873 w 607639"/>
                      <a:gd name="connsiteY4" fmla="*/ 525899 h 535944"/>
                      <a:gd name="connsiteX5" fmla="*/ 455725 w 607639"/>
                      <a:gd name="connsiteY5" fmla="*/ 535944 h 535944"/>
                      <a:gd name="connsiteX6" fmla="*/ 151914 w 607639"/>
                      <a:gd name="connsiteY6" fmla="*/ 535944 h 535944"/>
                      <a:gd name="connsiteX7" fmla="*/ 141766 w 607639"/>
                      <a:gd name="connsiteY7" fmla="*/ 525899 h 535944"/>
                      <a:gd name="connsiteX8" fmla="*/ 151914 w 607639"/>
                      <a:gd name="connsiteY8" fmla="*/ 515765 h 535944"/>
                      <a:gd name="connsiteX9" fmla="*/ 192416 w 607639"/>
                      <a:gd name="connsiteY9" fmla="*/ 455049 h 535944"/>
                      <a:gd name="connsiteX10" fmla="*/ 202564 w 607639"/>
                      <a:gd name="connsiteY10" fmla="*/ 444915 h 535944"/>
                      <a:gd name="connsiteX11" fmla="*/ 70815 w 607639"/>
                      <a:gd name="connsiteY11" fmla="*/ 60686 h 535944"/>
                      <a:gd name="connsiteX12" fmla="*/ 536665 w 607639"/>
                      <a:gd name="connsiteY12" fmla="*/ 60686 h 535944"/>
                      <a:gd name="connsiteX13" fmla="*/ 546812 w 607639"/>
                      <a:gd name="connsiteY13" fmla="*/ 70819 h 535944"/>
                      <a:gd name="connsiteX14" fmla="*/ 546812 w 607639"/>
                      <a:gd name="connsiteY14" fmla="*/ 353914 h 535944"/>
                      <a:gd name="connsiteX15" fmla="*/ 536665 w 607639"/>
                      <a:gd name="connsiteY15" fmla="*/ 364047 h 535944"/>
                      <a:gd name="connsiteX16" fmla="*/ 70815 w 607639"/>
                      <a:gd name="connsiteY16" fmla="*/ 364047 h 535944"/>
                      <a:gd name="connsiteX17" fmla="*/ 60757 w 607639"/>
                      <a:gd name="connsiteY17" fmla="*/ 353914 h 535944"/>
                      <a:gd name="connsiteX18" fmla="*/ 60757 w 607639"/>
                      <a:gd name="connsiteY18" fmla="*/ 70819 h 535944"/>
                      <a:gd name="connsiteX19" fmla="*/ 70815 w 607639"/>
                      <a:gd name="connsiteY19" fmla="*/ 60686 h 535944"/>
                      <a:gd name="connsiteX20" fmla="*/ 50644 w 607639"/>
                      <a:gd name="connsiteY20" fmla="*/ 40438 h 535944"/>
                      <a:gd name="connsiteX21" fmla="*/ 40497 w 607639"/>
                      <a:gd name="connsiteY21" fmla="*/ 50570 h 535944"/>
                      <a:gd name="connsiteX22" fmla="*/ 40497 w 607639"/>
                      <a:gd name="connsiteY22" fmla="*/ 374163 h 535944"/>
                      <a:gd name="connsiteX23" fmla="*/ 50644 w 607639"/>
                      <a:gd name="connsiteY23" fmla="*/ 384295 h 535944"/>
                      <a:gd name="connsiteX24" fmla="*/ 556995 w 607639"/>
                      <a:gd name="connsiteY24" fmla="*/ 384295 h 535944"/>
                      <a:gd name="connsiteX25" fmla="*/ 567142 w 607639"/>
                      <a:gd name="connsiteY25" fmla="*/ 374163 h 535944"/>
                      <a:gd name="connsiteX26" fmla="*/ 567142 w 607639"/>
                      <a:gd name="connsiteY26" fmla="*/ 50570 h 535944"/>
                      <a:gd name="connsiteX27" fmla="*/ 556995 w 607639"/>
                      <a:gd name="connsiteY27" fmla="*/ 40438 h 535944"/>
                      <a:gd name="connsiteX28" fmla="*/ 10147 w 607639"/>
                      <a:gd name="connsiteY28" fmla="*/ 0 h 535944"/>
                      <a:gd name="connsiteX29" fmla="*/ 597492 w 607639"/>
                      <a:gd name="connsiteY29" fmla="*/ 0 h 535944"/>
                      <a:gd name="connsiteX30" fmla="*/ 607639 w 607639"/>
                      <a:gd name="connsiteY30" fmla="*/ 10132 h 535944"/>
                      <a:gd name="connsiteX31" fmla="*/ 607639 w 607639"/>
                      <a:gd name="connsiteY31" fmla="*/ 414601 h 535944"/>
                      <a:gd name="connsiteX32" fmla="*/ 597492 w 607639"/>
                      <a:gd name="connsiteY32" fmla="*/ 424733 h 535944"/>
                      <a:gd name="connsiteX33" fmla="*/ 10147 w 607639"/>
                      <a:gd name="connsiteY33" fmla="*/ 424733 h 535944"/>
                      <a:gd name="connsiteX34" fmla="*/ 0 w 607639"/>
                      <a:gd name="connsiteY34" fmla="*/ 414601 h 535944"/>
                      <a:gd name="connsiteX35" fmla="*/ 0 w 607639"/>
                      <a:gd name="connsiteY35" fmla="*/ 10132 h 535944"/>
                      <a:gd name="connsiteX36" fmla="*/ 10147 w 607639"/>
                      <a:gd name="connsiteY36" fmla="*/ 0 h 5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7639" h="535944">
                        <a:moveTo>
                          <a:pt x="202564" y="444915"/>
                        </a:moveTo>
                        <a:lnTo>
                          <a:pt x="405075" y="444915"/>
                        </a:lnTo>
                        <a:cubicBezTo>
                          <a:pt x="410683" y="444915"/>
                          <a:pt x="415223" y="449449"/>
                          <a:pt x="415223" y="455049"/>
                        </a:cubicBezTo>
                        <a:cubicBezTo>
                          <a:pt x="415223" y="487940"/>
                          <a:pt x="433738" y="515765"/>
                          <a:pt x="455725" y="515765"/>
                        </a:cubicBezTo>
                        <a:cubicBezTo>
                          <a:pt x="461333" y="515765"/>
                          <a:pt x="465873" y="520298"/>
                          <a:pt x="465873" y="525899"/>
                        </a:cubicBezTo>
                        <a:cubicBezTo>
                          <a:pt x="465873" y="531499"/>
                          <a:pt x="461333" y="535944"/>
                          <a:pt x="455725" y="535944"/>
                        </a:cubicBezTo>
                        <a:lnTo>
                          <a:pt x="151914" y="535944"/>
                        </a:lnTo>
                        <a:cubicBezTo>
                          <a:pt x="146306" y="535944"/>
                          <a:pt x="141766" y="531499"/>
                          <a:pt x="141766" y="525899"/>
                        </a:cubicBezTo>
                        <a:cubicBezTo>
                          <a:pt x="141766" y="520298"/>
                          <a:pt x="146306" y="515765"/>
                          <a:pt x="151914" y="515765"/>
                        </a:cubicBezTo>
                        <a:cubicBezTo>
                          <a:pt x="173812" y="515765"/>
                          <a:pt x="192416" y="487940"/>
                          <a:pt x="192416" y="455049"/>
                        </a:cubicBezTo>
                        <a:cubicBezTo>
                          <a:pt x="192416" y="449449"/>
                          <a:pt x="196956" y="444915"/>
                          <a:pt x="202564" y="444915"/>
                        </a:cubicBezTo>
                        <a:close/>
                        <a:moveTo>
                          <a:pt x="70815" y="60686"/>
                        </a:moveTo>
                        <a:lnTo>
                          <a:pt x="536665" y="60686"/>
                        </a:lnTo>
                        <a:cubicBezTo>
                          <a:pt x="542273" y="60686"/>
                          <a:pt x="546812" y="65219"/>
                          <a:pt x="546812" y="70819"/>
                        </a:cubicBezTo>
                        <a:lnTo>
                          <a:pt x="546812" y="353914"/>
                        </a:lnTo>
                        <a:cubicBezTo>
                          <a:pt x="546812" y="359514"/>
                          <a:pt x="542273" y="364047"/>
                          <a:pt x="536665" y="364047"/>
                        </a:cubicBezTo>
                        <a:lnTo>
                          <a:pt x="70815" y="364047"/>
                        </a:lnTo>
                        <a:cubicBezTo>
                          <a:pt x="65296" y="364047"/>
                          <a:pt x="60757" y="359514"/>
                          <a:pt x="60757" y="353914"/>
                        </a:cubicBezTo>
                        <a:lnTo>
                          <a:pt x="60757" y="70819"/>
                        </a:lnTo>
                        <a:cubicBezTo>
                          <a:pt x="60757" y="65219"/>
                          <a:pt x="65296" y="60686"/>
                          <a:pt x="70815" y="60686"/>
                        </a:cubicBezTo>
                        <a:close/>
                        <a:moveTo>
                          <a:pt x="50644" y="40438"/>
                        </a:moveTo>
                        <a:cubicBezTo>
                          <a:pt x="45037" y="40438"/>
                          <a:pt x="40497" y="44971"/>
                          <a:pt x="40497" y="50570"/>
                        </a:cubicBezTo>
                        <a:lnTo>
                          <a:pt x="40497" y="374163"/>
                        </a:lnTo>
                        <a:cubicBezTo>
                          <a:pt x="40497" y="379762"/>
                          <a:pt x="45037" y="384295"/>
                          <a:pt x="50644" y="384295"/>
                        </a:cubicBezTo>
                        <a:lnTo>
                          <a:pt x="556995" y="384295"/>
                        </a:lnTo>
                        <a:cubicBezTo>
                          <a:pt x="562602" y="384295"/>
                          <a:pt x="567142" y="379762"/>
                          <a:pt x="567142" y="374163"/>
                        </a:cubicBezTo>
                        <a:lnTo>
                          <a:pt x="567142" y="50570"/>
                        </a:lnTo>
                        <a:cubicBezTo>
                          <a:pt x="567142" y="44971"/>
                          <a:pt x="562602" y="40438"/>
                          <a:pt x="556995" y="40438"/>
                        </a:cubicBezTo>
                        <a:close/>
                        <a:moveTo>
                          <a:pt x="10147" y="0"/>
                        </a:moveTo>
                        <a:lnTo>
                          <a:pt x="597492" y="0"/>
                        </a:lnTo>
                        <a:cubicBezTo>
                          <a:pt x="603100" y="0"/>
                          <a:pt x="607639" y="4533"/>
                          <a:pt x="607639" y="10132"/>
                        </a:cubicBezTo>
                        <a:lnTo>
                          <a:pt x="607639" y="414601"/>
                        </a:lnTo>
                        <a:cubicBezTo>
                          <a:pt x="607639" y="420200"/>
                          <a:pt x="603100" y="424733"/>
                          <a:pt x="597492" y="424733"/>
                        </a:cubicBezTo>
                        <a:lnTo>
                          <a:pt x="10147" y="424733"/>
                        </a:lnTo>
                        <a:cubicBezTo>
                          <a:pt x="4539" y="424733"/>
                          <a:pt x="0" y="420200"/>
                          <a:pt x="0" y="414601"/>
                        </a:cubicBezTo>
                        <a:lnTo>
                          <a:pt x="0" y="10132"/>
                        </a:lnTo>
                        <a:cubicBezTo>
                          <a:pt x="0" y="4533"/>
                          <a:pt x="4539" y="0"/>
                          <a:pt x="10147" y="0"/>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sz="700"/>
                  </a:p>
                </p:txBody>
              </p:sp>
              <p:sp>
                <p:nvSpPr>
                  <p:cNvPr id="33" name="iṧlidê">
                    <a:extLst>
                      <a:ext uri="{FF2B5EF4-FFF2-40B4-BE49-F238E27FC236}">
                        <a16:creationId xmlns:a16="http://schemas.microsoft.com/office/drawing/2014/main" id="{0A7A75D9-B89C-D2CE-438C-68B8E68677EC}"/>
                      </a:ext>
                    </a:extLst>
                  </p:cNvPr>
                  <p:cNvSpPr/>
                  <p:nvPr/>
                </p:nvSpPr>
                <p:spPr bwMode="auto">
                  <a:xfrm>
                    <a:off x="6554879" y="3479569"/>
                    <a:ext cx="306212" cy="317962"/>
                  </a:xfrm>
                  <a:custGeom>
                    <a:avLst/>
                    <a:gdLst>
                      <a:gd name="connsiteX0" fmla="*/ 166523 w 579276"/>
                      <a:gd name="connsiteY0" fmla="*/ 387263 h 601500"/>
                      <a:gd name="connsiteX1" fmla="*/ 415364 w 579276"/>
                      <a:gd name="connsiteY1" fmla="*/ 387263 h 601500"/>
                      <a:gd name="connsiteX2" fmla="*/ 448234 w 579276"/>
                      <a:gd name="connsiteY2" fmla="*/ 420077 h 601500"/>
                      <a:gd name="connsiteX3" fmla="*/ 448234 w 579276"/>
                      <a:gd name="connsiteY3" fmla="*/ 421486 h 601500"/>
                      <a:gd name="connsiteX4" fmla="*/ 415364 w 579276"/>
                      <a:gd name="connsiteY4" fmla="*/ 454300 h 601500"/>
                      <a:gd name="connsiteX5" fmla="*/ 166523 w 579276"/>
                      <a:gd name="connsiteY5" fmla="*/ 454300 h 601500"/>
                      <a:gd name="connsiteX6" fmla="*/ 133653 w 579276"/>
                      <a:gd name="connsiteY6" fmla="*/ 421486 h 601500"/>
                      <a:gd name="connsiteX7" fmla="*/ 133653 w 579276"/>
                      <a:gd name="connsiteY7" fmla="*/ 420077 h 601500"/>
                      <a:gd name="connsiteX8" fmla="*/ 166523 w 579276"/>
                      <a:gd name="connsiteY8" fmla="*/ 387263 h 601500"/>
                      <a:gd name="connsiteX9" fmla="*/ 166523 w 579276"/>
                      <a:gd name="connsiteY9" fmla="*/ 279721 h 601500"/>
                      <a:gd name="connsiteX10" fmla="*/ 415364 w 579276"/>
                      <a:gd name="connsiteY10" fmla="*/ 279721 h 601500"/>
                      <a:gd name="connsiteX11" fmla="*/ 448234 w 579276"/>
                      <a:gd name="connsiteY11" fmla="*/ 312540 h 601500"/>
                      <a:gd name="connsiteX12" fmla="*/ 448234 w 579276"/>
                      <a:gd name="connsiteY12" fmla="*/ 313950 h 601500"/>
                      <a:gd name="connsiteX13" fmla="*/ 415364 w 579276"/>
                      <a:gd name="connsiteY13" fmla="*/ 346970 h 601500"/>
                      <a:gd name="connsiteX14" fmla="*/ 166523 w 579276"/>
                      <a:gd name="connsiteY14" fmla="*/ 346970 h 601500"/>
                      <a:gd name="connsiteX15" fmla="*/ 133653 w 579276"/>
                      <a:gd name="connsiteY15" fmla="*/ 313950 h 601500"/>
                      <a:gd name="connsiteX16" fmla="*/ 133653 w 579276"/>
                      <a:gd name="connsiteY16" fmla="*/ 312540 h 601500"/>
                      <a:gd name="connsiteX17" fmla="*/ 166523 w 579276"/>
                      <a:gd name="connsiteY17" fmla="*/ 279721 h 601500"/>
                      <a:gd name="connsiteX18" fmla="*/ 101388 w 579276"/>
                      <a:gd name="connsiteY18" fmla="*/ 142773 h 601500"/>
                      <a:gd name="connsiteX19" fmla="*/ 101388 w 579276"/>
                      <a:gd name="connsiteY19" fmla="*/ 497189 h 601500"/>
                      <a:gd name="connsiteX20" fmla="*/ 477888 w 579276"/>
                      <a:gd name="connsiteY20" fmla="*/ 497189 h 601500"/>
                      <a:gd name="connsiteX21" fmla="*/ 477888 w 579276"/>
                      <a:gd name="connsiteY21" fmla="*/ 142773 h 601500"/>
                      <a:gd name="connsiteX22" fmla="*/ 262716 w 579276"/>
                      <a:gd name="connsiteY22" fmla="*/ 142773 h 601500"/>
                      <a:gd name="connsiteX23" fmla="*/ 262716 w 579276"/>
                      <a:gd name="connsiteY23" fmla="*/ 190700 h 601500"/>
                      <a:gd name="connsiteX24" fmla="*/ 268968 w 579276"/>
                      <a:gd name="connsiteY24" fmla="*/ 203386 h 601500"/>
                      <a:gd name="connsiteX25" fmla="*/ 282681 w 579276"/>
                      <a:gd name="connsiteY25" fmla="*/ 208622 h 601500"/>
                      <a:gd name="connsiteX26" fmla="*/ 295385 w 579276"/>
                      <a:gd name="connsiteY26" fmla="*/ 203386 h 601500"/>
                      <a:gd name="connsiteX27" fmla="*/ 300629 w 579276"/>
                      <a:gd name="connsiteY27" fmla="*/ 190700 h 601500"/>
                      <a:gd name="connsiteX28" fmla="*/ 300830 w 579276"/>
                      <a:gd name="connsiteY28" fmla="*/ 168750 h 601500"/>
                      <a:gd name="connsiteX29" fmla="*/ 319988 w 579276"/>
                      <a:gd name="connsiteY29" fmla="*/ 151231 h 601500"/>
                      <a:gd name="connsiteX30" fmla="*/ 339146 w 579276"/>
                      <a:gd name="connsiteY30" fmla="*/ 168750 h 601500"/>
                      <a:gd name="connsiteX31" fmla="*/ 339549 w 579276"/>
                      <a:gd name="connsiteY31" fmla="*/ 190700 h 601500"/>
                      <a:gd name="connsiteX32" fmla="*/ 322610 w 579276"/>
                      <a:gd name="connsiteY32" fmla="*/ 231176 h 601500"/>
                      <a:gd name="connsiteX33" fmla="*/ 281673 w 579276"/>
                      <a:gd name="connsiteY33" fmla="*/ 247890 h 601500"/>
                      <a:gd name="connsiteX34" fmla="*/ 241744 w 579276"/>
                      <a:gd name="connsiteY34" fmla="*/ 230974 h 601500"/>
                      <a:gd name="connsiteX35" fmla="*/ 225611 w 579276"/>
                      <a:gd name="connsiteY35" fmla="*/ 195331 h 601500"/>
                      <a:gd name="connsiteX36" fmla="*/ 225611 w 579276"/>
                      <a:gd name="connsiteY36" fmla="*/ 194325 h 601500"/>
                      <a:gd name="connsiteX37" fmla="*/ 225611 w 579276"/>
                      <a:gd name="connsiteY37" fmla="*/ 142773 h 601500"/>
                      <a:gd name="connsiteX38" fmla="*/ 306477 w 579276"/>
                      <a:gd name="connsiteY38" fmla="*/ 39066 h 601500"/>
                      <a:gd name="connsiteX39" fmla="*/ 276631 w 579276"/>
                      <a:gd name="connsiteY39" fmla="*/ 51350 h 601500"/>
                      <a:gd name="connsiteX40" fmla="*/ 264531 w 579276"/>
                      <a:gd name="connsiteY40" fmla="*/ 72897 h 601500"/>
                      <a:gd name="connsiteX41" fmla="*/ 313737 w 579276"/>
                      <a:gd name="connsiteY41" fmla="*/ 86389 h 601500"/>
                      <a:gd name="connsiteX42" fmla="*/ 348624 w 579276"/>
                      <a:gd name="connsiteY42" fmla="*/ 86389 h 601500"/>
                      <a:gd name="connsiteX43" fmla="*/ 348624 w 579276"/>
                      <a:gd name="connsiteY43" fmla="*/ 80348 h 601500"/>
                      <a:gd name="connsiteX44" fmla="*/ 336323 w 579276"/>
                      <a:gd name="connsiteY44" fmla="*/ 51551 h 601500"/>
                      <a:gd name="connsiteX45" fmla="*/ 306477 w 579276"/>
                      <a:gd name="connsiteY45" fmla="*/ 39066 h 601500"/>
                      <a:gd name="connsiteX46" fmla="*/ 306275 w 579276"/>
                      <a:gd name="connsiteY46" fmla="*/ 0 h 601500"/>
                      <a:gd name="connsiteX47" fmla="*/ 363345 w 579276"/>
                      <a:gd name="connsiteY47" fmla="*/ 23762 h 601500"/>
                      <a:gd name="connsiteX48" fmla="*/ 386536 w 579276"/>
                      <a:gd name="connsiteY48" fmla="*/ 81153 h 601500"/>
                      <a:gd name="connsiteX49" fmla="*/ 386536 w 579276"/>
                      <a:gd name="connsiteY49" fmla="*/ 86389 h 601500"/>
                      <a:gd name="connsiteX50" fmla="*/ 483736 w 579276"/>
                      <a:gd name="connsiteY50" fmla="*/ 86389 h 601500"/>
                      <a:gd name="connsiteX51" fmla="*/ 534353 w 579276"/>
                      <a:gd name="connsiteY51" fmla="*/ 139954 h 601500"/>
                      <a:gd name="connsiteX52" fmla="*/ 534353 w 579276"/>
                      <a:gd name="connsiteY52" fmla="*/ 151029 h 601500"/>
                      <a:gd name="connsiteX53" fmla="*/ 554318 w 579276"/>
                      <a:gd name="connsiteY53" fmla="*/ 156467 h 601500"/>
                      <a:gd name="connsiteX54" fmla="*/ 577912 w 579276"/>
                      <a:gd name="connsiteY54" fmla="*/ 199762 h 601500"/>
                      <a:gd name="connsiteX55" fmla="*/ 534353 w 579276"/>
                      <a:gd name="connsiteY55" fmla="*/ 350187 h 601500"/>
                      <a:gd name="connsiteX56" fmla="*/ 534353 w 579276"/>
                      <a:gd name="connsiteY56" fmla="*/ 501821 h 601500"/>
                      <a:gd name="connsiteX57" fmla="*/ 483736 w 579276"/>
                      <a:gd name="connsiteY57" fmla="*/ 553573 h 601500"/>
                      <a:gd name="connsiteX58" fmla="*/ 477283 w 579276"/>
                      <a:gd name="connsiteY58" fmla="*/ 553573 h 601500"/>
                      <a:gd name="connsiteX59" fmla="*/ 470830 w 579276"/>
                      <a:gd name="connsiteY59" fmla="*/ 575926 h 601500"/>
                      <a:gd name="connsiteX60" fmla="*/ 437153 w 579276"/>
                      <a:gd name="connsiteY60" fmla="*/ 601500 h 601500"/>
                      <a:gd name="connsiteX61" fmla="*/ 427675 w 579276"/>
                      <a:gd name="connsiteY61" fmla="*/ 600292 h 601500"/>
                      <a:gd name="connsiteX62" fmla="*/ 264733 w 579276"/>
                      <a:gd name="connsiteY62" fmla="*/ 553573 h 601500"/>
                      <a:gd name="connsiteX63" fmla="*/ 97959 w 579276"/>
                      <a:gd name="connsiteY63" fmla="*/ 553573 h 601500"/>
                      <a:gd name="connsiteX64" fmla="*/ 44923 w 579276"/>
                      <a:gd name="connsiteY64" fmla="*/ 501821 h 601500"/>
                      <a:gd name="connsiteX65" fmla="*/ 44923 w 579276"/>
                      <a:gd name="connsiteY65" fmla="*/ 490946 h 601500"/>
                      <a:gd name="connsiteX66" fmla="*/ 24958 w 579276"/>
                      <a:gd name="connsiteY66" fmla="*/ 485308 h 601500"/>
                      <a:gd name="connsiteX67" fmla="*/ 1364 w 579276"/>
                      <a:gd name="connsiteY67" fmla="*/ 442013 h 601500"/>
                      <a:gd name="connsiteX68" fmla="*/ 44923 w 579276"/>
                      <a:gd name="connsiteY68" fmla="*/ 288366 h 601500"/>
                      <a:gd name="connsiteX69" fmla="*/ 44923 w 579276"/>
                      <a:gd name="connsiteY69" fmla="*/ 139954 h 601500"/>
                      <a:gd name="connsiteX70" fmla="*/ 97959 w 579276"/>
                      <a:gd name="connsiteY70" fmla="*/ 86389 h 601500"/>
                      <a:gd name="connsiteX71" fmla="*/ 104009 w 579276"/>
                      <a:gd name="connsiteY71" fmla="*/ 86389 h 601500"/>
                      <a:gd name="connsiteX72" fmla="*/ 110261 w 579276"/>
                      <a:gd name="connsiteY72" fmla="*/ 65043 h 601500"/>
                      <a:gd name="connsiteX73" fmla="*/ 143938 w 579276"/>
                      <a:gd name="connsiteY73" fmla="*/ 40275 h 601500"/>
                      <a:gd name="connsiteX74" fmla="*/ 153416 w 579276"/>
                      <a:gd name="connsiteY74" fmla="*/ 41684 h 601500"/>
                      <a:gd name="connsiteX75" fmla="*/ 227426 w 579276"/>
                      <a:gd name="connsiteY75" fmla="*/ 63030 h 601500"/>
                      <a:gd name="connsiteX76" fmla="*/ 249205 w 579276"/>
                      <a:gd name="connsiteY76" fmla="*/ 23762 h 601500"/>
                      <a:gd name="connsiteX77" fmla="*/ 306275 w 579276"/>
                      <a:gd name="connsiteY77" fmla="*/ 0 h 60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9276" h="601500">
                        <a:moveTo>
                          <a:pt x="166523" y="387263"/>
                        </a:moveTo>
                        <a:lnTo>
                          <a:pt x="415364" y="387263"/>
                        </a:lnTo>
                        <a:cubicBezTo>
                          <a:pt x="433513" y="387263"/>
                          <a:pt x="448234" y="401959"/>
                          <a:pt x="448234" y="420077"/>
                        </a:cubicBezTo>
                        <a:lnTo>
                          <a:pt x="448234" y="421486"/>
                        </a:lnTo>
                        <a:cubicBezTo>
                          <a:pt x="448234" y="439604"/>
                          <a:pt x="433513" y="454300"/>
                          <a:pt x="415364" y="454300"/>
                        </a:cubicBezTo>
                        <a:lnTo>
                          <a:pt x="166523" y="454300"/>
                        </a:lnTo>
                        <a:cubicBezTo>
                          <a:pt x="148374" y="454300"/>
                          <a:pt x="133653" y="439604"/>
                          <a:pt x="133653" y="421486"/>
                        </a:cubicBezTo>
                        <a:lnTo>
                          <a:pt x="133653" y="420077"/>
                        </a:lnTo>
                        <a:cubicBezTo>
                          <a:pt x="133653" y="401959"/>
                          <a:pt x="148374" y="387263"/>
                          <a:pt x="166523" y="387263"/>
                        </a:cubicBezTo>
                        <a:close/>
                        <a:moveTo>
                          <a:pt x="166523" y="279721"/>
                        </a:moveTo>
                        <a:lnTo>
                          <a:pt x="415364" y="279721"/>
                        </a:lnTo>
                        <a:cubicBezTo>
                          <a:pt x="433513" y="279721"/>
                          <a:pt x="448234" y="294419"/>
                          <a:pt x="448234" y="312540"/>
                        </a:cubicBezTo>
                        <a:lnTo>
                          <a:pt x="448234" y="313950"/>
                        </a:lnTo>
                        <a:cubicBezTo>
                          <a:pt x="448234" y="332272"/>
                          <a:pt x="433513" y="346970"/>
                          <a:pt x="415364" y="346970"/>
                        </a:cubicBezTo>
                        <a:lnTo>
                          <a:pt x="166523" y="346970"/>
                        </a:lnTo>
                        <a:cubicBezTo>
                          <a:pt x="148374" y="346970"/>
                          <a:pt x="133653" y="332272"/>
                          <a:pt x="133653" y="313950"/>
                        </a:cubicBezTo>
                        <a:lnTo>
                          <a:pt x="133653" y="312540"/>
                        </a:lnTo>
                        <a:cubicBezTo>
                          <a:pt x="133653" y="294419"/>
                          <a:pt x="148374" y="279721"/>
                          <a:pt x="166523" y="279721"/>
                        </a:cubicBezTo>
                        <a:close/>
                        <a:moveTo>
                          <a:pt x="101388" y="142773"/>
                        </a:moveTo>
                        <a:lnTo>
                          <a:pt x="101388" y="497189"/>
                        </a:lnTo>
                        <a:lnTo>
                          <a:pt x="477888" y="497189"/>
                        </a:lnTo>
                        <a:lnTo>
                          <a:pt x="477888" y="142773"/>
                        </a:lnTo>
                        <a:lnTo>
                          <a:pt x="262716" y="142773"/>
                        </a:lnTo>
                        <a:lnTo>
                          <a:pt x="262716" y="190700"/>
                        </a:lnTo>
                        <a:cubicBezTo>
                          <a:pt x="262716" y="195130"/>
                          <a:pt x="265338" y="199560"/>
                          <a:pt x="268968" y="203386"/>
                        </a:cubicBezTo>
                        <a:cubicBezTo>
                          <a:pt x="272396" y="206608"/>
                          <a:pt x="277639" y="208622"/>
                          <a:pt x="282681" y="208622"/>
                        </a:cubicBezTo>
                        <a:cubicBezTo>
                          <a:pt x="287521" y="208622"/>
                          <a:pt x="291957" y="206810"/>
                          <a:pt x="295385" y="203386"/>
                        </a:cubicBezTo>
                        <a:cubicBezTo>
                          <a:pt x="298612" y="199963"/>
                          <a:pt x="300629" y="195533"/>
                          <a:pt x="300629" y="190700"/>
                        </a:cubicBezTo>
                        <a:cubicBezTo>
                          <a:pt x="300225" y="174791"/>
                          <a:pt x="300427" y="170361"/>
                          <a:pt x="300830" y="168750"/>
                        </a:cubicBezTo>
                        <a:cubicBezTo>
                          <a:pt x="301839" y="158682"/>
                          <a:pt x="309905" y="151231"/>
                          <a:pt x="319988" y="151231"/>
                        </a:cubicBezTo>
                        <a:cubicBezTo>
                          <a:pt x="329869" y="151231"/>
                          <a:pt x="338138" y="158682"/>
                          <a:pt x="339146" y="168750"/>
                        </a:cubicBezTo>
                        <a:cubicBezTo>
                          <a:pt x="339347" y="170361"/>
                          <a:pt x="339549" y="174791"/>
                          <a:pt x="339549" y="190700"/>
                        </a:cubicBezTo>
                        <a:cubicBezTo>
                          <a:pt x="339549" y="206004"/>
                          <a:pt x="333298" y="220302"/>
                          <a:pt x="322610" y="231176"/>
                        </a:cubicBezTo>
                        <a:cubicBezTo>
                          <a:pt x="311720" y="241849"/>
                          <a:pt x="297805" y="247890"/>
                          <a:pt x="281673" y="247890"/>
                        </a:cubicBezTo>
                        <a:cubicBezTo>
                          <a:pt x="265540" y="247890"/>
                          <a:pt x="252432" y="241849"/>
                          <a:pt x="241744" y="230974"/>
                        </a:cubicBezTo>
                        <a:cubicBezTo>
                          <a:pt x="232064" y="221510"/>
                          <a:pt x="226821" y="208622"/>
                          <a:pt x="225611" y="195331"/>
                        </a:cubicBezTo>
                        <a:lnTo>
                          <a:pt x="225611" y="194325"/>
                        </a:lnTo>
                        <a:lnTo>
                          <a:pt x="225611" y="142773"/>
                        </a:lnTo>
                        <a:close/>
                        <a:moveTo>
                          <a:pt x="306477" y="39066"/>
                        </a:moveTo>
                        <a:cubicBezTo>
                          <a:pt x="295184" y="39066"/>
                          <a:pt x="284496" y="43295"/>
                          <a:pt x="276631" y="51350"/>
                        </a:cubicBezTo>
                        <a:cubicBezTo>
                          <a:pt x="270178" y="57593"/>
                          <a:pt x="266145" y="64842"/>
                          <a:pt x="264531" y="72897"/>
                        </a:cubicBezTo>
                        <a:lnTo>
                          <a:pt x="313737" y="86389"/>
                        </a:lnTo>
                        <a:lnTo>
                          <a:pt x="348624" y="86389"/>
                        </a:lnTo>
                        <a:lnTo>
                          <a:pt x="348624" y="80348"/>
                        </a:lnTo>
                        <a:cubicBezTo>
                          <a:pt x="348624" y="69071"/>
                          <a:pt x="344389" y="59606"/>
                          <a:pt x="336323" y="51551"/>
                        </a:cubicBezTo>
                        <a:cubicBezTo>
                          <a:pt x="328256" y="43496"/>
                          <a:pt x="317770" y="39066"/>
                          <a:pt x="306477" y="39066"/>
                        </a:cubicBezTo>
                        <a:close/>
                        <a:moveTo>
                          <a:pt x="306275" y="0"/>
                        </a:moveTo>
                        <a:cubicBezTo>
                          <a:pt x="327853" y="0"/>
                          <a:pt x="348019" y="8458"/>
                          <a:pt x="363345" y="23762"/>
                        </a:cubicBezTo>
                        <a:cubicBezTo>
                          <a:pt x="378470" y="38865"/>
                          <a:pt x="386536" y="59204"/>
                          <a:pt x="386536" y="81153"/>
                        </a:cubicBezTo>
                        <a:lnTo>
                          <a:pt x="386536" y="86389"/>
                        </a:lnTo>
                        <a:lnTo>
                          <a:pt x="483736" y="86389"/>
                        </a:lnTo>
                        <a:cubicBezTo>
                          <a:pt x="512574" y="86389"/>
                          <a:pt x="534353" y="111158"/>
                          <a:pt x="534353" y="139954"/>
                        </a:cubicBezTo>
                        <a:lnTo>
                          <a:pt x="534353" y="151029"/>
                        </a:lnTo>
                        <a:lnTo>
                          <a:pt x="554318" y="156467"/>
                        </a:lnTo>
                        <a:cubicBezTo>
                          <a:pt x="572870" y="161904"/>
                          <a:pt x="583155" y="181235"/>
                          <a:pt x="577912" y="199762"/>
                        </a:cubicBezTo>
                        <a:lnTo>
                          <a:pt x="534353" y="350187"/>
                        </a:lnTo>
                        <a:lnTo>
                          <a:pt x="534353" y="501821"/>
                        </a:lnTo>
                        <a:cubicBezTo>
                          <a:pt x="534353" y="530617"/>
                          <a:pt x="512574" y="553573"/>
                          <a:pt x="483736" y="553573"/>
                        </a:cubicBezTo>
                        <a:lnTo>
                          <a:pt x="477283" y="553573"/>
                        </a:lnTo>
                        <a:lnTo>
                          <a:pt x="470830" y="575926"/>
                        </a:lnTo>
                        <a:cubicBezTo>
                          <a:pt x="466595" y="590827"/>
                          <a:pt x="452681" y="601500"/>
                          <a:pt x="437153" y="601500"/>
                        </a:cubicBezTo>
                        <a:cubicBezTo>
                          <a:pt x="433926" y="601500"/>
                          <a:pt x="430700" y="601097"/>
                          <a:pt x="427675" y="600292"/>
                        </a:cubicBezTo>
                        <a:lnTo>
                          <a:pt x="264733" y="553573"/>
                        </a:lnTo>
                        <a:lnTo>
                          <a:pt x="97959" y="553573"/>
                        </a:lnTo>
                        <a:cubicBezTo>
                          <a:pt x="69122" y="553573"/>
                          <a:pt x="44923" y="530617"/>
                          <a:pt x="44923" y="501821"/>
                        </a:cubicBezTo>
                        <a:lnTo>
                          <a:pt x="44923" y="490946"/>
                        </a:lnTo>
                        <a:lnTo>
                          <a:pt x="24958" y="485308"/>
                        </a:lnTo>
                        <a:cubicBezTo>
                          <a:pt x="6406" y="479871"/>
                          <a:pt x="-3879" y="460539"/>
                          <a:pt x="1364" y="442013"/>
                        </a:cubicBezTo>
                        <a:lnTo>
                          <a:pt x="44923" y="288366"/>
                        </a:lnTo>
                        <a:lnTo>
                          <a:pt x="44923" y="139954"/>
                        </a:lnTo>
                        <a:cubicBezTo>
                          <a:pt x="44923" y="111158"/>
                          <a:pt x="69122" y="86389"/>
                          <a:pt x="97959" y="86389"/>
                        </a:cubicBezTo>
                        <a:lnTo>
                          <a:pt x="104009" y="86389"/>
                        </a:lnTo>
                        <a:lnTo>
                          <a:pt x="110261" y="65043"/>
                        </a:lnTo>
                        <a:cubicBezTo>
                          <a:pt x="114496" y="50142"/>
                          <a:pt x="128410" y="40275"/>
                          <a:pt x="143938" y="40275"/>
                        </a:cubicBezTo>
                        <a:cubicBezTo>
                          <a:pt x="147165" y="40275"/>
                          <a:pt x="150391" y="40879"/>
                          <a:pt x="153416" y="41684"/>
                        </a:cubicBezTo>
                        <a:lnTo>
                          <a:pt x="227426" y="63030"/>
                        </a:lnTo>
                        <a:cubicBezTo>
                          <a:pt x="230854" y="48128"/>
                          <a:pt x="238114" y="34636"/>
                          <a:pt x="249205" y="23762"/>
                        </a:cubicBezTo>
                        <a:cubicBezTo>
                          <a:pt x="264531" y="8458"/>
                          <a:pt x="284697" y="0"/>
                          <a:pt x="306275" y="0"/>
                        </a:cubicBezTo>
                        <a:close/>
                      </a:path>
                    </a:pathLst>
                  </a:custGeom>
                  <a:solidFill>
                    <a:schemeClr val="accent1"/>
                  </a:solidFill>
                  <a:ln>
                    <a:noFill/>
                  </a:ln>
                </p:spPr>
                <p:txBody>
                  <a:bodyPr wrap="square" lIns="91440" tIns="45720" rIns="91440" bIns="45720">
                    <a:normAutofit/>
                  </a:bodyPr>
                  <a:lstStyle/>
                  <a:p>
                    <a:endParaRPr lang="zh-CN" altLang="en-US" sz="1050"/>
                  </a:p>
                </p:txBody>
              </p:sp>
              <p:sp>
                <p:nvSpPr>
                  <p:cNvPr id="34" name="îşḻiḋè">
                    <a:extLst>
                      <a:ext uri="{FF2B5EF4-FFF2-40B4-BE49-F238E27FC236}">
                        <a16:creationId xmlns:a16="http://schemas.microsoft.com/office/drawing/2014/main" id="{385C47EF-FF2E-4F70-A646-EF3EB4CF8DFA}"/>
                      </a:ext>
                    </a:extLst>
                  </p:cNvPr>
                  <p:cNvSpPr/>
                  <p:nvPr/>
                </p:nvSpPr>
                <p:spPr bwMode="auto">
                  <a:xfrm>
                    <a:off x="6549004" y="4381274"/>
                    <a:ext cx="317962" cy="256480"/>
                  </a:xfrm>
                  <a:custGeom>
                    <a:avLst/>
                    <a:gdLst>
                      <a:gd name="connsiteX0" fmla="*/ 533315 w 608344"/>
                      <a:gd name="connsiteY0" fmla="*/ 120148 h 490712"/>
                      <a:gd name="connsiteX1" fmla="*/ 498686 w 608344"/>
                      <a:gd name="connsiteY1" fmla="*/ 154728 h 490712"/>
                      <a:gd name="connsiteX2" fmla="*/ 533315 w 608344"/>
                      <a:gd name="connsiteY2" fmla="*/ 189308 h 490712"/>
                      <a:gd name="connsiteX3" fmla="*/ 567944 w 608344"/>
                      <a:gd name="connsiteY3" fmla="*/ 154728 h 490712"/>
                      <a:gd name="connsiteX4" fmla="*/ 533315 w 608344"/>
                      <a:gd name="connsiteY4" fmla="*/ 120148 h 490712"/>
                      <a:gd name="connsiteX5" fmla="*/ 436403 w 608344"/>
                      <a:gd name="connsiteY5" fmla="*/ 120148 h 490712"/>
                      <a:gd name="connsiteX6" fmla="*/ 401774 w 608344"/>
                      <a:gd name="connsiteY6" fmla="*/ 154728 h 490712"/>
                      <a:gd name="connsiteX7" fmla="*/ 436403 w 608344"/>
                      <a:gd name="connsiteY7" fmla="*/ 189308 h 490712"/>
                      <a:gd name="connsiteX8" fmla="*/ 438246 w 608344"/>
                      <a:gd name="connsiteY8" fmla="*/ 189228 h 490712"/>
                      <a:gd name="connsiteX9" fmla="*/ 470951 w 608344"/>
                      <a:gd name="connsiteY9" fmla="*/ 154728 h 490712"/>
                      <a:gd name="connsiteX10" fmla="*/ 438246 w 608344"/>
                      <a:gd name="connsiteY10" fmla="*/ 120309 h 490712"/>
                      <a:gd name="connsiteX11" fmla="*/ 436403 w 608344"/>
                      <a:gd name="connsiteY11" fmla="*/ 120148 h 490712"/>
                      <a:gd name="connsiteX12" fmla="*/ 339410 w 608344"/>
                      <a:gd name="connsiteY12" fmla="*/ 120148 h 490712"/>
                      <a:gd name="connsiteX13" fmla="*/ 304862 w 608344"/>
                      <a:gd name="connsiteY13" fmla="*/ 154728 h 490712"/>
                      <a:gd name="connsiteX14" fmla="*/ 339410 w 608344"/>
                      <a:gd name="connsiteY14" fmla="*/ 189308 h 490712"/>
                      <a:gd name="connsiteX15" fmla="*/ 374039 w 608344"/>
                      <a:gd name="connsiteY15" fmla="*/ 154728 h 490712"/>
                      <a:gd name="connsiteX16" fmla="*/ 339410 w 608344"/>
                      <a:gd name="connsiteY16" fmla="*/ 120148 h 490712"/>
                      <a:gd name="connsiteX17" fmla="*/ 242498 w 608344"/>
                      <a:gd name="connsiteY17" fmla="*/ 120148 h 490712"/>
                      <a:gd name="connsiteX18" fmla="*/ 207869 w 608344"/>
                      <a:gd name="connsiteY18" fmla="*/ 154728 h 490712"/>
                      <a:gd name="connsiteX19" fmla="*/ 242498 w 608344"/>
                      <a:gd name="connsiteY19" fmla="*/ 189308 h 490712"/>
                      <a:gd name="connsiteX20" fmla="*/ 277127 w 608344"/>
                      <a:gd name="connsiteY20" fmla="*/ 154728 h 490712"/>
                      <a:gd name="connsiteX21" fmla="*/ 242498 w 608344"/>
                      <a:gd name="connsiteY21" fmla="*/ 120148 h 490712"/>
                      <a:gd name="connsiteX22" fmla="*/ 0 w 608344"/>
                      <a:gd name="connsiteY22" fmla="*/ 114316 h 490712"/>
                      <a:gd name="connsiteX23" fmla="*/ 137387 w 608344"/>
                      <a:gd name="connsiteY23" fmla="*/ 114316 h 490712"/>
                      <a:gd name="connsiteX24" fmla="*/ 137387 w 608344"/>
                      <a:gd name="connsiteY24" fmla="*/ 304475 h 490712"/>
                      <a:gd name="connsiteX25" fmla="*/ 137387 w 608344"/>
                      <a:gd name="connsiteY25" fmla="*/ 320001 h 490712"/>
                      <a:gd name="connsiteX26" fmla="*/ 152697 w 608344"/>
                      <a:gd name="connsiteY26" fmla="*/ 320001 h 490712"/>
                      <a:gd name="connsiteX27" fmla="*/ 438211 w 608344"/>
                      <a:gd name="connsiteY27" fmla="*/ 320001 h 490712"/>
                      <a:gd name="connsiteX28" fmla="*/ 438211 w 608344"/>
                      <a:gd name="connsiteY28" fmla="*/ 408198 h 490712"/>
                      <a:gd name="connsiteX29" fmla="*/ 123119 w 608344"/>
                      <a:gd name="connsiteY29" fmla="*/ 408198 h 490712"/>
                      <a:gd name="connsiteX30" fmla="*/ 45769 w 608344"/>
                      <a:gd name="connsiteY30" fmla="*/ 490712 h 490712"/>
                      <a:gd name="connsiteX31" fmla="*/ 45769 w 608344"/>
                      <a:gd name="connsiteY31" fmla="*/ 408198 h 490712"/>
                      <a:gd name="connsiteX32" fmla="*/ 0 w 608344"/>
                      <a:gd name="connsiteY32" fmla="*/ 408198 h 490712"/>
                      <a:gd name="connsiteX33" fmla="*/ 153762 w 608344"/>
                      <a:gd name="connsiteY33" fmla="*/ 0 h 490712"/>
                      <a:gd name="connsiteX34" fmla="*/ 608344 w 608344"/>
                      <a:gd name="connsiteY34" fmla="*/ 0 h 490712"/>
                      <a:gd name="connsiteX35" fmla="*/ 608344 w 608344"/>
                      <a:gd name="connsiteY35" fmla="*/ 303693 h 490712"/>
                      <a:gd name="connsiteX36" fmla="*/ 559287 w 608344"/>
                      <a:gd name="connsiteY36" fmla="*/ 303693 h 490712"/>
                      <a:gd name="connsiteX37" fmla="*/ 559287 w 608344"/>
                      <a:gd name="connsiteY37" fmla="*/ 390862 h 490712"/>
                      <a:gd name="connsiteX38" fmla="*/ 480330 w 608344"/>
                      <a:gd name="connsiteY38" fmla="*/ 303693 h 490712"/>
                      <a:gd name="connsiteX39" fmla="*/ 438246 w 608344"/>
                      <a:gd name="connsiteY39" fmla="*/ 303693 h 490712"/>
                      <a:gd name="connsiteX40" fmla="*/ 153762 w 608344"/>
                      <a:gd name="connsiteY40" fmla="*/ 303693 h 490712"/>
                      <a:gd name="connsiteX41" fmla="*/ 153762 w 608344"/>
                      <a:gd name="connsiteY41" fmla="*/ 114305 h 49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8344" h="490712">
                        <a:moveTo>
                          <a:pt x="533315" y="120148"/>
                        </a:moveTo>
                        <a:cubicBezTo>
                          <a:pt x="514237" y="120148"/>
                          <a:pt x="498686" y="135677"/>
                          <a:pt x="498686" y="154728"/>
                        </a:cubicBezTo>
                        <a:cubicBezTo>
                          <a:pt x="498686" y="173859"/>
                          <a:pt x="514237" y="189308"/>
                          <a:pt x="533315" y="189308"/>
                        </a:cubicBezTo>
                        <a:cubicBezTo>
                          <a:pt x="552393" y="189308"/>
                          <a:pt x="567944" y="173859"/>
                          <a:pt x="567944" y="154728"/>
                        </a:cubicBezTo>
                        <a:cubicBezTo>
                          <a:pt x="567944" y="135677"/>
                          <a:pt x="552393" y="120148"/>
                          <a:pt x="533315" y="120148"/>
                        </a:cubicBezTo>
                        <a:close/>
                        <a:moveTo>
                          <a:pt x="436403" y="120148"/>
                        </a:moveTo>
                        <a:cubicBezTo>
                          <a:pt x="417245" y="120148"/>
                          <a:pt x="401774" y="135677"/>
                          <a:pt x="401774" y="154728"/>
                        </a:cubicBezTo>
                        <a:cubicBezTo>
                          <a:pt x="401774" y="173859"/>
                          <a:pt x="417245" y="189308"/>
                          <a:pt x="436403" y="189308"/>
                        </a:cubicBezTo>
                        <a:cubicBezTo>
                          <a:pt x="437044" y="189308"/>
                          <a:pt x="437605" y="189228"/>
                          <a:pt x="438246" y="189228"/>
                        </a:cubicBezTo>
                        <a:cubicBezTo>
                          <a:pt x="456523" y="188187"/>
                          <a:pt x="470951" y="173219"/>
                          <a:pt x="470951" y="154728"/>
                        </a:cubicBezTo>
                        <a:cubicBezTo>
                          <a:pt x="470951" y="136318"/>
                          <a:pt x="456523" y="121269"/>
                          <a:pt x="438246" y="120309"/>
                        </a:cubicBezTo>
                        <a:cubicBezTo>
                          <a:pt x="437605" y="120229"/>
                          <a:pt x="437044" y="120148"/>
                          <a:pt x="436403" y="120148"/>
                        </a:cubicBezTo>
                        <a:close/>
                        <a:moveTo>
                          <a:pt x="339410" y="120148"/>
                        </a:moveTo>
                        <a:cubicBezTo>
                          <a:pt x="320333" y="120148"/>
                          <a:pt x="304862" y="135677"/>
                          <a:pt x="304862" y="154728"/>
                        </a:cubicBezTo>
                        <a:cubicBezTo>
                          <a:pt x="304862" y="173859"/>
                          <a:pt x="320333" y="189308"/>
                          <a:pt x="339410" y="189308"/>
                        </a:cubicBezTo>
                        <a:cubicBezTo>
                          <a:pt x="358568" y="189308"/>
                          <a:pt x="374039" y="173859"/>
                          <a:pt x="374039" y="154728"/>
                        </a:cubicBezTo>
                        <a:cubicBezTo>
                          <a:pt x="374039" y="135677"/>
                          <a:pt x="358568" y="120148"/>
                          <a:pt x="339410" y="120148"/>
                        </a:cubicBezTo>
                        <a:close/>
                        <a:moveTo>
                          <a:pt x="242498" y="120148"/>
                        </a:moveTo>
                        <a:cubicBezTo>
                          <a:pt x="223420" y="120148"/>
                          <a:pt x="207869" y="135677"/>
                          <a:pt x="207869" y="154728"/>
                        </a:cubicBezTo>
                        <a:cubicBezTo>
                          <a:pt x="207869" y="173859"/>
                          <a:pt x="223420" y="189308"/>
                          <a:pt x="242498" y="189308"/>
                        </a:cubicBezTo>
                        <a:cubicBezTo>
                          <a:pt x="261576" y="189308"/>
                          <a:pt x="277127" y="173859"/>
                          <a:pt x="277127" y="154728"/>
                        </a:cubicBezTo>
                        <a:cubicBezTo>
                          <a:pt x="277127" y="135677"/>
                          <a:pt x="261576" y="120148"/>
                          <a:pt x="242498" y="120148"/>
                        </a:cubicBezTo>
                        <a:close/>
                        <a:moveTo>
                          <a:pt x="0" y="114316"/>
                        </a:moveTo>
                        <a:lnTo>
                          <a:pt x="137387" y="114316"/>
                        </a:lnTo>
                        <a:lnTo>
                          <a:pt x="137387" y="304475"/>
                        </a:lnTo>
                        <a:lnTo>
                          <a:pt x="137387" y="320001"/>
                        </a:lnTo>
                        <a:lnTo>
                          <a:pt x="152697" y="320001"/>
                        </a:lnTo>
                        <a:lnTo>
                          <a:pt x="438211" y="320001"/>
                        </a:lnTo>
                        <a:lnTo>
                          <a:pt x="438211" y="408198"/>
                        </a:lnTo>
                        <a:lnTo>
                          <a:pt x="123119" y="408198"/>
                        </a:lnTo>
                        <a:lnTo>
                          <a:pt x="45769" y="490712"/>
                        </a:lnTo>
                        <a:lnTo>
                          <a:pt x="45769" y="408198"/>
                        </a:lnTo>
                        <a:lnTo>
                          <a:pt x="0" y="408198"/>
                        </a:lnTo>
                        <a:close/>
                        <a:moveTo>
                          <a:pt x="153762" y="0"/>
                        </a:moveTo>
                        <a:lnTo>
                          <a:pt x="608344" y="0"/>
                        </a:lnTo>
                        <a:lnTo>
                          <a:pt x="608344" y="303693"/>
                        </a:lnTo>
                        <a:lnTo>
                          <a:pt x="559287" y="303693"/>
                        </a:lnTo>
                        <a:lnTo>
                          <a:pt x="559287" y="390862"/>
                        </a:lnTo>
                        <a:lnTo>
                          <a:pt x="480330" y="303693"/>
                        </a:lnTo>
                        <a:lnTo>
                          <a:pt x="438246" y="303693"/>
                        </a:lnTo>
                        <a:lnTo>
                          <a:pt x="153762" y="303693"/>
                        </a:lnTo>
                        <a:lnTo>
                          <a:pt x="153762" y="114305"/>
                        </a:lnTo>
                        <a:close/>
                      </a:path>
                    </a:pathLst>
                  </a:custGeom>
                  <a:solidFill>
                    <a:schemeClr val="accent1"/>
                  </a:solidFill>
                  <a:ln>
                    <a:noFill/>
                  </a:ln>
                </p:spPr>
                <p:txBody>
                  <a:bodyPr wrap="square" lIns="91440" tIns="45720" rIns="91440" bIns="45720">
                    <a:normAutofit/>
                  </a:bodyPr>
                  <a:lstStyle/>
                  <a:p>
                    <a:endParaRPr lang="zh-CN" altLang="en-US" sz="700"/>
                  </a:p>
                </p:txBody>
              </p:sp>
              <p:sp>
                <p:nvSpPr>
                  <p:cNvPr id="35" name="íŝľiḋé">
                    <a:extLst>
                      <a:ext uri="{FF2B5EF4-FFF2-40B4-BE49-F238E27FC236}">
                        <a16:creationId xmlns:a16="http://schemas.microsoft.com/office/drawing/2014/main" id="{623890D6-AE15-D13B-01EE-53CD2BDFD7F8}"/>
                      </a:ext>
                    </a:extLst>
                  </p:cNvPr>
                  <p:cNvSpPr/>
                  <p:nvPr/>
                </p:nvSpPr>
                <p:spPr bwMode="auto">
                  <a:xfrm>
                    <a:off x="6549004" y="5225243"/>
                    <a:ext cx="317962" cy="310472"/>
                  </a:xfrm>
                  <a:custGeom>
                    <a:avLst/>
                    <a:gdLst>
                      <a:gd name="connsiteX0" fmla="*/ 476938 w 603678"/>
                      <a:gd name="connsiteY0" fmla="*/ 73576 h 589458"/>
                      <a:gd name="connsiteX1" fmla="*/ 498653 w 603678"/>
                      <a:gd name="connsiteY1" fmla="*/ 83242 h 589458"/>
                      <a:gd name="connsiteX2" fmla="*/ 594550 w 603678"/>
                      <a:gd name="connsiteY2" fmla="*/ 178985 h 589458"/>
                      <a:gd name="connsiteX3" fmla="*/ 594550 w 603678"/>
                      <a:gd name="connsiteY3" fmla="*/ 221701 h 589458"/>
                      <a:gd name="connsiteX4" fmla="*/ 498653 w 603678"/>
                      <a:gd name="connsiteY4" fmla="*/ 317444 h 589458"/>
                      <a:gd name="connsiteX5" fmla="*/ 455499 w 603678"/>
                      <a:gd name="connsiteY5" fmla="*/ 317812 h 589458"/>
                      <a:gd name="connsiteX6" fmla="*/ 456237 w 603678"/>
                      <a:gd name="connsiteY6" fmla="*/ 274728 h 589458"/>
                      <a:gd name="connsiteX7" fmla="*/ 499759 w 603678"/>
                      <a:gd name="connsiteY7" fmla="*/ 232012 h 589458"/>
                      <a:gd name="connsiteX8" fmla="*/ 331940 w 603678"/>
                      <a:gd name="connsiteY8" fmla="*/ 232012 h 589458"/>
                      <a:gd name="connsiteX9" fmla="*/ 309810 w 603678"/>
                      <a:gd name="connsiteY9" fmla="*/ 222069 h 589458"/>
                      <a:gd name="connsiteX10" fmla="*/ 317187 w 603678"/>
                      <a:gd name="connsiteY10" fmla="*/ 171620 h 589458"/>
                      <a:gd name="connsiteX11" fmla="*/ 331940 w 603678"/>
                      <a:gd name="connsiteY11" fmla="*/ 167570 h 589458"/>
                      <a:gd name="connsiteX12" fmla="*/ 499759 w 603678"/>
                      <a:gd name="connsiteY12" fmla="*/ 167570 h 589458"/>
                      <a:gd name="connsiteX13" fmla="*/ 456237 w 603678"/>
                      <a:gd name="connsiteY13" fmla="*/ 124854 h 589458"/>
                      <a:gd name="connsiteX14" fmla="*/ 455499 w 603678"/>
                      <a:gd name="connsiteY14" fmla="*/ 82138 h 589458"/>
                      <a:gd name="connsiteX15" fmla="*/ 476938 w 603678"/>
                      <a:gd name="connsiteY15" fmla="*/ 73576 h 589458"/>
                      <a:gd name="connsiteX16" fmla="*/ 29506 w 603678"/>
                      <a:gd name="connsiteY16" fmla="*/ 0 h 589458"/>
                      <a:gd name="connsiteX17" fmla="*/ 393533 w 603678"/>
                      <a:gd name="connsiteY17" fmla="*/ 0 h 589458"/>
                      <a:gd name="connsiteX18" fmla="*/ 423039 w 603678"/>
                      <a:gd name="connsiteY18" fmla="*/ 29460 h 589458"/>
                      <a:gd name="connsiteX19" fmla="*/ 423039 w 603678"/>
                      <a:gd name="connsiteY19" fmla="*/ 131099 h 589458"/>
                      <a:gd name="connsiteX20" fmla="*/ 423039 w 603678"/>
                      <a:gd name="connsiteY20" fmla="*/ 131835 h 589458"/>
                      <a:gd name="connsiteX21" fmla="*/ 364028 w 603678"/>
                      <a:gd name="connsiteY21" fmla="*/ 131835 h 589458"/>
                      <a:gd name="connsiteX22" fmla="*/ 364028 w 603678"/>
                      <a:gd name="connsiteY22" fmla="*/ 73651 h 589458"/>
                      <a:gd name="connsiteX23" fmla="*/ 349275 w 603678"/>
                      <a:gd name="connsiteY23" fmla="*/ 58921 h 589458"/>
                      <a:gd name="connsiteX24" fmla="*/ 113966 w 603678"/>
                      <a:gd name="connsiteY24" fmla="*/ 58921 h 589458"/>
                      <a:gd name="connsiteX25" fmla="*/ 246373 w 603678"/>
                      <a:gd name="connsiteY25" fmla="*/ 126680 h 589458"/>
                      <a:gd name="connsiteX26" fmla="*/ 262232 w 603678"/>
                      <a:gd name="connsiteY26" fmla="*/ 152826 h 589458"/>
                      <a:gd name="connsiteX27" fmla="*/ 262232 w 603678"/>
                      <a:gd name="connsiteY27" fmla="*/ 155772 h 589458"/>
                      <a:gd name="connsiteX28" fmla="*/ 262232 w 603678"/>
                      <a:gd name="connsiteY28" fmla="*/ 251518 h 589458"/>
                      <a:gd name="connsiteX29" fmla="*/ 262232 w 603678"/>
                      <a:gd name="connsiteY29" fmla="*/ 402871 h 589458"/>
                      <a:gd name="connsiteX30" fmla="*/ 349275 w 603678"/>
                      <a:gd name="connsiteY30" fmla="*/ 402871 h 589458"/>
                      <a:gd name="connsiteX31" fmla="*/ 364028 w 603678"/>
                      <a:gd name="connsiteY31" fmla="*/ 388141 h 589458"/>
                      <a:gd name="connsiteX32" fmla="*/ 364028 w 603678"/>
                      <a:gd name="connsiteY32" fmla="*/ 271036 h 589458"/>
                      <a:gd name="connsiteX33" fmla="*/ 423039 w 603678"/>
                      <a:gd name="connsiteY33" fmla="*/ 271036 h 589458"/>
                      <a:gd name="connsiteX34" fmla="*/ 423039 w 603678"/>
                      <a:gd name="connsiteY34" fmla="*/ 432332 h 589458"/>
                      <a:gd name="connsiteX35" fmla="*/ 393533 w 603678"/>
                      <a:gd name="connsiteY35" fmla="*/ 461792 h 589458"/>
                      <a:gd name="connsiteX36" fmla="*/ 261495 w 603678"/>
                      <a:gd name="connsiteY36" fmla="*/ 461792 h 589458"/>
                      <a:gd name="connsiteX37" fmla="*/ 261495 w 603678"/>
                      <a:gd name="connsiteY37" fmla="*/ 574478 h 589458"/>
                      <a:gd name="connsiteX38" fmla="*/ 240103 w 603678"/>
                      <a:gd name="connsiteY38" fmla="*/ 587735 h 589458"/>
                      <a:gd name="connsiteX39" fmla="*/ 15859 w 603678"/>
                      <a:gd name="connsiteY39" fmla="*/ 472103 h 589458"/>
                      <a:gd name="connsiteX40" fmla="*/ 0 w 603678"/>
                      <a:gd name="connsiteY40" fmla="*/ 445957 h 589458"/>
                      <a:gd name="connsiteX41" fmla="*/ 0 w 603678"/>
                      <a:gd name="connsiteY41" fmla="*/ 432700 h 589458"/>
                      <a:gd name="connsiteX42" fmla="*/ 0 w 603678"/>
                      <a:gd name="connsiteY42" fmla="*/ 48610 h 589458"/>
                      <a:gd name="connsiteX43" fmla="*/ 0 w 603678"/>
                      <a:gd name="connsiteY43" fmla="*/ 29460 h 589458"/>
                      <a:gd name="connsiteX44" fmla="*/ 29506 w 603678"/>
                      <a:gd name="connsiteY44" fmla="*/ 0 h 58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3678" h="589458">
                        <a:moveTo>
                          <a:pt x="476938" y="73576"/>
                        </a:moveTo>
                        <a:cubicBezTo>
                          <a:pt x="484729" y="73760"/>
                          <a:pt x="492567" y="76982"/>
                          <a:pt x="498653" y="83242"/>
                        </a:cubicBezTo>
                        <a:lnTo>
                          <a:pt x="594550" y="178985"/>
                        </a:lnTo>
                        <a:cubicBezTo>
                          <a:pt x="606721" y="191137"/>
                          <a:pt x="606721" y="209181"/>
                          <a:pt x="594550" y="221701"/>
                        </a:cubicBezTo>
                        <a:lnTo>
                          <a:pt x="498653" y="317444"/>
                        </a:lnTo>
                        <a:cubicBezTo>
                          <a:pt x="486481" y="329596"/>
                          <a:pt x="467671" y="329964"/>
                          <a:pt x="455499" y="317812"/>
                        </a:cubicBezTo>
                        <a:cubicBezTo>
                          <a:pt x="443697" y="306028"/>
                          <a:pt x="445172" y="286512"/>
                          <a:pt x="456237" y="274728"/>
                        </a:cubicBezTo>
                        <a:lnTo>
                          <a:pt x="499759" y="232012"/>
                        </a:lnTo>
                        <a:lnTo>
                          <a:pt x="331940" y="232012"/>
                        </a:lnTo>
                        <a:cubicBezTo>
                          <a:pt x="323457" y="232012"/>
                          <a:pt x="315342" y="228329"/>
                          <a:pt x="309810" y="222069"/>
                        </a:cubicBezTo>
                        <a:cubicBezTo>
                          <a:pt x="296163" y="207340"/>
                          <a:pt x="299483" y="181195"/>
                          <a:pt x="317187" y="171620"/>
                        </a:cubicBezTo>
                        <a:cubicBezTo>
                          <a:pt x="321613" y="169043"/>
                          <a:pt x="327145" y="167570"/>
                          <a:pt x="331940" y="167570"/>
                        </a:cubicBezTo>
                        <a:lnTo>
                          <a:pt x="499759" y="167570"/>
                        </a:lnTo>
                        <a:cubicBezTo>
                          <a:pt x="499759" y="167570"/>
                          <a:pt x="456975" y="124854"/>
                          <a:pt x="456237" y="124854"/>
                        </a:cubicBezTo>
                        <a:cubicBezTo>
                          <a:pt x="445172" y="113438"/>
                          <a:pt x="443697" y="93553"/>
                          <a:pt x="455499" y="82138"/>
                        </a:cubicBezTo>
                        <a:cubicBezTo>
                          <a:pt x="461401" y="76246"/>
                          <a:pt x="469146" y="73392"/>
                          <a:pt x="476938" y="73576"/>
                        </a:cubicBezTo>
                        <a:close/>
                        <a:moveTo>
                          <a:pt x="29506" y="0"/>
                        </a:moveTo>
                        <a:lnTo>
                          <a:pt x="393533" y="0"/>
                        </a:lnTo>
                        <a:cubicBezTo>
                          <a:pt x="409761" y="0"/>
                          <a:pt x="423039" y="13257"/>
                          <a:pt x="423039" y="29460"/>
                        </a:cubicBezTo>
                        <a:lnTo>
                          <a:pt x="423039" y="131099"/>
                        </a:lnTo>
                        <a:lnTo>
                          <a:pt x="423039" y="131835"/>
                        </a:lnTo>
                        <a:lnTo>
                          <a:pt x="364028" y="131835"/>
                        </a:lnTo>
                        <a:lnTo>
                          <a:pt x="364028" y="73651"/>
                        </a:lnTo>
                        <a:cubicBezTo>
                          <a:pt x="364028" y="65549"/>
                          <a:pt x="357389" y="58921"/>
                          <a:pt x="349275" y="58921"/>
                        </a:cubicBezTo>
                        <a:lnTo>
                          <a:pt x="113966" y="58921"/>
                        </a:lnTo>
                        <a:lnTo>
                          <a:pt x="246373" y="126680"/>
                        </a:lnTo>
                        <a:cubicBezTo>
                          <a:pt x="255594" y="131835"/>
                          <a:pt x="262232" y="142147"/>
                          <a:pt x="262232" y="152826"/>
                        </a:cubicBezTo>
                        <a:lnTo>
                          <a:pt x="262232" y="155772"/>
                        </a:lnTo>
                        <a:lnTo>
                          <a:pt x="262232" y="251518"/>
                        </a:lnTo>
                        <a:lnTo>
                          <a:pt x="262232" y="402871"/>
                        </a:lnTo>
                        <a:lnTo>
                          <a:pt x="349275" y="402871"/>
                        </a:lnTo>
                        <a:cubicBezTo>
                          <a:pt x="357389" y="402871"/>
                          <a:pt x="364028" y="396243"/>
                          <a:pt x="364028" y="388141"/>
                        </a:cubicBezTo>
                        <a:lnTo>
                          <a:pt x="364028" y="271036"/>
                        </a:lnTo>
                        <a:lnTo>
                          <a:pt x="423039" y="271036"/>
                        </a:lnTo>
                        <a:lnTo>
                          <a:pt x="423039" y="432332"/>
                        </a:lnTo>
                        <a:cubicBezTo>
                          <a:pt x="423039" y="448535"/>
                          <a:pt x="409761" y="461792"/>
                          <a:pt x="393533" y="461792"/>
                        </a:cubicBezTo>
                        <a:lnTo>
                          <a:pt x="261495" y="461792"/>
                        </a:lnTo>
                        <a:lnTo>
                          <a:pt x="261495" y="574478"/>
                        </a:lnTo>
                        <a:cubicBezTo>
                          <a:pt x="261495" y="585894"/>
                          <a:pt x="249693" y="592891"/>
                          <a:pt x="240103" y="587735"/>
                        </a:cubicBezTo>
                        <a:lnTo>
                          <a:pt x="15859" y="472103"/>
                        </a:lnTo>
                        <a:cubicBezTo>
                          <a:pt x="6270" y="466948"/>
                          <a:pt x="0" y="456637"/>
                          <a:pt x="0" y="445957"/>
                        </a:cubicBezTo>
                        <a:lnTo>
                          <a:pt x="0" y="432700"/>
                        </a:lnTo>
                        <a:lnTo>
                          <a:pt x="0" y="48610"/>
                        </a:lnTo>
                        <a:lnTo>
                          <a:pt x="0" y="29460"/>
                        </a:lnTo>
                        <a:cubicBezTo>
                          <a:pt x="0" y="13257"/>
                          <a:pt x="13278" y="0"/>
                          <a:pt x="29506" y="0"/>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sz="1000"/>
                  </a:p>
                </p:txBody>
              </p:sp>
            </p:grpSp>
          </p:grpSp>
          <p:sp>
            <p:nvSpPr>
              <p:cNvPr id="14" name="íṧ1ïḑê">
                <a:extLst>
                  <a:ext uri="{FF2B5EF4-FFF2-40B4-BE49-F238E27FC236}">
                    <a16:creationId xmlns:a16="http://schemas.microsoft.com/office/drawing/2014/main" id="{4C3595DC-4C15-E552-3686-139723A72CC6}"/>
                  </a:ext>
                </a:extLst>
              </p:cNvPr>
              <p:cNvSpPr/>
              <p:nvPr/>
            </p:nvSpPr>
            <p:spPr>
              <a:xfrm>
                <a:off x="3698799" y="3529018"/>
                <a:ext cx="199446" cy="199446"/>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sz="700" b="1" i="1" dirty="0">
                  <a:solidFill>
                    <a:schemeClr val="accent1"/>
                  </a:solidFill>
                </a:endParaRPr>
              </a:p>
            </p:txBody>
          </p:sp>
        </p:grpSp>
      </p:grpSp>
    </p:spTree>
    <p:extLst>
      <p:ext uri="{BB962C8B-B14F-4D97-AF65-F5344CB8AC3E}">
        <p14:creationId xmlns:p14="http://schemas.microsoft.com/office/powerpoint/2010/main" val="2382334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en-US" altLang="zh-CN" dirty="0"/>
              <a:t>4-2 </a:t>
            </a:r>
            <a:r>
              <a:rPr kumimoji="1" lang="zh-CN" altLang="en-US" dirty="0"/>
              <a:t>参与制定业务标准</a:t>
            </a:r>
          </a:p>
        </p:txBody>
      </p:sp>
    </p:spTree>
    <p:extLst>
      <p:ext uri="{BB962C8B-B14F-4D97-AF65-F5344CB8AC3E}">
        <p14:creationId xmlns:p14="http://schemas.microsoft.com/office/powerpoint/2010/main" val="2258165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en-US" altLang="zh-CN" dirty="0"/>
              <a:t>4-3 </a:t>
            </a:r>
            <a:r>
              <a:rPr kumimoji="1" lang="zh-CN" altLang="en-US" dirty="0"/>
              <a:t>参与业务流程梳理</a:t>
            </a:r>
          </a:p>
        </p:txBody>
      </p:sp>
      <p:sp>
        <p:nvSpPr>
          <p:cNvPr id="3" name="内容占位符 1">
            <a:extLst>
              <a:ext uri="{FF2B5EF4-FFF2-40B4-BE49-F238E27FC236}">
                <a16:creationId xmlns:a16="http://schemas.microsoft.com/office/drawing/2014/main" id="{00395294-20B8-439B-B7F7-777507470D42}"/>
              </a:ext>
            </a:extLst>
          </p:cNvPr>
          <p:cNvSpPr txBox="1">
            <a:spLocks/>
          </p:cNvSpPr>
          <p:nvPr/>
        </p:nvSpPr>
        <p:spPr>
          <a:xfrm>
            <a:off x="398094" y="653149"/>
            <a:ext cx="11609027" cy="6786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9230" indent="-189230">
              <a:lnSpc>
                <a:spcPct val="150000"/>
              </a:lnSpc>
              <a:spcBef>
                <a:spcPts val="0"/>
              </a:spcBef>
            </a:pPr>
            <a:r>
              <a:rPr lang="zh-CN" altLang="en-US" sz="1600" dirty="0">
                <a:solidFill>
                  <a:prstClr val="black"/>
                </a:solidFill>
              </a:rPr>
              <a:t>关键用户需要配合业务顾问完成业务流程的梳理工作，完成业务流程的说明编写，熟悉业务流程设计的思路以及所带来的的管理提升。</a:t>
            </a:r>
            <a:endParaRPr lang="en-US" altLang="zh-CN" sz="1600" dirty="0">
              <a:solidFill>
                <a:prstClr val="black"/>
              </a:solidFill>
            </a:endParaRPr>
          </a:p>
          <a:p>
            <a:pPr marL="189230" indent="-189230">
              <a:lnSpc>
                <a:spcPct val="150000"/>
              </a:lnSpc>
              <a:spcBef>
                <a:spcPts val="0"/>
              </a:spcBef>
            </a:pPr>
            <a:r>
              <a:rPr lang="zh-CN" altLang="en-US" sz="1600" dirty="0">
                <a:solidFill>
                  <a:prstClr val="black"/>
                </a:solidFill>
              </a:rPr>
              <a:t>关键用户需结合本公司的实际业务情况，对未来流程提出建设性意见，并</a:t>
            </a:r>
            <a:r>
              <a:rPr lang="zh-CN" altLang="en-US" sz="1600" dirty="0"/>
              <a:t>明确审批流程中各个节点的审批事项</a:t>
            </a:r>
            <a:r>
              <a:rPr lang="en-US" altLang="zh-CN" sz="1600" dirty="0"/>
              <a:t>.</a:t>
            </a:r>
          </a:p>
        </p:txBody>
      </p:sp>
      <p:grpSp>
        <p:nvGrpSpPr>
          <p:cNvPr id="2" name="组合 1">
            <a:extLst>
              <a:ext uri="{FF2B5EF4-FFF2-40B4-BE49-F238E27FC236}">
                <a16:creationId xmlns:a16="http://schemas.microsoft.com/office/drawing/2014/main" id="{82A426C5-63BB-F77C-2C30-3884B07E5AA6}"/>
              </a:ext>
            </a:extLst>
          </p:cNvPr>
          <p:cNvGrpSpPr/>
          <p:nvPr/>
        </p:nvGrpSpPr>
        <p:grpSpPr>
          <a:xfrm>
            <a:off x="398094" y="1914525"/>
            <a:ext cx="11336706" cy="4352926"/>
            <a:chOff x="304404" y="2050938"/>
            <a:chExt cx="9291659" cy="4381435"/>
          </a:xfrm>
        </p:grpSpPr>
        <p:pic>
          <p:nvPicPr>
            <p:cNvPr id="5" name="Picture 8">
              <a:extLst>
                <a:ext uri="{FF2B5EF4-FFF2-40B4-BE49-F238E27FC236}">
                  <a16:creationId xmlns:a16="http://schemas.microsoft.com/office/drawing/2014/main" id="{AE6A7A5E-7CCD-3A7D-CB32-F38A1AD085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908" y="4571418"/>
              <a:ext cx="2391477" cy="1267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a:extLst>
                <a:ext uri="{FF2B5EF4-FFF2-40B4-BE49-F238E27FC236}">
                  <a16:creationId xmlns:a16="http://schemas.microsoft.com/office/drawing/2014/main" id="{7618D559-0F5D-C9B8-77B1-4F583994F9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4157" y="5058450"/>
              <a:ext cx="2474339" cy="1311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30">
              <a:extLst>
                <a:ext uri="{FF2B5EF4-FFF2-40B4-BE49-F238E27FC236}">
                  <a16:creationId xmlns:a16="http://schemas.microsoft.com/office/drawing/2014/main" id="{04FDC28F-5442-D425-52B8-71B83771BBDA}"/>
                </a:ext>
              </a:extLst>
            </p:cNvPr>
            <p:cNvSpPr/>
            <p:nvPr/>
          </p:nvSpPr>
          <p:spPr bwMode="auto">
            <a:xfrm>
              <a:off x="1468774" y="4571418"/>
              <a:ext cx="1258899" cy="233268"/>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200" dirty="0">
                  <a:latin typeface="微软雅黑" pitchFamily="34" charset="-122"/>
                  <a:ea typeface="微软雅黑" pitchFamily="34" charset="-122"/>
                  <a:cs typeface="Arial" charset="0"/>
                </a:rPr>
                <a:t>项目付款流程</a:t>
              </a:r>
              <a:endParaRPr lang="en-US" sz="1200" dirty="0">
                <a:latin typeface="微软雅黑" pitchFamily="34" charset="-122"/>
                <a:ea typeface="微软雅黑" pitchFamily="34" charset="-122"/>
              </a:endParaRPr>
            </a:p>
          </p:txBody>
        </p:sp>
        <p:sp>
          <p:nvSpPr>
            <p:cNvPr id="8" name="Rectangle 130">
              <a:extLst>
                <a:ext uri="{FF2B5EF4-FFF2-40B4-BE49-F238E27FC236}">
                  <a16:creationId xmlns:a16="http://schemas.microsoft.com/office/drawing/2014/main" id="{27932AE5-3129-C8F2-1D4B-4950EAD40DA0}"/>
                </a:ext>
              </a:extLst>
            </p:cNvPr>
            <p:cNvSpPr/>
            <p:nvPr/>
          </p:nvSpPr>
          <p:spPr bwMode="auto">
            <a:xfrm>
              <a:off x="1825952" y="4886013"/>
              <a:ext cx="1504457" cy="233268"/>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200" dirty="0">
                  <a:latin typeface="微软雅黑" pitchFamily="34" charset="-122"/>
                  <a:ea typeface="微软雅黑" pitchFamily="34" charset="-122"/>
                  <a:cs typeface="Arial" charset="0"/>
                </a:rPr>
                <a:t>项目计划编制流程</a:t>
              </a:r>
              <a:endParaRPr lang="en-US" sz="1200" dirty="0">
                <a:latin typeface="微软雅黑" pitchFamily="34" charset="-122"/>
                <a:ea typeface="微软雅黑" pitchFamily="34" charset="-122"/>
              </a:endParaRPr>
            </a:p>
          </p:txBody>
        </p:sp>
        <p:sp>
          <p:nvSpPr>
            <p:cNvPr id="9" name="Rectangle 130">
              <a:extLst>
                <a:ext uri="{FF2B5EF4-FFF2-40B4-BE49-F238E27FC236}">
                  <a16:creationId xmlns:a16="http://schemas.microsoft.com/office/drawing/2014/main" id="{A8449E55-F9A9-AC55-7F6C-A250EB81F186}"/>
                </a:ext>
              </a:extLst>
            </p:cNvPr>
            <p:cNvSpPr/>
            <p:nvPr/>
          </p:nvSpPr>
          <p:spPr bwMode="auto">
            <a:xfrm>
              <a:off x="2254900" y="5232070"/>
              <a:ext cx="1504457" cy="233268"/>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200" dirty="0">
                  <a:latin typeface="微软雅黑" pitchFamily="34" charset="-122"/>
                  <a:ea typeface="微软雅黑" pitchFamily="34" charset="-122"/>
                  <a:cs typeface="Arial" charset="0"/>
                </a:rPr>
                <a:t>项目质量检查流程</a:t>
              </a:r>
              <a:endParaRPr lang="en-US" sz="1200" dirty="0">
                <a:latin typeface="微软雅黑" pitchFamily="34" charset="-122"/>
                <a:ea typeface="微软雅黑" pitchFamily="34" charset="-122"/>
              </a:endParaRPr>
            </a:p>
          </p:txBody>
        </p:sp>
        <p:sp>
          <p:nvSpPr>
            <p:cNvPr id="10" name="AutoShape 13">
              <a:extLst>
                <a:ext uri="{FF2B5EF4-FFF2-40B4-BE49-F238E27FC236}">
                  <a16:creationId xmlns:a16="http://schemas.microsoft.com/office/drawing/2014/main" id="{475A84C6-FA6C-6CCF-8C29-C9E001FA07F0}"/>
                </a:ext>
              </a:extLst>
            </p:cNvPr>
            <p:cNvSpPr>
              <a:spLocks noChangeArrowheads="1"/>
            </p:cNvSpPr>
            <p:nvPr/>
          </p:nvSpPr>
          <p:spPr bwMode="auto">
            <a:xfrm rot="10800000">
              <a:off x="1377113" y="4287640"/>
              <a:ext cx="2535238" cy="211644"/>
            </a:xfrm>
            <a:prstGeom prst="triangle">
              <a:avLst>
                <a:gd name="adj" fmla="val 50000"/>
              </a:avLst>
            </a:prstGeom>
            <a:solidFill>
              <a:schemeClr val="accent5">
                <a:lumMod val="40000"/>
                <a:lumOff val="60000"/>
              </a:scheme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4461FB40-9DE8-8DE5-14EA-E0B1E957084F}"/>
                </a:ext>
              </a:extLst>
            </p:cNvPr>
            <p:cNvPicPr preferRelativeResize="0">
              <a:picLocks/>
            </p:cNvPicPr>
            <p:nvPr/>
          </p:nvPicPr>
          <p:blipFill>
            <a:blip r:embed="rId3" cstate="print">
              <a:extLst>
                <a:ext uri="{28A0092B-C50C-407E-A947-70E740481C1C}">
                  <a14:useLocalDpi xmlns:a14="http://schemas.microsoft.com/office/drawing/2010/main" val="0"/>
                </a:ext>
              </a:extLst>
            </a:blip>
            <a:stretch>
              <a:fillRect/>
            </a:stretch>
          </p:blipFill>
          <p:spPr>
            <a:xfrm>
              <a:off x="1862131" y="4006642"/>
              <a:ext cx="107539" cy="69057"/>
            </a:xfrm>
            <a:prstGeom prst="rect">
              <a:avLst/>
            </a:prstGeom>
          </p:spPr>
        </p:pic>
        <p:pic>
          <p:nvPicPr>
            <p:cNvPr id="12" name="图片 11">
              <a:extLst>
                <a:ext uri="{FF2B5EF4-FFF2-40B4-BE49-F238E27FC236}">
                  <a16:creationId xmlns:a16="http://schemas.microsoft.com/office/drawing/2014/main" id="{84A38F2E-D307-271A-824B-AB909D11BED8}"/>
                </a:ext>
              </a:extLst>
            </p:cNvPr>
            <p:cNvPicPr>
              <a:picLocks noChangeAspect="1"/>
            </p:cNvPicPr>
            <p:nvPr/>
          </p:nvPicPr>
          <p:blipFill>
            <a:blip r:embed="rId4" cstate="print"/>
            <a:stretch>
              <a:fillRect/>
            </a:stretch>
          </p:blipFill>
          <p:spPr>
            <a:xfrm>
              <a:off x="617775" y="2603455"/>
              <a:ext cx="4021273" cy="1619714"/>
            </a:xfrm>
            <a:prstGeom prst="rect">
              <a:avLst/>
            </a:prstGeom>
          </p:spPr>
        </p:pic>
        <p:sp>
          <p:nvSpPr>
            <p:cNvPr id="13" name="右箭头 27">
              <a:extLst>
                <a:ext uri="{FF2B5EF4-FFF2-40B4-BE49-F238E27FC236}">
                  <a16:creationId xmlns:a16="http://schemas.microsoft.com/office/drawing/2014/main" id="{C40A37A6-D49F-31B4-C8A6-6EE04881382D}"/>
                </a:ext>
              </a:extLst>
            </p:cNvPr>
            <p:cNvSpPr/>
            <p:nvPr/>
          </p:nvSpPr>
          <p:spPr bwMode="auto">
            <a:xfrm>
              <a:off x="4874749" y="2946556"/>
              <a:ext cx="334991" cy="2431257"/>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headEnd/>
              <a:tailEnd/>
            </a:ln>
          </p:spPr>
          <p:style>
            <a:lnRef idx="1">
              <a:schemeClr val="dk1"/>
            </a:lnRef>
            <a:fillRef idx="2">
              <a:schemeClr val="dk1"/>
            </a:fillRef>
            <a:effectRef idx="1">
              <a:schemeClr val="dk1"/>
            </a:effectRef>
            <a:fontRef idx="minor">
              <a:schemeClr val="dk1"/>
            </a:fontRef>
          </p:style>
          <p:txBody>
            <a:bodyPr vert="horz" wrap="none" lIns="9144" tIns="9144" rIns="9144" bIns="9144" numCol="1" rtlCol="0" anchor="ctr" anchorCtr="0" compatLnSpc="1">
              <a:prstTxWarp prst="textNoShape">
                <a:avLst/>
              </a:prstTxWarp>
              <a:noAutofit/>
            </a:bodyPr>
            <a:lstStyle/>
            <a:p>
              <a:pPr algn="ctr" eaLnBrk="0" hangingPunct="0"/>
              <a:endParaRPr lang="zh-CN" altLang="en-US" sz="1400" b="0" dirty="0">
                <a:solidFill>
                  <a:prstClr val="black"/>
                </a:solidFill>
                <a:latin typeface="微软雅黑" pitchFamily="34" charset="-122"/>
                <a:ea typeface="微软雅黑" pitchFamily="34" charset="-122"/>
                <a:cs typeface="Times New Roman" pitchFamily="18" charset="0"/>
              </a:endParaRPr>
            </a:p>
          </p:txBody>
        </p:sp>
        <p:pic>
          <p:nvPicPr>
            <p:cNvPr id="14" name="图片 13">
              <a:extLst>
                <a:ext uri="{FF2B5EF4-FFF2-40B4-BE49-F238E27FC236}">
                  <a16:creationId xmlns:a16="http://schemas.microsoft.com/office/drawing/2014/main" id="{1F4417F9-B91A-5EFF-8A83-C3C3397617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38102" y="2367986"/>
              <a:ext cx="4114210" cy="2007164"/>
            </a:xfrm>
            <a:prstGeom prst="rect">
              <a:avLst/>
            </a:prstGeom>
            <a:ln>
              <a:solidFill>
                <a:schemeClr val="bg1">
                  <a:lumMod val="50000"/>
                </a:schemeClr>
              </a:solidFill>
            </a:ln>
          </p:spPr>
        </p:pic>
        <p:sp>
          <p:nvSpPr>
            <p:cNvPr id="15" name="Rectangle 19">
              <a:extLst>
                <a:ext uri="{FF2B5EF4-FFF2-40B4-BE49-F238E27FC236}">
                  <a16:creationId xmlns:a16="http://schemas.microsoft.com/office/drawing/2014/main" id="{7E670C93-E5F7-F10D-BC6D-79BB0A7E1847}"/>
                </a:ext>
              </a:extLst>
            </p:cNvPr>
            <p:cNvSpPr/>
            <p:nvPr/>
          </p:nvSpPr>
          <p:spPr>
            <a:xfrm>
              <a:off x="304404" y="2273300"/>
              <a:ext cx="4482666" cy="4159073"/>
            </a:xfrm>
            <a:prstGeom prst="rect">
              <a:avLst/>
            </a:prstGeom>
            <a:noFill/>
            <a:ln>
              <a:solidFill>
                <a:schemeClr val="bg1">
                  <a:lumMod val="50000"/>
                </a:schemeClr>
              </a:solidFill>
            </a:ln>
          </p:spPr>
          <p:txBody>
            <a:bodyPr rtlCol="0" anchor="ctr">
              <a:noAutofit/>
            </a:bodyPr>
            <a:lstStyle/>
            <a:p>
              <a:pPr algn="ctr"/>
              <a:endParaRPr lang="zh-CN" altLang="en-US" b="0" dirty="0">
                <a:latin typeface="微软雅黑" panose="020B0503020204020204" pitchFamily="34" charset="-122"/>
                <a:ea typeface="微软雅黑" panose="020B0503020204020204" pitchFamily="34" charset="-122"/>
              </a:endParaRPr>
            </a:p>
          </p:txBody>
        </p:sp>
        <p:sp>
          <p:nvSpPr>
            <p:cNvPr id="16" name="Rectangle 130">
              <a:extLst>
                <a:ext uri="{FF2B5EF4-FFF2-40B4-BE49-F238E27FC236}">
                  <a16:creationId xmlns:a16="http://schemas.microsoft.com/office/drawing/2014/main" id="{4EFEEBEB-4AD9-94DE-8584-3962D6F16BC1}"/>
                </a:ext>
              </a:extLst>
            </p:cNvPr>
            <p:cNvSpPr/>
            <p:nvPr/>
          </p:nvSpPr>
          <p:spPr bwMode="auto">
            <a:xfrm>
              <a:off x="1437984" y="2159644"/>
              <a:ext cx="2181516" cy="331022"/>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latin typeface="微软雅黑" pitchFamily="34" charset="-122"/>
                  <a:ea typeface="微软雅黑" pitchFamily="34" charset="-122"/>
                  <a:cs typeface="Arial" charset="0"/>
                </a:rPr>
                <a:t>工程项目管理总图</a:t>
              </a:r>
              <a:endParaRPr lang="en-US" sz="1400" dirty="0">
                <a:latin typeface="微软雅黑" pitchFamily="34" charset="-122"/>
                <a:ea typeface="微软雅黑" pitchFamily="34" charset="-122"/>
              </a:endParaRPr>
            </a:p>
          </p:txBody>
        </p:sp>
        <p:pic>
          <p:nvPicPr>
            <p:cNvPr id="17" name="Picture 6">
              <a:extLst>
                <a:ext uri="{FF2B5EF4-FFF2-40B4-BE49-F238E27FC236}">
                  <a16:creationId xmlns:a16="http://schemas.microsoft.com/office/drawing/2014/main" id="{ED69BC41-7E85-C076-FE3A-00BB716596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8103" y="4804686"/>
              <a:ext cx="4114209" cy="1606532"/>
            </a:xfrm>
            <a:prstGeom prst="rect">
              <a:avLst/>
            </a:prstGeom>
            <a:ln>
              <a:solidFill>
                <a:schemeClr val="bg1">
                  <a:lumMod val="50000"/>
                </a:schemeClr>
              </a:solidFill>
            </a:ln>
          </p:spPr>
        </p:pic>
        <p:sp>
          <p:nvSpPr>
            <p:cNvPr id="18" name="TextBox 7">
              <a:extLst>
                <a:ext uri="{FF2B5EF4-FFF2-40B4-BE49-F238E27FC236}">
                  <a16:creationId xmlns:a16="http://schemas.microsoft.com/office/drawing/2014/main" id="{D80D8951-292B-8473-91D2-F44280EECA7C}"/>
                </a:ext>
              </a:extLst>
            </p:cNvPr>
            <p:cNvSpPr txBox="1"/>
            <p:nvPr/>
          </p:nvSpPr>
          <p:spPr>
            <a:xfrm>
              <a:off x="5263549" y="2050938"/>
              <a:ext cx="4332514" cy="307777"/>
            </a:xfrm>
            <a:prstGeom prst="rect">
              <a:avLst/>
            </a:prstGeom>
            <a:noFill/>
          </p:spPr>
          <p:txBody>
            <a:bodyPr wrap="square" rtlCol="0">
              <a:spAutoFit/>
            </a:bodyPr>
            <a:lstStyle/>
            <a:p>
              <a:r>
                <a:rPr lang="en-US" altLang="zh-CN" sz="1400" b="1" dirty="0">
                  <a:solidFill>
                    <a:schemeClr val="accent5">
                      <a:lumMod val="75000"/>
                    </a:schemeClr>
                  </a:solidFill>
                  <a:latin typeface="微软雅黑" pitchFamily="34" charset="-122"/>
                  <a:ea typeface="微软雅黑" pitchFamily="34" charset="-122"/>
                </a:rPr>
                <a:t>01 </a:t>
              </a:r>
              <a:r>
                <a:rPr lang="zh-CN" altLang="en-US" sz="1400" b="1" dirty="0">
                  <a:solidFill>
                    <a:schemeClr val="accent5">
                      <a:lumMod val="75000"/>
                    </a:schemeClr>
                  </a:solidFill>
                  <a:latin typeface="微软雅黑" pitchFamily="34" charset="-122"/>
                  <a:ea typeface="微软雅黑" pitchFamily="34" charset="-122"/>
                </a:rPr>
                <a:t>未来系统管理流程梳理，提出合理化建议</a:t>
              </a:r>
            </a:p>
          </p:txBody>
        </p:sp>
        <p:sp>
          <p:nvSpPr>
            <p:cNvPr id="19" name="TextBox 28">
              <a:extLst>
                <a:ext uri="{FF2B5EF4-FFF2-40B4-BE49-F238E27FC236}">
                  <a16:creationId xmlns:a16="http://schemas.microsoft.com/office/drawing/2014/main" id="{8AD21EC5-1ACF-1F97-D044-401FAA9F6A01}"/>
                </a:ext>
              </a:extLst>
            </p:cNvPr>
            <p:cNvSpPr txBox="1"/>
            <p:nvPr/>
          </p:nvSpPr>
          <p:spPr>
            <a:xfrm>
              <a:off x="5263549" y="4496909"/>
              <a:ext cx="4332514" cy="307777"/>
            </a:xfrm>
            <a:prstGeom prst="rect">
              <a:avLst/>
            </a:prstGeom>
            <a:noFill/>
          </p:spPr>
          <p:txBody>
            <a:bodyPr wrap="square" rtlCol="0">
              <a:spAutoFit/>
            </a:bodyPr>
            <a:lstStyle/>
            <a:p>
              <a:r>
                <a:rPr lang="en-US" altLang="zh-CN" sz="1400" b="1" dirty="0">
                  <a:solidFill>
                    <a:schemeClr val="accent5">
                      <a:lumMod val="75000"/>
                    </a:schemeClr>
                  </a:solidFill>
                  <a:latin typeface="微软雅黑" pitchFamily="34" charset="-122"/>
                  <a:ea typeface="微软雅黑" pitchFamily="34" charset="-122"/>
                </a:rPr>
                <a:t>02  </a:t>
              </a:r>
              <a:r>
                <a:rPr lang="zh-CN" altLang="en-US" sz="1400" b="1" dirty="0">
                  <a:solidFill>
                    <a:schemeClr val="accent5">
                      <a:lumMod val="75000"/>
                    </a:schemeClr>
                  </a:solidFill>
                  <a:latin typeface="微软雅黑" pitchFamily="34" charset="-122"/>
                  <a:ea typeface="微软雅黑" pitchFamily="34" charset="-122"/>
                </a:rPr>
                <a:t>明确审批流程的各结点</a:t>
              </a:r>
            </a:p>
          </p:txBody>
        </p:sp>
        <p:grpSp>
          <p:nvGrpSpPr>
            <p:cNvPr id="20" name="Group 341">
              <a:extLst>
                <a:ext uri="{FF2B5EF4-FFF2-40B4-BE49-F238E27FC236}">
                  <a16:creationId xmlns:a16="http://schemas.microsoft.com/office/drawing/2014/main" id="{4A6F4FD8-B605-9D3A-7EE1-469880984317}"/>
                </a:ext>
              </a:extLst>
            </p:cNvPr>
            <p:cNvGrpSpPr>
              <a:grpSpLocks/>
            </p:cNvGrpSpPr>
            <p:nvPr/>
          </p:nvGrpSpPr>
          <p:grpSpPr bwMode="auto">
            <a:xfrm rot="2105008">
              <a:off x="8994295" y="2347270"/>
              <a:ext cx="556081" cy="281203"/>
              <a:chOff x="4669536" y="2004525"/>
              <a:chExt cx="991457" cy="298644"/>
            </a:xfrm>
          </p:grpSpPr>
          <p:cxnSp>
            <p:nvCxnSpPr>
              <p:cNvPr id="21" name="Straight Connector 338">
                <a:extLst>
                  <a:ext uri="{FF2B5EF4-FFF2-40B4-BE49-F238E27FC236}">
                    <a16:creationId xmlns:a16="http://schemas.microsoft.com/office/drawing/2014/main" id="{C2F9A03E-23AC-F270-7ED5-F78AFA6711E0}"/>
                  </a:ext>
                </a:extLst>
              </p:cNvPr>
              <p:cNvCxnSpPr>
                <a:cxnSpLocks noChangeShapeType="1"/>
              </p:cNvCxnSpPr>
              <p:nvPr/>
            </p:nvCxnSpPr>
            <p:spPr bwMode="auto">
              <a:xfrm>
                <a:off x="4685633" y="2004525"/>
                <a:ext cx="975360" cy="0"/>
              </a:xfrm>
              <a:prstGeom prst="line">
                <a:avLst/>
              </a:prstGeom>
              <a:noFill/>
              <a:ln w="19050" algn="ctr">
                <a:solidFill>
                  <a:srgbClr val="FF0000"/>
                </a:solidFill>
                <a:round/>
                <a:headEnd/>
                <a:tailEnd/>
              </a:ln>
            </p:spPr>
          </p:cxnSp>
          <p:cxnSp>
            <p:nvCxnSpPr>
              <p:cNvPr id="22" name="Straight Connector 339">
                <a:extLst>
                  <a:ext uri="{FF2B5EF4-FFF2-40B4-BE49-F238E27FC236}">
                    <a16:creationId xmlns:a16="http://schemas.microsoft.com/office/drawing/2014/main" id="{40B9F529-BB62-724E-1BC6-8EDC516EB6AF}"/>
                  </a:ext>
                </a:extLst>
              </p:cNvPr>
              <p:cNvCxnSpPr>
                <a:cxnSpLocks noChangeShapeType="1"/>
              </p:cNvCxnSpPr>
              <p:nvPr/>
            </p:nvCxnSpPr>
            <p:spPr bwMode="auto">
              <a:xfrm>
                <a:off x="4669536" y="2279904"/>
                <a:ext cx="975360" cy="0"/>
              </a:xfrm>
              <a:prstGeom prst="line">
                <a:avLst/>
              </a:prstGeom>
              <a:noFill/>
              <a:ln w="19050" algn="ctr">
                <a:solidFill>
                  <a:srgbClr val="FF0000"/>
                </a:solidFill>
                <a:round/>
                <a:headEnd/>
                <a:tailEnd/>
              </a:ln>
            </p:spPr>
          </p:cxnSp>
          <p:sp>
            <p:nvSpPr>
              <p:cNvPr id="23" name="TextBox 340">
                <a:extLst>
                  <a:ext uri="{FF2B5EF4-FFF2-40B4-BE49-F238E27FC236}">
                    <a16:creationId xmlns:a16="http://schemas.microsoft.com/office/drawing/2014/main" id="{74AA6967-13A7-05FB-88B8-00143478BD29}"/>
                  </a:ext>
                </a:extLst>
              </p:cNvPr>
              <p:cNvSpPr txBox="1">
                <a:spLocks noChangeArrowheads="1"/>
              </p:cNvSpPr>
              <p:nvPr/>
            </p:nvSpPr>
            <p:spPr bwMode="auto">
              <a:xfrm>
                <a:off x="4673164" y="2008989"/>
                <a:ext cx="938785" cy="294180"/>
              </a:xfrm>
              <a:prstGeom prst="rect">
                <a:avLst/>
              </a:prstGeom>
              <a:noFill/>
              <a:ln w="9525">
                <a:noFill/>
                <a:miter lim="800000"/>
                <a:headEnd/>
                <a:tailEnd/>
              </a:ln>
            </p:spPr>
            <p:txBody>
              <a:bodyPr>
                <a:spAutoFit/>
              </a:bodyPr>
              <a:lstStyle/>
              <a:p>
                <a:pPr algn="ctr"/>
                <a:r>
                  <a:rPr lang="zh-CN" altLang="en-US" sz="1200" dirty="0">
                    <a:solidFill>
                      <a:srgbClr val="FF0000"/>
                    </a:solidFill>
                    <a:latin typeface="微软雅黑" pitchFamily="34" charset="-122"/>
                    <a:ea typeface="微软雅黑" pitchFamily="34" charset="-122"/>
                  </a:rPr>
                  <a:t>示例</a:t>
                </a:r>
                <a:endParaRPr lang="en-US" sz="1200" dirty="0">
                  <a:solidFill>
                    <a:srgbClr val="FF0000"/>
                  </a:solidFill>
                  <a:latin typeface="微软雅黑" pitchFamily="34" charset="-122"/>
                  <a:ea typeface="微软雅黑" pitchFamily="34" charset="-122"/>
                </a:endParaRPr>
              </a:p>
            </p:txBody>
          </p:sp>
        </p:grpSp>
        <p:grpSp>
          <p:nvGrpSpPr>
            <p:cNvPr id="24" name="Group 341">
              <a:extLst>
                <a:ext uri="{FF2B5EF4-FFF2-40B4-BE49-F238E27FC236}">
                  <a16:creationId xmlns:a16="http://schemas.microsoft.com/office/drawing/2014/main" id="{940A5B35-031C-0DE5-8182-CC11591489BC}"/>
                </a:ext>
              </a:extLst>
            </p:cNvPr>
            <p:cNvGrpSpPr>
              <a:grpSpLocks/>
            </p:cNvGrpSpPr>
            <p:nvPr/>
          </p:nvGrpSpPr>
          <p:grpSpPr bwMode="auto">
            <a:xfrm rot="2105008">
              <a:off x="8969371" y="4705682"/>
              <a:ext cx="556081" cy="281203"/>
              <a:chOff x="4669536" y="2004525"/>
              <a:chExt cx="991457" cy="298644"/>
            </a:xfrm>
          </p:grpSpPr>
          <p:cxnSp>
            <p:nvCxnSpPr>
              <p:cNvPr id="25" name="Straight Connector 338">
                <a:extLst>
                  <a:ext uri="{FF2B5EF4-FFF2-40B4-BE49-F238E27FC236}">
                    <a16:creationId xmlns:a16="http://schemas.microsoft.com/office/drawing/2014/main" id="{B937D77F-4339-10C0-D061-AC644CD19683}"/>
                  </a:ext>
                </a:extLst>
              </p:cNvPr>
              <p:cNvCxnSpPr>
                <a:cxnSpLocks noChangeShapeType="1"/>
              </p:cNvCxnSpPr>
              <p:nvPr/>
            </p:nvCxnSpPr>
            <p:spPr bwMode="auto">
              <a:xfrm>
                <a:off x="4685633" y="2004525"/>
                <a:ext cx="975360" cy="0"/>
              </a:xfrm>
              <a:prstGeom prst="line">
                <a:avLst/>
              </a:prstGeom>
              <a:noFill/>
              <a:ln w="19050" algn="ctr">
                <a:solidFill>
                  <a:srgbClr val="FF0000"/>
                </a:solidFill>
                <a:round/>
                <a:headEnd/>
                <a:tailEnd/>
              </a:ln>
            </p:spPr>
          </p:cxnSp>
          <p:cxnSp>
            <p:nvCxnSpPr>
              <p:cNvPr id="26" name="Straight Connector 339">
                <a:extLst>
                  <a:ext uri="{FF2B5EF4-FFF2-40B4-BE49-F238E27FC236}">
                    <a16:creationId xmlns:a16="http://schemas.microsoft.com/office/drawing/2014/main" id="{E3B6D1AD-8B33-BE3D-4D50-D26EFA338E1D}"/>
                  </a:ext>
                </a:extLst>
              </p:cNvPr>
              <p:cNvCxnSpPr>
                <a:cxnSpLocks noChangeShapeType="1"/>
              </p:cNvCxnSpPr>
              <p:nvPr/>
            </p:nvCxnSpPr>
            <p:spPr bwMode="auto">
              <a:xfrm>
                <a:off x="4669536" y="2279904"/>
                <a:ext cx="975360" cy="0"/>
              </a:xfrm>
              <a:prstGeom prst="line">
                <a:avLst/>
              </a:prstGeom>
              <a:noFill/>
              <a:ln w="19050" algn="ctr">
                <a:solidFill>
                  <a:srgbClr val="FF0000"/>
                </a:solidFill>
                <a:round/>
                <a:headEnd/>
                <a:tailEnd/>
              </a:ln>
            </p:spPr>
          </p:cxnSp>
          <p:sp>
            <p:nvSpPr>
              <p:cNvPr id="27" name="TextBox 340">
                <a:extLst>
                  <a:ext uri="{FF2B5EF4-FFF2-40B4-BE49-F238E27FC236}">
                    <a16:creationId xmlns:a16="http://schemas.microsoft.com/office/drawing/2014/main" id="{CDE6E319-78A2-4B36-5AA0-04ED4BBB5363}"/>
                  </a:ext>
                </a:extLst>
              </p:cNvPr>
              <p:cNvSpPr txBox="1">
                <a:spLocks noChangeArrowheads="1"/>
              </p:cNvSpPr>
              <p:nvPr/>
            </p:nvSpPr>
            <p:spPr bwMode="auto">
              <a:xfrm>
                <a:off x="4673164" y="2008989"/>
                <a:ext cx="938785" cy="294180"/>
              </a:xfrm>
              <a:prstGeom prst="rect">
                <a:avLst/>
              </a:prstGeom>
              <a:noFill/>
              <a:ln w="9525">
                <a:noFill/>
                <a:miter lim="800000"/>
                <a:headEnd/>
                <a:tailEnd/>
              </a:ln>
            </p:spPr>
            <p:txBody>
              <a:bodyPr>
                <a:spAutoFit/>
              </a:bodyPr>
              <a:lstStyle/>
              <a:p>
                <a:pPr algn="ctr"/>
                <a:r>
                  <a:rPr lang="zh-CN" altLang="en-US" sz="1200" dirty="0">
                    <a:solidFill>
                      <a:srgbClr val="FF0000"/>
                    </a:solidFill>
                    <a:latin typeface="微软雅黑" pitchFamily="34" charset="-122"/>
                    <a:ea typeface="微软雅黑" pitchFamily="34" charset="-122"/>
                  </a:rPr>
                  <a:t>示例</a:t>
                </a:r>
                <a:endParaRPr lang="en-US" sz="1200" dirty="0">
                  <a:solidFill>
                    <a:srgbClr val="FF0000"/>
                  </a:solidFill>
                  <a:latin typeface="微软雅黑" pitchFamily="34" charset="-122"/>
                  <a:ea typeface="微软雅黑" pitchFamily="34" charset="-122"/>
                </a:endParaRPr>
              </a:p>
            </p:txBody>
          </p:sp>
        </p:grpSp>
        <p:grpSp>
          <p:nvGrpSpPr>
            <p:cNvPr id="28" name="Group 341">
              <a:extLst>
                <a:ext uri="{FF2B5EF4-FFF2-40B4-BE49-F238E27FC236}">
                  <a16:creationId xmlns:a16="http://schemas.microsoft.com/office/drawing/2014/main" id="{74443CD2-3967-B0BB-4B2D-7AF9F175C3ED}"/>
                </a:ext>
              </a:extLst>
            </p:cNvPr>
            <p:cNvGrpSpPr>
              <a:grpSpLocks/>
            </p:cNvGrpSpPr>
            <p:nvPr/>
          </p:nvGrpSpPr>
          <p:grpSpPr bwMode="auto">
            <a:xfrm rot="2105008">
              <a:off x="4285157" y="2289846"/>
              <a:ext cx="556081" cy="281203"/>
              <a:chOff x="4669536" y="2004525"/>
              <a:chExt cx="991457" cy="298644"/>
            </a:xfrm>
          </p:grpSpPr>
          <p:cxnSp>
            <p:nvCxnSpPr>
              <p:cNvPr id="29" name="Straight Connector 338">
                <a:extLst>
                  <a:ext uri="{FF2B5EF4-FFF2-40B4-BE49-F238E27FC236}">
                    <a16:creationId xmlns:a16="http://schemas.microsoft.com/office/drawing/2014/main" id="{EC96E15D-4CC1-FCA1-95BF-7F4016909D00}"/>
                  </a:ext>
                </a:extLst>
              </p:cNvPr>
              <p:cNvCxnSpPr>
                <a:cxnSpLocks noChangeShapeType="1"/>
              </p:cNvCxnSpPr>
              <p:nvPr/>
            </p:nvCxnSpPr>
            <p:spPr bwMode="auto">
              <a:xfrm>
                <a:off x="4685633" y="2004525"/>
                <a:ext cx="975360" cy="0"/>
              </a:xfrm>
              <a:prstGeom prst="line">
                <a:avLst/>
              </a:prstGeom>
              <a:noFill/>
              <a:ln w="19050" algn="ctr">
                <a:solidFill>
                  <a:srgbClr val="FF0000"/>
                </a:solidFill>
                <a:round/>
                <a:headEnd/>
                <a:tailEnd/>
              </a:ln>
            </p:spPr>
          </p:cxnSp>
          <p:cxnSp>
            <p:nvCxnSpPr>
              <p:cNvPr id="30" name="Straight Connector 339">
                <a:extLst>
                  <a:ext uri="{FF2B5EF4-FFF2-40B4-BE49-F238E27FC236}">
                    <a16:creationId xmlns:a16="http://schemas.microsoft.com/office/drawing/2014/main" id="{E94C0F62-6A66-8AE7-C01A-211A91C6CDBE}"/>
                  </a:ext>
                </a:extLst>
              </p:cNvPr>
              <p:cNvCxnSpPr>
                <a:cxnSpLocks noChangeShapeType="1"/>
              </p:cNvCxnSpPr>
              <p:nvPr/>
            </p:nvCxnSpPr>
            <p:spPr bwMode="auto">
              <a:xfrm>
                <a:off x="4669536" y="2279904"/>
                <a:ext cx="975360" cy="0"/>
              </a:xfrm>
              <a:prstGeom prst="line">
                <a:avLst/>
              </a:prstGeom>
              <a:noFill/>
              <a:ln w="19050" algn="ctr">
                <a:solidFill>
                  <a:srgbClr val="FF0000"/>
                </a:solidFill>
                <a:round/>
                <a:headEnd/>
                <a:tailEnd/>
              </a:ln>
            </p:spPr>
          </p:cxnSp>
          <p:sp>
            <p:nvSpPr>
              <p:cNvPr id="31" name="TextBox 340">
                <a:extLst>
                  <a:ext uri="{FF2B5EF4-FFF2-40B4-BE49-F238E27FC236}">
                    <a16:creationId xmlns:a16="http://schemas.microsoft.com/office/drawing/2014/main" id="{58871897-9F21-CA67-8F01-D547F90C446A}"/>
                  </a:ext>
                </a:extLst>
              </p:cNvPr>
              <p:cNvSpPr txBox="1">
                <a:spLocks noChangeArrowheads="1"/>
              </p:cNvSpPr>
              <p:nvPr/>
            </p:nvSpPr>
            <p:spPr bwMode="auto">
              <a:xfrm>
                <a:off x="4673164" y="2008989"/>
                <a:ext cx="938785" cy="294180"/>
              </a:xfrm>
              <a:prstGeom prst="rect">
                <a:avLst/>
              </a:prstGeom>
              <a:noFill/>
              <a:ln w="9525">
                <a:noFill/>
                <a:miter lim="800000"/>
                <a:headEnd/>
                <a:tailEnd/>
              </a:ln>
            </p:spPr>
            <p:txBody>
              <a:bodyPr>
                <a:spAutoFit/>
              </a:bodyPr>
              <a:lstStyle/>
              <a:p>
                <a:pPr algn="ctr"/>
                <a:r>
                  <a:rPr lang="zh-CN" altLang="en-US" sz="1200" dirty="0">
                    <a:solidFill>
                      <a:srgbClr val="FF0000"/>
                    </a:solidFill>
                    <a:latin typeface="微软雅黑" pitchFamily="34" charset="-122"/>
                    <a:ea typeface="微软雅黑" pitchFamily="34" charset="-122"/>
                  </a:rPr>
                  <a:t>示例</a:t>
                </a:r>
                <a:endParaRPr lang="en-US" sz="1200" dirty="0">
                  <a:solidFill>
                    <a:srgbClr val="FF0000"/>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4201475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en-US" altLang="zh-CN" dirty="0"/>
              <a:t>4-4 </a:t>
            </a:r>
            <a:r>
              <a:rPr kumimoji="1" lang="zh-CN" altLang="en-US" dirty="0"/>
              <a:t>调研资料的收集及整理</a:t>
            </a:r>
          </a:p>
        </p:txBody>
      </p:sp>
      <p:sp>
        <p:nvSpPr>
          <p:cNvPr id="3" name="内容占位符 1">
            <a:extLst>
              <a:ext uri="{FF2B5EF4-FFF2-40B4-BE49-F238E27FC236}">
                <a16:creationId xmlns:a16="http://schemas.microsoft.com/office/drawing/2014/main" id="{58AD2053-5BB0-A1DA-9A05-36F3B7548DF4}"/>
              </a:ext>
            </a:extLst>
          </p:cNvPr>
          <p:cNvSpPr txBox="1">
            <a:spLocks/>
          </p:cNvSpPr>
          <p:nvPr/>
        </p:nvSpPr>
        <p:spPr>
          <a:xfrm>
            <a:off x="304404" y="919849"/>
            <a:ext cx="11657747" cy="6786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9230" indent="-189230">
              <a:lnSpc>
                <a:spcPct val="150000"/>
              </a:lnSpc>
              <a:spcBef>
                <a:spcPts val="400"/>
              </a:spcBef>
            </a:pPr>
            <a:r>
              <a:rPr lang="zh-CN" altLang="en-US" sz="1600">
                <a:solidFill>
                  <a:prstClr val="black"/>
                </a:solidFill>
              </a:rPr>
              <a:t>关键用户需要协助完成相关调研资料的收集、整理工作；</a:t>
            </a:r>
            <a:endParaRPr lang="en-US" altLang="zh-CN" sz="1600">
              <a:solidFill>
                <a:prstClr val="black"/>
              </a:solidFill>
            </a:endParaRPr>
          </a:p>
          <a:p>
            <a:pPr marL="189230" indent="-189230">
              <a:lnSpc>
                <a:spcPct val="150000"/>
              </a:lnSpc>
              <a:spcBef>
                <a:spcPts val="400"/>
              </a:spcBef>
            </a:pPr>
            <a:r>
              <a:rPr lang="zh-CN" altLang="en-US" sz="1600">
                <a:solidFill>
                  <a:prstClr val="black"/>
                </a:solidFill>
              </a:rPr>
              <a:t>关键用户需要进行下发问卷的汇总收集，顾问提供整理方法，由关键用户进行问卷的分析整理，找出普遍规律。</a:t>
            </a:r>
            <a:endParaRPr lang="en-US" altLang="zh-CN" sz="1600" dirty="0">
              <a:solidFill>
                <a:prstClr val="black"/>
              </a:solidFill>
            </a:endParaRPr>
          </a:p>
        </p:txBody>
      </p:sp>
      <p:grpSp>
        <p:nvGrpSpPr>
          <p:cNvPr id="2" name="组合 1">
            <a:extLst>
              <a:ext uri="{FF2B5EF4-FFF2-40B4-BE49-F238E27FC236}">
                <a16:creationId xmlns:a16="http://schemas.microsoft.com/office/drawing/2014/main" id="{37C9AC5F-9A98-DBBB-A4CA-1665B2410D75}"/>
              </a:ext>
            </a:extLst>
          </p:cNvPr>
          <p:cNvGrpSpPr/>
          <p:nvPr/>
        </p:nvGrpSpPr>
        <p:grpSpPr>
          <a:xfrm>
            <a:off x="494798" y="2022827"/>
            <a:ext cx="11249527" cy="4087977"/>
            <a:chOff x="218573" y="2127602"/>
            <a:chExt cx="9507283" cy="4087977"/>
          </a:xfrm>
        </p:grpSpPr>
        <p:grpSp>
          <p:nvGrpSpPr>
            <p:cNvPr id="5" name="Group 3">
              <a:extLst>
                <a:ext uri="{FF2B5EF4-FFF2-40B4-BE49-F238E27FC236}">
                  <a16:creationId xmlns:a16="http://schemas.microsoft.com/office/drawing/2014/main" id="{2F02167C-2F88-2CA7-51BB-45C5ED7FF989}"/>
                </a:ext>
              </a:extLst>
            </p:cNvPr>
            <p:cNvGrpSpPr/>
            <p:nvPr/>
          </p:nvGrpSpPr>
          <p:grpSpPr>
            <a:xfrm>
              <a:off x="218573" y="2127602"/>
              <a:ext cx="5123939" cy="4087977"/>
              <a:chOff x="304403" y="2002580"/>
              <a:chExt cx="5123939" cy="4087977"/>
            </a:xfrm>
          </p:grpSpPr>
          <p:pic>
            <p:nvPicPr>
              <p:cNvPr id="6" name="图片 5">
                <a:extLst>
                  <a:ext uri="{FF2B5EF4-FFF2-40B4-BE49-F238E27FC236}">
                    <a16:creationId xmlns:a16="http://schemas.microsoft.com/office/drawing/2014/main" id="{553FB3E8-1C72-78B5-5CE3-5B63EF0E8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719" y="2486049"/>
                <a:ext cx="5058623" cy="3533625"/>
              </a:xfrm>
              <a:prstGeom prst="rect">
                <a:avLst/>
              </a:prstGeom>
            </p:spPr>
          </p:pic>
          <p:sp>
            <p:nvSpPr>
              <p:cNvPr id="7" name="Rectangle 7">
                <a:extLst>
                  <a:ext uri="{FF2B5EF4-FFF2-40B4-BE49-F238E27FC236}">
                    <a16:creationId xmlns:a16="http://schemas.microsoft.com/office/drawing/2014/main" id="{43DAA243-5096-69D0-064C-87607FE689CD}"/>
                  </a:ext>
                </a:extLst>
              </p:cNvPr>
              <p:cNvSpPr/>
              <p:nvPr/>
            </p:nvSpPr>
            <p:spPr>
              <a:xfrm>
                <a:off x="304403" y="2273300"/>
                <a:ext cx="5123939" cy="3817257"/>
              </a:xfrm>
              <a:prstGeom prst="rect">
                <a:avLst/>
              </a:prstGeom>
              <a:noFill/>
              <a:ln>
                <a:solidFill>
                  <a:schemeClr val="bg1">
                    <a:lumMod val="50000"/>
                  </a:schemeClr>
                </a:solidFill>
              </a:ln>
            </p:spPr>
            <p:txBody>
              <a:bodyPr rtlCol="0" anchor="ctr">
                <a:noAutofit/>
              </a:bodyPr>
              <a:lstStyle/>
              <a:p>
                <a:pPr algn="ctr"/>
                <a:endParaRPr lang="zh-CN" altLang="en-US" b="0" dirty="0">
                  <a:latin typeface="微软雅黑" panose="020B0503020204020204" pitchFamily="34" charset="-122"/>
                  <a:ea typeface="微软雅黑" panose="020B0503020204020204" pitchFamily="34" charset="-122"/>
                </a:endParaRPr>
              </a:p>
            </p:txBody>
          </p:sp>
          <p:sp>
            <p:nvSpPr>
              <p:cNvPr id="8" name="Rectangle 130">
                <a:extLst>
                  <a:ext uri="{FF2B5EF4-FFF2-40B4-BE49-F238E27FC236}">
                    <a16:creationId xmlns:a16="http://schemas.microsoft.com/office/drawing/2014/main" id="{C9B3ABAF-71BB-2E8A-8197-83E054FB1A76}"/>
                  </a:ext>
                </a:extLst>
              </p:cNvPr>
              <p:cNvSpPr/>
              <p:nvPr/>
            </p:nvSpPr>
            <p:spPr bwMode="auto">
              <a:xfrm>
                <a:off x="1606215" y="2002580"/>
                <a:ext cx="2585630" cy="377356"/>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微软雅黑" pitchFamily="34" charset="-122"/>
                    <a:ea typeface="微软雅黑" pitchFamily="34" charset="-122"/>
                    <a:cs typeface="Arial" charset="0"/>
                  </a:rPr>
                  <a:t>南宁公司调研资料收集表</a:t>
                </a:r>
                <a:endParaRPr lang="en-US" sz="1600" b="1" dirty="0">
                  <a:latin typeface="微软雅黑" pitchFamily="34" charset="-122"/>
                  <a:ea typeface="微软雅黑" pitchFamily="34" charset="-122"/>
                </a:endParaRPr>
              </a:p>
            </p:txBody>
          </p:sp>
        </p:grpSp>
        <p:pic>
          <p:nvPicPr>
            <p:cNvPr id="9" name="Picture 9">
              <a:extLst>
                <a:ext uri="{FF2B5EF4-FFF2-40B4-BE49-F238E27FC236}">
                  <a16:creationId xmlns:a16="http://schemas.microsoft.com/office/drawing/2014/main" id="{16533891-4451-4B0D-68E0-AA66489D62D3}"/>
                </a:ext>
              </a:extLst>
            </p:cNvPr>
            <p:cNvPicPr>
              <a:picLocks noChangeAspect="1"/>
            </p:cNvPicPr>
            <p:nvPr/>
          </p:nvPicPr>
          <p:blipFill rotWithShape="1">
            <a:blip r:embed="rId3">
              <a:extLst>
                <a:ext uri="{28A0092B-C50C-407E-A947-70E740481C1C}">
                  <a14:useLocalDpi xmlns:a14="http://schemas.microsoft.com/office/drawing/2010/main" val="0"/>
                </a:ext>
              </a:extLst>
            </a:blip>
            <a:srcRect r="25633" b="-886"/>
            <a:stretch/>
          </p:blipFill>
          <p:spPr>
            <a:xfrm>
              <a:off x="5499956" y="2445775"/>
              <a:ext cx="3819469" cy="684643"/>
            </a:xfrm>
            <a:prstGeom prst="rect">
              <a:avLst/>
            </a:prstGeom>
          </p:spPr>
        </p:pic>
        <p:pic>
          <p:nvPicPr>
            <p:cNvPr id="10" name="Picture 11">
              <a:extLst>
                <a:ext uri="{FF2B5EF4-FFF2-40B4-BE49-F238E27FC236}">
                  <a16:creationId xmlns:a16="http://schemas.microsoft.com/office/drawing/2014/main" id="{F0455160-FE93-5A51-216A-CF7DCB24F94E}"/>
                </a:ext>
              </a:extLst>
            </p:cNvPr>
            <p:cNvPicPr>
              <a:picLocks noChangeAspect="1"/>
            </p:cNvPicPr>
            <p:nvPr/>
          </p:nvPicPr>
          <p:blipFill>
            <a:blip r:embed="rId4"/>
            <a:stretch>
              <a:fillRect/>
            </a:stretch>
          </p:blipFill>
          <p:spPr>
            <a:xfrm>
              <a:off x="5485443" y="3204443"/>
              <a:ext cx="4110620" cy="3011136"/>
            </a:xfrm>
            <a:prstGeom prst="rect">
              <a:avLst/>
            </a:prstGeom>
          </p:spPr>
        </p:pic>
        <p:sp>
          <p:nvSpPr>
            <p:cNvPr id="11" name="Rectangle 13">
              <a:extLst>
                <a:ext uri="{FF2B5EF4-FFF2-40B4-BE49-F238E27FC236}">
                  <a16:creationId xmlns:a16="http://schemas.microsoft.com/office/drawing/2014/main" id="{4AD98B25-75D7-7D01-07C7-103FC7181F95}"/>
                </a:ext>
              </a:extLst>
            </p:cNvPr>
            <p:cNvSpPr/>
            <p:nvPr/>
          </p:nvSpPr>
          <p:spPr>
            <a:xfrm>
              <a:off x="5451370" y="2390305"/>
              <a:ext cx="4159207" cy="3817257"/>
            </a:xfrm>
            <a:prstGeom prst="rect">
              <a:avLst/>
            </a:prstGeom>
            <a:noFill/>
            <a:ln>
              <a:solidFill>
                <a:schemeClr val="bg1">
                  <a:lumMod val="50000"/>
                </a:schemeClr>
              </a:solidFill>
            </a:ln>
          </p:spPr>
          <p:txBody>
            <a:bodyPr rtlCol="0" anchor="ctr">
              <a:noAutofit/>
            </a:bodyPr>
            <a:lstStyle/>
            <a:p>
              <a:pPr algn="ctr"/>
              <a:endParaRPr lang="zh-CN" altLang="en-US" b="0" dirty="0">
                <a:latin typeface="微软雅黑" panose="020B0503020204020204" pitchFamily="34" charset="-122"/>
                <a:ea typeface="微软雅黑" panose="020B0503020204020204" pitchFamily="34" charset="-122"/>
              </a:endParaRPr>
            </a:p>
          </p:txBody>
        </p:sp>
        <p:sp>
          <p:nvSpPr>
            <p:cNvPr id="12" name="Rectangle 130">
              <a:extLst>
                <a:ext uri="{FF2B5EF4-FFF2-40B4-BE49-F238E27FC236}">
                  <a16:creationId xmlns:a16="http://schemas.microsoft.com/office/drawing/2014/main" id="{1988D096-8C00-D536-B6FC-6A313B9C58C2}"/>
                </a:ext>
              </a:extLst>
            </p:cNvPr>
            <p:cNvSpPr/>
            <p:nvPr/>
          </p:nvSpPr>
          <p:spPr bwMode="auto">
            <a:xfrm>
              <a:off x="6375983" y="2151367"/>
              <a:ext cx="2585630" cy="377356"/>
            </a:xfrm>
            <a:prstGeom prst="rect">
              <a:avLst/>
            </a:prstGeom>
            <a:solidFill>
              <a:schemeClr val="accent5"/>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altLang="zh-CN" sz="1600" b="1" dirty="0">
                  <a:latin typeface="微软雅黑" pitchFamily="34" charset="-122"/>
                  <a:ea typeface="微软雅黑" pitchFamily="34" charset="-122"/>
                  <a:cs typeface="Arial" charset="0"/>
                </a:rPr>
                <a:t>Excel </a:t>
              </a:r>
              <a:r>
                <a:rPr lang="zh-CN" altLang="en-US" sz="1600" b="1" dirty="0">
                  <a:latin typeface="微软雅黑" pitchFamily="34" charset="-122"/>
                  <a:ea typeface="微软雅黑" pitchFamily="34" charset="-122"/>
                  <a:cs typeface="Arial" charset="0"/>
                </a:rPr>
                <a:t>问卷整理</a:t>
              </a:r>
              <a:endParaRPr lang="en-US" sz="1600" b="1" dirty="0">
                <a:latin typeface="微软雅黑" pitchFamily="34" charset="-122"/>
                <a:ea typeface="微软雅黑" pitchFamily="34" charset="-122"/>
              </a:endParaRPr>
            </a:p>
          </p:txBody>
        </p:sp>
        <p:grpSp>
          <p:nvGrpSpPr>
            <p:cNvPr id="13" name="Group 341">
              <a:extLst>
                <a:ext uri="{FF2B5EF4-FFF2-40B4-BE49-F238E27FC236}">
                  <a16:creationId xmlns:a16="http://schemas.microsoft.com/office/drawing/2014/main" id="{F83C7901-DF6D-A1F7-D995-950454BC4E0C}"/>
                </a:ext>
              </a:extLst>
            </p:cNvPr>
            <p:cNvGrpSpPr>
              <a:grpSpLocks/>
            </p:cNvGrpSpPr>
            <p:nvPr/>
          </p:nvGrpSpPr>
          <p:grpSpPr bwMode="auto">
            <a:xfrm rot="2105008">
              <a:off x="4783902" y="2439203"/>
              <a:ext cx="556081" cy="281203"/>
              <a:chOff x="4669536" y="2004525"/>
              <a:chExt cx="991457" cy="298644"/>
            </a:xfrm>
          </p:grpSpPr>
          <p:cxnSp>
            <p:nvCxnSpPr>
              <p:cNvPr id="14" name="Straight Connector 338">
                <a:extLst>
                  <a:ext uri="{FF2B5EF4-FFF2-40B4-BE49-F238E27FC236}">
                    <a16:creationId xmlns:a16="http://schemas.microsoft.com/office/drawing/2014/main" id="{EB9AE533-D8C7-1D14-D0B4-9766D5625C47}"/>
                  </a:ext>
                </a:extLst>
              </p:cNvPr>
              <p:cNvCxnSpPr>
                <a:cxnSpLocks noChangeShapeType="1"/>
              </p:cNvCxnSpPr>
              <p:nvPr/>
            </p:nvCxnSpPr>
            <p:spPr bwMode="auto">
              <a:xfrm>
                <a:off x="4685633" y="2004525"/>
                <a:ext cx="975360" cy="0"/>
              </a:xfrm>
              <a:prstGeom prst="line">
                <a:avLst/>
              </a:prstGeom>
              <a:noFill/>
              <a:ln w="19050" algn="ctr">
                <a:solidFill>
                  <a:srgbClr val="FF0000"/>
                </a:solidFill>
                <a:round/>
                <a:headEnd/>
                <a:tailEnd/>
              </a:ln>
            </p:spPr>
          </p:cxnSp>
          <p:cxnSp>
            <p:nvCxnSpPr>
              <p:cNvPr id="15" name="Straight Connector 339">
                <a:extLst>
                  <a:ext uri="{FF2B5EF4-FFF2-40B4-BE49-F238E27FC236}">
                    <a16:creationId xmlns:a16="http://schemas.microsoft.com/office/drawing/2014/main" id="{E8FCF3AC-62AC-C260-F5E1-0535D4B25435}"/>
                  </a:ext>
                </a:extLst>
              </p:cNvPr>
              <p:cNvCxnSpPr>
                <a:cxnSpLocks noChangeShapeType="1"/>
              </p:cNvCxnSpPr>
              <p:nvPr/>
            </p:nvCxnSpPr>
            <p:spPr bwMode="auto">
              <a:xfrm>
                <a:off x="4669536" y="2279904"/>
                <a:ext cx="975360" cy="0"/>
              </a:xfrm>
              <a:prstGeom prst="line">
                <a:avLst/>
              </a:prstGeom>
              <a:noFill/>
              <a:ln w="19050" algn="ctr">
                <a:solidFill>
                  <a:srgbClr val="FF0000"/>
                </a:solidFill>
                <a:round/>
                <a:headEnd/>
                <a:tailEnd/>
              </a:ln>
            </p:spPr>
          </p:cxnSp>
          <p:sp>
            <p:nvSpPr>
              <p:cNvPr id="16" name="TextBox 340">
                <a:extLst>
                  <a:ext uri="{FF2B5EF4-FFF2-40B4-BE49-F238E27FC236}">
                    <a16:creationId xmlns:a16="http://schemas.microsoft.com/office/drawing/2014/main" id="{3935D486-EA5D-A308-5141-DCD5EDA20DCF}"/>
                  </a:ext>
                </a:extLst>
              </p:cNvPr>
              <p:cNvSpPr txBox="1">
                <a:spLocks noChangeArrowheads="1"/>
              </p:cNvSpPr>
              <p:nvPr/>
            </p:nvSpPr>
            <p:spPr bwMode="auto">
              <a:xfrm>
                <a:off x="4673164" y="2008989"/>
                <a:ext cx="938785" cy="294180"/>
              </a:xfrm>
              <a:prstGeom prst="rect">
                <a:avLst/>
              </a:prstGeom>
              <a:noFill/>
              <a:ln w="9525">
                <a:noFill/>
                <a:miter lim="800000"/>
                <a:headEnd/>
                <a:tailEnd/>
              </a:ln>
            </p:spPr>
            <p:txBody>
              <a:bodyPr>
                <a:spAutoFit/>
              </a:bodyPr>
              <a:lstStyle/>
              <a:p>
                <a:pPr algn="ctr"/>
                <a:r>
                  <a:rPr lang="zh-CN" altLang="en-US" sz="1200" dirty="0">
                    <a:solidFill>
                      <a:srgbClr val="FF0000"/>
                    </a:solidFill>
                    <a:latin typeface="微软雅黑" pitchFamily="34" charset="-122"/>
                    <a:ea typeface="微软雅黑" pitchFamily="34" charset="-122"/>
                  </a:rPr>
                  <a:t>示例</a:t>
                </a:r>
                <a:endParaRPr lang="en-US" sz="1200" dirty="0">
                  <a:solidFill>
                    <a:srgbClr val="FF0000"/>
                  </a:solidFill>
                  <a:latin typeface="微软雅黑" pitchFamily="34" charset="-122"/>
                  <a:ea typeface="微软雅黑" pitchFamily="34" charset="-122"/>
                </a:endParaRPr>
              </a:p>
            </p:txBody>
          </p:sp>
        </p:grpSp>
        <p:grpSp>
          <p:nvGrpSpPr>
            <p:cNvPr id="17" name="Group 341">
              <a:extLst>
                <a:ext uri="{FF2B5EF4-FFF2-40B4-BE49-F238E27FC236}">
                  <a16:creationId xmlns:a16="http://schemas.microsoft.com/office/drawing/2014/main" id="{29840A84-F990-9FB3-E826-44C6C4952F92}"/>
                </a:ext>
              </a:extLst>
            </p:cNvPr>
            <p:cNvGrpSpPr>
              <a:grpSpLocks/>
            </p:cNvGrpSpPr>
            <p:nvPr/>
          </p:nvGrpSpPr>
          <p:grpSpPr bwMode="auto">
            <a:xfrm rot="2105008">
              <a:off x="9169775" y="2376523"/>
              <a:ext cx="556081" cy="281203"/>
              <a:chOff x="4669536" y="2004525"/>
              <a:chExt cx="991457" cy="298644"/>
            </a:xfrm>
          </p:grpSpPr>
          <p:cxnSp>
            <p:nvCxnSpPr>
              <p:cNvPr id="18" name="Straight Connector 338">
                <a:extLst>
                  <a:ext uri="{FF2B5EF4-FFF2-40B4-BE49-F238E27FC236}">
                    <a16:creationId xmlns:a16="http://schemas.microsoft.com/office/drawing/2014/main" id="{9B183EA0-B108-CF78-DBB1-6AE10F57939E}"/>
                  </a:ext>
                </a:extLst>
              </p:cNvPr>
              <p:cNvCxnSpPr>
                <a:cxnSpLocks noChangeShapeType="1"/>
              </p:cNvCxnSpPr>
              <p:nvPr/>
            </p:nvCxnSpPr>
            <p:spPr bwMode="auto">
              <a:xfrm>
                <a:off x="4685633" y="2004525"/>
                <a:ext cx="975360" cy="0"/>
              </a:xfrm>
              <a:prstGeom prst="line">
                <a:avLst/>
              </a:prstGeom>
              <a:noFill/>
              <a:ln w="19050" algn="ctr">
                <a:solidFill>
                  <a:srgbClr val="FF0000"/>
                </a:solidFill>
                <a:round/>
                <a:headEnd/>
                <a:tailEnd/>
              </a:ln>
            </p:spPr>
          </p:cxnSp>
          <p:cxnSp>
            <p:nvCxnSpPr>
              <p:cNvPr id="19" name="Straight Connector 339">
                <a:extLst>
                  <a:ext uri="{FF2B5EF4-FFF2-40B4-BE49-F238E27FC236}">
                    <a16:creationId xmlns:a16="http://schemas.microsoft.com/office/drawing/2014/main" id="{31ED2CA4-2A51-BAC6-C328-0C20A77D98CF}"/>
                  </a:ext>
                </a:extLst>
              </p:cNvPr>
              <p:cNvCxnSpPr>
                <a:cxnSpLocks noChangeShapeType="1"/>
              </p:cNvCxnSpPr>
              <p:nvPr/>
            </p:nvCxnSpPr>
            <p:spPr bwMode="auto">
              <a:xfrm>
                <a:off x="4669536" y="2279904"/>
                <a:ext cx="975360" cy="0"/>
              </a:xfrm>
              <a:prstGeom prst="line">
                <a:avLst/>
              </a:prstGeom>
              <a:noFill/>
              <a:ln w="19050" algn="ctr">
                <a:solidFill>
                  <a:srgbClr val="FF0000"/>
                </a:solidFill>
                <a:round/>
                <a:headEnd/>
                <a:tailEnd/>
              </a:ln>
            </p:spPr>
          </p:cxnSp>
          <p:sp>
            <p:nvSpPr>
              <p:cNvPr id="20" name="TextBox 340">
                <a:extLst>
                  <a:ext uri="{FF2B5EF4-FFF2-40B4-BE49-F238E27FC236}">
                    <a16:creationId xmlns:a16="http://schemas.microsoft.com/office/drawing/2014/main" id="{A0F9689B-FB78-D734-29EF-4CBD0DE6BC6D}"/>
                  </a:ext>
                </a:extLst>
              </p:cNvPr>
              <p:cNvSpPr txBox="1">
                <a:spLocks noChangeArrowheads="1"/>
              </p:cNvSpPr>
              <p:nvPr/>
            </p:nvSpPr>
            <p:spPr bwMode="auto">
              <a:xfrm>
                <a:off x="4673164" y="2008989"/>
                <a:ext cx="938785" cy="294180"/>
              </a:xfrm>
              <a:prstGeom prst="rect">
                <a:avLst/>
              </a:prstGeom>
              <a:noFill/>
              <a:ln w="9525">
                <a:noFill/>
                <a:miter lim="800000"/>
                <a:headEnd/>
                <a:tailEnd/>
              </a:ln>
            </p:spPr>
            <p:txBody>
              <a:bodyPr>
                <a:spAutoFit/>
              </a:bodyPr>
              <a:lstStyle/>
              <a:p>
                <a:pPr algn="ctr"/>
                <a:r>
                  <a:rPr lang="zh-CN" altLang="en-US" sz="1200" dirty="0">
                    <a:solidFill>
                      <a:srgbClr val="FF0000"/>
                    </a:solidFill>
                    <a:latin typeface="微软雅黑" pitchFamily="34" charset="-122"/>
                    <a:ea typeface="微软雅黑" pitchFamily="34" charset="-122"/>
                  </a:rPr>
                  <a:t>示例</a:t>
                </a:r>
                <a:endParaRPr lang="en-US" sz="1200" dirty="0">
                  <a:solidFill>
                    <a:srgbClr val="FF0000"/>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3750326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近期培训计划</a:t>
            </a:r>
          </a:p>
        </p:txBody>
      </p:sp>
      <p:graphicFrame>
        <p:nvGraphicFramePr>
          <p:cNvPr id="3" name="内容占位符 4">
            <a:extLst>
              <a:ext uri="{FF2B5EF4-FFF2-40B4-BE49-F238E27FC236}">
                <a16:creationId xmlns:a16="http://schemas.microsoft.com/office/drawing/2014/main" id="{3596C0D4-B4B6-2E75-D032-A199AB7E1A73}"/>
              </a:ext>
            </a:extLst>
          </p:cNvPr>
          <p:cNvGraphicFramePr>
            <a:graphicFrameLocks/>
          </p:cNvGraphicFramePr>
          <p:nvPr>
            <p:extLst>
              <p:ext uri="{D42A27DB-BD31-4B8C-83A1-F6EECF244321}">
                <p14:modId xmlns:p14="http://schemas.microsoft.com/office/powerpoint/2010/main" val="2827334800"/>
              </p:ext>
            </p:extLst>
          </p:nvPr>
        </p:nvGraphicFramePr>
        <p:xfrm>
          <a:off x="614597" y="956051"/>
          <a:ext cx="11347553" cy="4905099"/>
        </p:xfrm>
        <a:graphic>
          <a:graphicData uri="http://schemas.openxmlformats.org/drawingml/2006/table">
            <a:tbl>
              <a:tblPr firstRow="1" bandRow="1">
                <a:tableStyleId>{5C22544A-7EE6-4342-B048-85BDC9FD1C3A}</a:tableStyleId>
              </a:tblPr>
              <a:tblGrid>
                <a:gridCol w="787354">
                  <a:extLst>
                    <a:ext uri="{9D8B030D-6E8A-4147-A177-3AD203B41FA5}">
                      <a16:colId xmlns:a16="http://schemas.microsoft.com/office/drawing/2014/main" val="1514171715"/>
                    </a:ext>
                  </a:extLst>
                </a:gridCol>
                <a:gridCol w="3302933">
                  <a:extLst>
                    <a:ext uri="{9D8B030D-6E8A-4147-A177-3AD203B41FA5}">
                      <a16:colId xmlns:a16="http://schemas.microsoft.com/office/drawing/2014/main" val="3407479346"/>
                    </a:ext>
                  </a:extLst>
                </a:gridCol>
                <a:gridCol w="1815246">
                  <a:extLst>
                    <a:ext uri="{9D8B030D-6E8A-4147-A177-3AD203B41FA5}">
                      <a16:colId xmlns:a16="http://schemas.microsoft.com/office/drawing/2014/main" val="2395764014"/>
                    </a:ext>
                  </a:extLst>
                </a:gridCol>
                <a:gridCol w="1310792">
                  <a:extLst>
                    <a:ext uri="{9D8B030D-6E8A-4147-A177-3AD203B41FA5}">
                      <a16:colId xmlns:a16="http://schemas.microsoft.com/office/drawing/2014/main" val="4049340057"/>
                    </a:ext>
                  </a:extLst>
                </a:gridCol>
                <a:gridCol w="2065614">
                  <a:extLst>
                    <a:ext uri="{9D8B030D-6E8A-4147-A177-3AD203B41FA5}">
                      <a16:colId xmlns:a16="http://schemas.microsoft.com/office/drawing/2014/main" val="400685511"/>
                    </a:ext>
                  </a:extLst>
                </a:gridCol>
                <a:gridCol w="2065614">
                  <a:extLst>
                    <a:ext uri="{9D8B030D-6E8A-4147-A177-3AD203B41FA5}">
                      <a16:colId xmlns:a16="http://schemas.microsoft.com/office/drawing/2014/main" val="2869202509"/>
                    </a:ext>
                  </a:extLst>
                </a:gridCol>
              </a:tblGrid>
              <a:tr h="550573">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序号</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培训课程名称</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预计开始日期</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预计时长</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参培人</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b="1" kern="1200" dirty="0">
                          <a:solidFill>
                            <a:schemeClr val="lt1"/>
                          </a:solidFill>
                          <a:latin typeface="微软雅黑" panose="020B0503020204020204" pitchFamily="34" charset="-122"/>
                          <a:ea typeface="微软雅黑" panose="020B0503020204020204" pitchFamily="34" charset="-122"/>
                          <a:cs typeface="+mn-cs"/>
                        </a:rPr>
                        <a:t>备注</a:t>
                      </a:r>
                      <a:endParaRPr lang="zh-HK" altLang="en-US" sz="1600" b="1" kern="1200" dirty="0">
                        <a:solidFill>
                          <a:schemeClr val="lt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869683007"/>
                  </a:ext>
                </a:extLst>
              </a:tr>
              <a:tr h="850886">
                <a:tc>
                  <a:txBody>
                    <a:bodyPr/>
                    <a:lstStyle/>
                    <a:p>
                      <a:pPr algn="ctr"/>
                      <a:r>
                        <a:rPr lang="en-US" altLang="zh-CN" sz="1600" dirty="0">
                          <a:solidFill>
                            <a:schemeClr val="tx1"/>
                          </a:solidFill>
                          <a:latin typeface="微软雅黑" panose="020B0503020204020204" pitchFamily="34" charset="-122"/>
                          <a:ea typeface="微软雅黑" panose="020B0503020204020204" pitchFamily="34" charset="-122"/>
                        </a:rPr>
                        <a:t>1</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a:solidFill>
                            <a:schemeClr val="tx1"/>
                          </a:solidFill>
                          <a:latin typeface="微软雅黑" panose="020B0503020204020204" pitchFamily="34" charset="-122"/>
                          <a:ea typeface="微软雅黑" panose="020B0503020204020204" pitchFamily="34" charset="-122"/>
                        </a:rPr>
                        <a:t>燃气行业基础知识分享</a:t>
                      </a:r>
                      <a:endParaRPr lang="en-US" altLang="zh-CN"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HK" sz="1600">
                          <a:solidFill>
                            <a:schemeClr val="tx1"/>
                          </a:solidFill>
                          <a:latin typeface="微软雅黑" panose="020B0503020204020204" pitchFamily="34" charset="-122"/>
                          <a:ea typeface="微软雅黑" panose="020B0503020204020204" pitchFamily="34" charset="-122"/>
                        </a:rPr>
                        <a:t>2019/3/19</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HK"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zh-CN" altLang="en-US" sz="1600">
                          <a:solidFill>
                            <a:schemeClr val="tx1"/>
                          </a:solidFill>
                          <a:latin typeface="微软雅黑" panose="020B0503020204020204" pitchFamily="34" charset="-122"/>
                          <a:ea typeface="微软雅黑" panose="020B0503020204020204" pitchFamily="34" charset="-122"/>
                        </a:rPr>
                        <a:t>所有关键用户</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zh-CN" altLang="en-US" sz="1600">
                          <a:solidFill>
                            <a:schemeClr val="tx1"/>
                          </a:solidFill>
                          <a:latin typeface="微软雅黑" panose="020B0503020204020204" pitchFamily="34" charset="-122"/>
                          <a:ea typeface="微软雅黑" panose="020B0503020204020204" pitchFamily="34" charset="-122"/>
                        </a:rPr>
                        <a:t> </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256776592"/>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2</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en-US" altLang="zh-CN" sz="1600">
                          <a:latin typeface="微软雅黑" panose="020B0503020204020204" pitchFamily="34" charset="-122"/>
                          <a:ea typeface="微软雅黑" panose="020B0503020204020204" pitchFamily="34" charset="-122"/>
                        </a:rPr>
                        <a:t>ERP</a:t>
                      </a:r>
                      <a:r>
                        <a:rPr lang="zh-CN" altLang="en-US" sz="1600">
                          <a:latin typeface="微软雅黑" panose="020B0503020204020204" pitchFamily="34" charset="-122"/>
                          <a:ea typeface="微软雅黑" panose="020B0503020204020204" pitchFamily="34" charset="-122"/>
                        </a:rPr>
                        <a:t>系统概念培训</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HK" sz="1600">
                          <a:solidFill>
                            <a:schemeClr val="tx1"/>
                          </a:solidFill>
                          <a:latin typeface="微软雅黑" panose="020B0503020204020204" pitchFamily="34" charset="-122"/>
                          <a:ea typeface="微软雅黑" panose="020B0503020204020204" pitchFamily="34" charset="-122"/>
                        </a:rPr>
                        <a:t>2019/3/19</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HK"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a:solidFill>
                            <a:schemeClr val="tx1"/>
                          </a:solidFill>
                          <a:latin typeface="微软雅黑" panose="020B0503020204020204" pitchFamily="34" charset="-122"/>
                          <a:ea typeface="微软雅黑" panose="020B0503020204020204" pitchFamily="34" charset="-122"/>
                        </a:rPr>
                        <a:t>所有关键用户</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832796293"/>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3</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en-US" altLang="zh-HK" sz="1600">
                          <a:latin typeface="微软雅黑" panose="020B0503020204020204" pitchFamily="34" charset="-122"/>
                          <a:ea typeface="微软雅黑" panose="020B0503020204020204" pitchFamily="34" charset="-122"/>
                        </a:rPr>
                        <a:t>OFFICE</a:t>
                      </a:r>
                      <a:r>
                        <a:rPr lang="zh-HK" altLang="en-US" sz="1600">
                          <a:latin typeface="微软雅黑" panose="020B0503020204020204" pitchFamily="34" charset="-122"/>
                          <a:ea typeface="微软雅黑" panose="020B0503020204020204" pitchFamily="34" charset="-122"/>
                        </a:rPr>
                        <a:t>技能培训</a:t>
                      </a:r>
                      <a:r>
                        <a:rPr lang="en-US" altLang="zh-HK" sz="1600">
                          <a:latin typeface="微软雅黑" panose="020B0503020204020204" pitchFamily="34" charset="-122"/>
                          <a:ea typeface="微软雅黑" panose="020B0503020204020204" pitchFamily="34" charset="-122"/>
                        </a:rPr>
                        <a:t>(Visio)</a:t>
                      </a:r>
                      <a:endParaRPr lang="en-US" altLang="zh-HK"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HK" sz="1600">
                          <a:latin typeface="微软雅黑" panose="020B0503020204020204" pitchFamily="34" charset="-122"/>
                          <a:ea typeface="微软雅黑" panose="020B0503020204020204" pitchFamily="34" charset="-122"/>
                        </a:rPr>
                        <a:t>2019/3/19</a:t>
                      </a:r>
                      <a:endParaRPr lang="en-US" altLang="zh-HK" sz="16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a:solidFill>
                            <a:schemeClr val="tx1"/>
                          </a:solidFill>
                          <a:latin typeface="微软雅黑" panose="020B0503020204020204" pitchFamily="34" charset="-122"/>
                          <a:ea typeface="微软雅黑" panose="020B0503020204020204" pitchFamily="34" charset="-122"/>
                        </a:rPr>
                        <a:t>所有关键用户</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677521446"/>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4</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zh-CN" altLang="en-US" sz="1600">
                          <a:solidFill>
                            <a:schemeClr val="tx1"/>
                          </a:solidFill>
                          <a:latin typeface="微软雅黑" panose="020B0503020204020204" pitchFamily="34" charset="-122"/>
                          <a:ea typeface="微软雅黑" panose="020B0503020204020204" pitchFamily="34" charset="-122"/>
                        </a:rPr>
                        <a:t>标准化成果培训（项目）</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2019/3/19</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所有关键用户</a:t>
                      </a:r>
                      <a:endParaRPr kumimoji="0" lang="zh-HK"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30789657"/>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5</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r>
                        <a:rPr lang="en-US" altLang="zh-HK" sz="1600">
                          <a:solidFill>
                            <a:schemeClr val="tx1"/>
                          </a:solidFill>
                          <a:latin typeface="微软雅黑" panose="020B0503020204020204" pitchFamily="34" charset="-122"/>
                          <a:ea typeface="微软雅黑" panose="020B0503020204020204" pitchFamily="34" charset="-122"/>
                        </a:rPr>
                        <a:t>Oracle EBS </a:t>
                      </a:r>
                      <a:r>
                        <a:rPr lang="zh-CN" altLang="en-US" sz="1600">
                          <a:solidFill>
                            <a:schemeClr val="tx1"/>
                          </a:solidFill>
                          <a:latin typeface="微软雅黑" panose="020B0503020204020204" pitchFamily="34" charset="-122"/>
                          <a:ea typeface="微软雅黑" panose="020B0503020204020204" pitchFamily="34" charset="-122"/>
                        </a:rPr>
                        <a:t>标准功能</a:t>
                      </a:r>
                      <a:r>
                        <a:rPr lang="en-US" altLang="zh-CN" sz="1600">
                          <a:solidFill>
                            <a:schemeClr val="tx1"/>
                          </a:solidFill>
                          <a:latin typeface="微软雅黑" panose="020B0503020204020204" pitchFamily="34" charset="-122"/>
                          <a:ea typeface="微软雅黑" panose="020B0503020204020204" pitchFamily="34" charset="-122"/>
                        </a:rPr>
                        <a:t>(</a:t>
                      </a:r>
                      <a:r>
                        <a:rPr lang="zh-CN" altLang="en-US" sz="1600">
                          <a:solidFill>
                            <a:schemeClr val="tx1"/>
                          </a:solidFill>
                          <a:latin typeface="微软雅黑" panose="020B0503020204020204" pitchFamily="34" charset="-122"/>
                          <a:ea typeface="微软雅黑" panose="020B0503020204020204" pitchFamily="34" charset="-122"/>
                        </a:rPr>
                        <a:t>项目）</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2019/3/19</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a:solidFill>
                            <a:schemeClr val="tx1"/>
                          </a:solidFill>
                          <a:latin typeface="微软雅黑" panose="020B0503020204020204" pitchFamily="34" charset="-122"/>
                          <a:ea typeface="微软雅黑" panose="020B0503020204020204" pitchFamily="34" charset="-122"/>
                        </a:rPr>
                        <a:t>3</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所有关键用户</a:t>
                      </a:r>
                      <a:endParaRPr kumimoji="0" lang="zh-HK"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84079240"/>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6</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a:solidFill>
                            <a:schemeClr val="tx1"/>
                          </a:solidFill>
                          <a:latin typeface="微软雅黑" panose="020B0503020204020204" pitchFamily="34" charset="-122"/>
                          <a:ea typeface="微软雅黑" panose="020B0503020204020204" pitchFamily="34" charset="-122"/>
                        </a:rPr>
                        <a:t>标准化成果培训（物资）</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2019/3/20</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所有关键用户</a:t>
                      </a:r>
                      <a:endParaRPr kumimoji="0" lang="zh-HK"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493326195"/>
                  </a:ext>
                </a:extLst>
              </a:tr>
              <a:tr h="500520">
                <a:tc>
                  <a:txBody>
                    <a:bodyPr/>
                    <a:lstStyle/>
                    <a:p>
                      <a:pPr algn="ctr"/>
                      <a:r>
                        <a:rPr lang="en-US" altLang="zh-HK" sz="1600" dirty="0">
                          <a:solidFill>
                            <a:schemeClr val="tx1"/>
                          </a:solidFill>
                          <a:latin typeface="微软雅黑" panose="020B0503020204020204" pitchFamily="34" charset="-122"/>
                          <a:ea typeface="微软雅黑" panose="020B0503020204020204" pitchFamily="34" charset="-122"/>
                        </a:rPr>
                        <a:t>7</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Oracle EBS </a:t>
                      </a:r>
                      <a:r>
                        <a:rPr lang="zh-CN" altLang="en-US" sz="1600">
                          <a:solidFill>
                            <a:schemeClr val="tx1"/>
                          </a:solidFill>
                          <a:latin typeface="微软雅黑" panose="020B0503020204020204" pitchFamily="34" charset="-122"/>
                          <a:ea typeface="微软雅黑" panose="020B0503020204020204" pitchFamily="34" charset="-122"/>
                        </a:rPr>
                        <a:t>标准功能</a:t>
                      </a:r>
                      <a:r>
                        <a:rPr lang="en-US" altLang="zh-CN" sz="1600">
                          <a:solidFill>
                            <a:schemeClr val="tx1"/>
                          </a:solidFill>
                          <a:latin typeface="微软雅黑" panose="020B0503020204020204" pitchFamily="34" charset="-122"/>
                          <a:ea typeface="微软雅黑" panose="020B0503020204020204" pitchFamily="34" charset="-122"/>
                        </a:rPr>
                        <a:t>(</a:t>
                      </a:r>
                      <a:r>
                        <a:rPr lang="zh-CN" altLang="en-US" sz="1600">
                          <a:solidFill>
                            <a:schemeClr val="tx1"/>
                          </a:solidFill>
                          <a:latin typeface="微软雅黑" panose="020B0503020204020204" pitchFamily="34" charset="-122"/>
                          <a:ea typeface="微软雅黑" panose="020B0503020204020204" pitchFamily="34" charset="-122"/>
                        </a:rPr>
                        <a:t>物资）</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2019/3/20</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a:solidFill>
                            <a:schemeClr val="tx1"/>
                          </a:solidFill>
                          <a:latin typeface="微软雅黑" panose="020B0503020204020204" pitchFamily="34" charset="-122"/>
                          <a:ea typeface="微软雅黑" panose="020B0503020204020204" pitchFamily="34" charset="-122"/>
                        </a:rPr>
                        <a:t>4</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所有关键用户</a:t>
                      </a:r>
                      <a:endParaRPr kumimoji="0" lang="zh-HK"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906190176"/>
                  </a:ext>
                </a:extLst>
              </a:tr>
              <a:tr h="500520">
                <a:tc>
                  <a:txBody>
                    <a:bodyPr/>
                    <a:lstStyle/>
                    <a:p>
                      <a:pPr algn="ctr"/>
                      <a:r>
                        <a:rPr lang="en-US" altLang="zh-CN" sz="1600" dirty="0">
                          <a:solidFill>
                            <a:schemeClr val="tx1"/>
                          </a:solidFill>
                          <a:latin typeface="微软雅黑" panose="020B0503020204020204" pitchFamily="34" charset="-122"/>
                          <a:ea typeface="微软雅黑" panose="020B0503020204020204" pitchFamily="34" charset="-122"/>
                        </a:rPr>
                        <a:t>8</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a:solidFill>
                            <a:schemeClr val="tx1"/>
                          </a:solidFill>
                          <a:latin typeface="微软雅黑" panose="020B0503020204020204" pitchFamily="34" charset="-122"/>
                          <a:ea typeface="微软雅黑" panose="020B0503020204020204" pitchFamily="34" charset="-122"/>
                        </a:rPr>
                        <a:t>标准化成果培训（设备）</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395" rtl="0" eaLnBrk="1" fontAlgn="auto" latinLnBrk="0" hangingPunct="1">
                        <a:lnSpc>
                          <a:spcPct val="100000"/>
                        </a:lnSpc>
                        <a:spcBef>
                          <a:spcPts val="0"/>
                        </a:spcBef>
                        <a:spcAft>
                          <a:spcPts val="0"/>
                        </a:spcAft>
                        <a:buClrTx/>
                        <a:buSzTx/>
                        <a:buFontTx/>
                        <a:buNone/>
                        <a:tabLst/>
                        <a:defRPr/>
                      </a:pPr>
                      <a:r>
                        <a:rPr lang="en-US" altLang="zh-HK" sz="1600">
                          <a:solidFill>
                            <a:schemeClr val="tx1"/>
                          </a:solidFill>
                          <a:latin typeface="微软雅黑" panose="020B0503020204020204" pitchFamily="34" charset="-122"/>
                          <a:ea typeface="微软雅黑" panose="020B0503020204020204" pitchFamily="34" charset="-122"/>
                        </a:rPr>
                        <a:t>2019/3/</a:t>
                      </a:r>
                      <a:r>
                        <a:rPr lang="en-US" altLang="zh-CN" sz="1600">
                          <a:solidFill>
                            <a:schemeClr val="tx1"/>
                          </a:solidFill>
                          <a:latin typeface="微软雅黑" panose="020B0503020204020204" pitchFamily="34" charset="-122"/>
                          <a:ea typeface="微软雅黑" panose="020B0503020204020204" pitchFamily="34" charset="-122"/>
                        </a:rPr>
                        <a:t>21</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a:solidFill>
                            <a:schemeClr val="tx1"/>
                          </a:solidFill>
                          <a:latin typeface="微软雅黑" panose="020B0503020204020204" pitchFamily="34" charset="-122"/>
                          <a:ea typeface="微软雅黑" panose="020B0503020204020204" pitchFamily="34" charset="-122"/>
                        </a:rPr>
                        <a:t>1</a:t>
                      </a:r>
                      <a:r>
                        <a:rPr lang="zh-CN" altLang="en-US" sz="1600">
                          <a:solidFill>
                            <a:schemeClr val="tx1"/>
                          </a:solidFill>
                          <a:latin typeface="微软雅黑" panose="020B0503020204020204" pitchFamily="34" charset="-122"/>
                          <a:ea typeface="微软雅黑" panose="020B0503020204020204" pitchFamily="34" charset="-122"/>
                        </a:rPr>
                        <a:t>小时</a:t>
                      </a:r>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所有关键用户</a:t>
                      </a:r>
                      <a:endParaRPr kumimoji="0" lang="zh-HK"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endParaRPr lang="zh-HK" altLang="en-US" sz="1600"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4598398"/>
                  </a:ext>
                </a:extLst>
              </a:tr>
            </a:tbl>
          </a:graphicData>
        </a:graphic>
      </p:graphicFrame>
    </p:spTree>
    <p:extLst>
      <p:ext uri="{BB962C8B-B14F-4D97-AF65-F5344CB8AC3E}">
        <p14:creationId xmlns:p14="http://schemas.microsoft.com/office/powerpoint/2010/main" val="43858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近期关键用户重点工作</a:t>
            </a:r>
            <a:r>
              <a:rPr kumimoji="1" lang="en-US" altLang="zh-CN" dirty="0"/>
              <a:t>-</a:t>
            </a:r>
            <a:r>
              <a:rPr kumimoji="1" lang="zh-CN" altLang="en-US" dirty="0"/>
              <a:t>项目组</a:t>
            </a:r>
          </a:p>
        </p:txBody>
      </p:sp>
      <p:graphicFrame>
        <p:nvGraphicFramePr>
          <p:cNvPr id="2" name="表格 1">
            <a:extLst>
              <a:ext uri="{FF2B5EF4-FFF2-40B4-BE49-F238E27FC236}">
                <a16:creationId xmlns:a16="http://schemas.microsoft.com/office/drawing/2014/main" id="{28AE0051-6B02-4148-B8CE-A135F3A0DDEF}"/>
              </a:ext>
            </a:extLst>
          </p:cNvPr>
          <p:cNvGraphicFramePr>
            <a:graphicFrameLocks noGrp="1"/>
          </p:cNvGraphicFramePr>
          <p:nvPr>
            <p:extLst>
              <p:ext uri="{D42A27DB-BD31-4B8C-83A1-F6EECF244321}">
                <p14:modId xmlns:p14="http://schemas.microsoft.com/office/powerpoint/2010/main" val="4008924003"/>
              </p:ext>
            </p:extLst>
          </p:nvPr>
        </p:nvGraphicFramePr>
        <p:xfrm>
          <a:off x="398094" y="785704"/>
          <a:ext cx="11294235" cy="5286591"/>
        </p:xfrm>
        <a:graphic>
          <a:graphicData uri="http://schemas.openxmlformats.org/drawingml/2006/table">
            <a:tbl>
              <a:tblPr firstRow="1" bandRow="1">
                <a:tableStyleId>{5C22544A-7EE6-4342-B048-85BDC9FD1C3A}</a:tableStyleId>
              </a:tblPr>
              <a:tblGrid>
                <a:gridCol w="921599">
                  <a:extLst>
                    <a:ext uri="{9D8B030D-6E8A-4147-A177-3AD203B41FA5}">
                      <a16:colId xmlns:a16="http://schemas.microsoft.com/office/drawing/2014/main" val="111560693"/>
                    </a:ext>
                  </a:extLst>
                </a:gridCol>
                <a:gridCol w="4907315">
                  <a:extLst>
                    <a:ext uri="{9D8B030D-6E8A-4147-A177-3AD203B41FA5}">
                      <a16:colId xmlns:a16="http://schemas.microsoft.com/office/drawing/2014/main" val="952100764"/>
                    </a:ext>
                  </a:extLst>
                </a:gridCol>
                <a:gridCol w="1768773">
                  <a:extLst>
                    <a:ext uri="{9D8B030D-6E8A-4147-A177-3AD203B41FA5}">
                      <a16:colId xmlns:a16="http://schemas.microsoft.com/office/drawing/2014/main" val="3091784072"/>
                    </a:ext>
                  </a:extLst>
                </a:gridCol>
                <a:gridCol w="1304466">
                  <a:extLst>
                    <a:ext uri="{9D8B030D-6E8A-4147-A177-3AD203B41FA5}">
                      <a16:colId xmlns:a16="http://schemas.microsoft.com/office/drawing/2014/main" val="2830417839"/>
                    </a:ext>
                  </a:extLst>
                </a:gridCol>
                <a:gridCol w="2392082">
                  <a:extLst>
                    <a:ext uri="{9D8B030D-6E8A-4147-A177-3AD203B41FA5}">
                      <a16:colId xmlns:a16="http://schemas.microsoft.com/office/drawing/2014/main" val="1621467067"/>
                    </a:ext>
                  </a:extLst>
                </a:gridCol>
              </a:tblGrid>
              <a:tr h="409711">
                <a:tc>
                  <a:txBody>
                    <a:bodyPr/>
                    <a:lstStyle/>
                    <a:p>
                      <a:pPr marL="0" algn="ctr" defTabSz="914395" rtl="0" eaLnBrk="1" latinLnBrk="0" hangingPunct="1"/>
                      <a:r>
                        <a:rPr lang="zh-CN" altLang="en-US" sz="1600" kern="1200" dirty="0">
                          <a:solidFill>
                            <a:schemeClr val="bg1"/>
                          </a:solidFill>
                          <a:latin typeface="微软雅黑" panose="020B0503020204020204" pitchFamily="34" charset="-122"/>
                          <a:ea typeface="微软雅黑" panose="020B0503020204020204" pitchFamily="34" charset="-122"/>
                          <a:cs typeface="+mn-cs"/>
                        </a:rPr>
                        <a:t>序号</a:t>
                      </a:r>
                      <a:endParaRPr lang="zh-HK" altLang="en-US" sz="1600" kern="1200" dirty="0">
                        <a:solidFill>
                          <a:schemeClr val="bg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kern="1200" dirty="0">
                          <a:solidFill>
                            <a:schemeClr val="bg1"/>
                          </a:solidFill>
                          <a:latin typeface="微软雅黑" panose="020B0503020204020204" pitchFamily="34" charset="-122"/>
                          <a:ea typeface="微软雅黑" panose="020B0503020204020204" pitchFamily="34" charset="-122"/>
                          <a:cs typeface="+mn-cs"/>
                        </a:rPr>
                        <a:t>工作事项</a:t>
                      </a:r>
                      <a:endParaRPr lang="zh-HK" altLang="en-US" sz="1600" kern="1200" dirty="0">
                        <a:solidFill>
                          <a:schemeClr val="bg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kern="1200" dirty="0">
                          <a:solidFill>
                            <a:schemeClr val="bg1"/>
                          </a:solidFill>
                          <a:latin typeface="微软雅黑" panose="020B0503020204020204" pitchFamily="34" charset="-122"/>
                          <a:ea typeface="微软雅黑" panose="020B0503020204020204" pitchFamily="34" charset="-122"/>
                          <a:cs typeface="+mn-cs"/>
                        </a:rPr>
                        <a:t>预计开始日期</a:t>
                      </a:r>
                      <a:endParaRPr lang="zh-HK" altLang="en-US" sz="1600" kern="1200" dirty="0">
                        <a:solidFill>
                          <a:schemeClr val="bg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kern="1200" dirty="0">
                          <a:solidFill>
                            <a:schemeClr val="bg1"/>
                          </a:solidFill>
                          <a:latin typeface="微软雅黑" panose="020B0503020204020204" pitchFamily="34" charset="-122"/>
                          <a:ea typeface="微软雅黑" panose="020B0503020204020204" pitchFamily="34" charset="-122"/>
                          <a:cs typeface="+mn-cs"/>
                        </a:rPr>
                        <a:t>持续时长</a:t>
                      </a:r>
                      <a:endParaRPr lang="zh-HK" altLang="en-US" sz="1600" kern="1200" dirty="0">
                        <a:solidFill>
                          <a:schemeClr val="bg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zh-CN" altLang="en-US" sz="1600" kern="1200" dirty="0">
                          <a:solidFill>
                            <a:schemeClr val="bg1"/>
                          </a:solidFill>
                          <a:latin typeface="微软雅黑" panose="020B0503020204020204" pitchFamily="34" charset="-122"/>
                          <a:ea typeface="微软雅黑" panose="020B0503020204020204" pitchFamily="34" charset="-122"/>
                          <a:cs typeface="+mn-cs"/>
                        </a:rPr>
                        <a:t>备注</a:t>
                      </a:r>
                      <a:endParaRPr lang="zh-HK" altLang="en-US" sz="1600" kern="1200" dirty="0">
                        <a:solidFill>
                          <a:schemeClr val="bg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505619748"/>
                  </a:ext>
                </a:extLst>
              </a:tr>
              <a:tr h="707682">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1</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业务单据、业务报表收集与整理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2019/3/18</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1</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r>
                        <a:rPr lang="zh-CN" altLang="en-US" sz="1600" kern="1200" dirty="0">
                          <a:solidFill>
                            <a:schemeClr val="dk1"/>
                          </a:solidFill>
                          <a:latin typeface="微软雅黑" panose="020B0503020204020204" pitchFamily="34" charset="-122"/>
                          <a:ea typeface="微软雅黑" panose="020B0503020204020204" pitchFamily="34" charset="-122"/>
                          <a:cs typeface="+mn-cs"/>
                        </a:rPr>
                        <a:t>试点单位</a:t>
                      </a:r>
                      <a:r>
                        <a:rPr lang="en-US" altLang="zh-CN" sz="1600" kern="1200" dirty="0">
                          <a:solidFill>
                            <a:schemeClr val="dk1"/>
                          </a:solidFill>
                          <a:latin typeface="微软雅黑" panose="020B0503020204020204" pitchFamily="34" charset="-122"/>
                          <a:ea typeface="微软雅黑" panose="020B0503020204020204" pitchFamily="34" charset="-122"/>
                          <a:cs typeface="+mn-cs"/>
                        </a:rPr>
                        <a:t>&amp;</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所有调研单位</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820895120"/>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2</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调研总结确认</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2019/3/18</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1</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87589687"/>
                  </a:ext>
                </a:extLst>
              </a:tr>
              <a:tr h="437914">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3</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To Be</a:t>
                      </a:r>
                      <a:r>
                        <a:rPr lang="zh-CN" altLang="en-US" sz="1600" kern="1200" dirty="0">
                          <a:solidFill>
                            <a:schemeClr val="dk1"/>
                          </a:solidFill>
                          <a:latin typeface="微软雅黑" panose="020B0503020204020204" pitchFamily="34" charset="-122"/>
                          <a:ea typeface="微软雅黑" panose="020B0503020204020204" pitchFamily="34" charset="-122"/>
                          <a:cs typeface="+mn-cs"/>
                        </a:rPr>
                        <a:t>业务流程图讨论</a:t>
                      </a: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1</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 </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973047732"/>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4</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项目管理方案讨论</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538646741"/>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项目分类讨论及指引编制</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467038346"/>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6</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项目编码规则</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930674312"/>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7</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a:t>
                      </a:r>
                      <a:r>
                        <a:rPr lang="en-US" altLang="zh-CN" sz="1600" kern="1200" dirty="0">
                          <a:solidFill>
                            <a:schemeClr val="dk1"/>
                          </a:solidFill>
                          <a:latin typeface="微软雅黑" panose="020B0503020204020204" pitchFamily="34" charset="-122"/>
                          <a:ea typeface="微软雅黑" panose="020B0503020204020204" pitchFamily="34" charset="-122"/>
                          <a:cs typeface="+mn-cs"/>
                        </a:rPr>
                        <a:t>FBS(</a:t>
                      </a:r>
                      <a:r>
                        <a:rPr lang="zh-CN" altLang="en-US" sz="1600" kern="1200" dirty="0">
                          <a:solidFill>
                            <a:schemeClr val="dk1"/>
                          </a:solidFill>
                          <a:latin typeface="微软雅黑" panose="020B0503020204020204" pitchFamily="34" charset="-122"/>
                          <a:ea typeface="微软雅黑" panose="020B0503020204020204" pitchFamily="34" charset="-122"/>
                          <a:cs typeface="+mn-cs"/>
                        </a:rPr>
                        <a:t>财务分解结构</a:t>
                      </a:r>
                      <a:r>
                        <a:rPr lang="en-US" altLang="zh-CN" sz="1600" kern="1200" dirty="0">
                          <a:solidFill>
                            <a:schemeClr val="dk1"/>
                          </a:solidFill>
                          <a:latin typeface="微软雅黑" panose="020B0503020204020204" pitchFamily="34" charset="-122"/>
                          <a:ea typeface="微软雅黑" panose="020B0503020204020204" pitchFamily="34" charset="-122"/>
                          <a:cs typeface="+mn-cs"/>
                        </a:rPr>
                        <a:t>)</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梳理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246441863"/>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8</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a:t>
                      </a:r>
                      <a:r>
                        <a:rPr lang="en-US" altLang="zh-CN" sz="1600" kern="1200" dirty="0">
                          <a:solidFill>
                            <a:schemeClr val="dk1"/>
                          </a:solidFill>
                          <a:latin typeface="微软雅黑" panose="020B0503020204020204" pitchFamily="34" charset="-122"/>
                          <a:ea typeface="微软雅黑" panose="020B0503020204020204" pitchFamily="34" charset="-122"/>
                          <a:cs typeface="+mn-cs"/>
                        </a:rPr>
                        <a:t>WBS</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（工作分解结构</a:t>
                      </a:r>
                      <a:r>
                        <a:rPr lang="en-US" altLang="zh-CN" sz="1600" kern="1200" dirty="0">
                          <a:solidFill>
                            <a:schemeClr val="dk1"/>
                          </a:solidFill>
                          <a:latin typeface="微软雅黑" panose="020B0503020204020204" pitchFamily="34" charset="-122"/>
                          <a:ea typeface="微软雅黑" panose="020B0503020204020204" pitchFamily="34" charset="-122"/>
                          <a:cs typeface="+mn-cs"/>
                        </a:rPr>
                        <a:t>)</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梳理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499123603"/>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9</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项目竣工资料清单梳理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192669735"/>
                  </a:ext>
                </a:extLst>
              </a:tr>
              <a:tr h="409711">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10</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项目质量安全检查点梳理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3</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396186097"/>
                  </a:ext>
                </a:extLst>
              </a:tr>
              <a:tr h="453596">
                <a:tc>
                  <a:txBody>
                    <a:bodyPr/>
                    <a:lstStyle/>
                    <a:p>
                      <a:pPr marL="0" algn="ctr" defTabSz="914395" rtl="0" eaLnBrk="1" latinLnBrk="0" hangingPunct="1"/>
                      <a:r>
                        <a:rPr lang="en-US" altLang="zh-HK" sz="1600" kern="1200" dirty="0">
                          <a:solidFill>
                            <a:schemeClr val="dk1"/>
                          </a:solidFill>
                          <a:latin typeface="微软雅黑" panose="020B0503020204020204" pitchFamily="34" charset="-122"/>
                          <a:ea typeface="微软雅黑" panose="020B0503020204020204" pitchFamily="34" charset="-122"/>
                          <a:cs typeface="+mn-cs"/>
                        </a:rPr>
                        <a:t>11</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zh-CN" altLang="en-US" sz="1600" kern="1200" dirty="0">
                          <a:solidFill>
                            <a:schemeClr val="dk1"/>
                          </a:solidFill>
                          <a:latin typeface="微软雅黑" panose="020B0503020204020204" pitchFamily="34" charset="-122"/>
                          <a:ea typeface="微软雅黑" panose="020B0503020204020204" pitchFamily="34" charset="-122"/>
                          <a:cs typeface="+mn-cs"/>
                        </a:rPr>
                        <a:t>项目数据第一轮清理</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914395"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微软雅黑" panose="020B0503020204020204" pitchFamily="34" charset="-122"/>
                          <a:ea typeface="微软雅黑" panose="020B0503020204020204" pitchFamily="34" charset="-122"/>
                          <a:cs typeface="+mn-cs"/>
                        </a:rPr>
                        <a:t>2019/3/25</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914395" rtl="0" eaLnBrk="1" latinLnBrk="0" hangingPunct="1"/>
                      <a:r>
                        <a:rPr lang="en-US" altLang="zh-CN" sz="1600" kern="1200" dirty="0">
                          <a:solidFill>
                            <a:schemeClr val="dk1"/>
                          </a:solidFill>
                          <a:latin typeface="微软雅黑" panose="020B0503020204020204" pitchFamily="34" charset="-122"/>
                          <a:ea typeface="微软雅黑" panose="020B0503020204020204" pitchFamily="34" charset="-122"/>
                          <a:cs typeface="+mn-cs"/>
                        </a:rPr>
                        <a:t>4</a:t>
                      </a:r>
                      <a:r>
                        <a:rPr lang="zh-CN" altLang="en-US" sz="1600" kern="1200" dirty="0">
                          <a:solidFill>
                            <a:schemeClr val="dk1"/>
                          </a:solidFill>
                          <a:latin typeface="微软雅黑" panose="020B0503020204020204" pitchFamily="34" charset="-122"/>
                          <a:ea typeface="微软雅黑" panose="020B0503020204020204" pitchFamily="34" charset="-122"/>
                          <a:cs typeface="+mn-cs"/>
                        </a:rPr>
                        <a:t>周</a:t>
                      </a:r>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marL="0" algn="l" defTabSz="914395" rtl="0" eaLnBrk="1" latinLnBrk="0" hangingPunct="1"/>
                      <a:endParaRPr lang="zh-HK"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715849153"/>
                  </a:ext>
                </a:extLst>
              </a:tr>
            </a:tbl>
          </a:graphicData>
        </a:graphic>
      </p:graphicFrame>
    </p:spTree>
    <p:extLst>
      <p:ext uri="{BB962C8B-B14F-4D97-AF65-F5344CB8AC3E}">
        <p14:creationId xmlns:p14="http://schemas.microsoft.com/office/powerpoint/2010/main" val="2017326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r>
              <a:rPr kumimoji="1" lang="zh-CN" altLang="en-US" dirty="0"/>
              <a:t>项目实施</a:t>
            </a:r>
          </a:p>
        </p:txBody>
      </p:sp>
    </p:spTree>
    <p:extLst>
      <p:ext uri="{BB962C8B-B14F-4D97-AF65-F5344CB8AC3E}">
        <p14:creationId xmlns:p14="http://schemas.microsoft.com/office/powerpoint/2010/main" val="4031339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535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07*24"/>
  <p:tag name="TABLE_ENDDRAG_RECT" val="229*106*707*24"/>
  <p:tag name="TABLE_AUTOADJUST_FLAG" val="1"/>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013482ea-7211-48eb-8518-2ebe91ccbd28}"/>
  <p:tag name="TABLE_ENDDRAG_ORIGIN_RECT" val="186*328"/>
  <p:tag name="TABLE_ENDDRAG_RECT" val="56*76*186*328"/>
</p:tagLst>
</file>

<file path=ppt/tags/tag3.xml><?xml version="1.0" encoding="utf-8"?>
<p:tagLst xmlns:a="http://schemas.openxmlformats.org/drawingml/2006/main" xmlns:r="http://schemas.openxmlformats.org/officeDocument/2006/relationships" xmlns:p="http://schemas.openxmlformats.org/presentationml/2006/main">
  <p:tag name="ISLIDE.DIAGRAM" val="217654"/>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17113</TotalTime>
  <Words>1873</Words>
  <Application>Microsoft Office PowerPoint</Application>
  <PresentationFormat>宽屏</PresentationFormat>
  <Paragraphs>536</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Microsoft YaHei Light</vt:lpstr>
      <vt:lpstr>等线</vt:lpstr>
      <vt:lpstr>宋体</vt:lpstr>
      <vt:lpstr>Microsoft YaHei</vt:lpstr>
      <vt:lpstr>Microsoft YaHei</vt:lpstr>
      <vt:lpstr>幼圆</vt:lpstr>
      <vt:lpstr>Arial</vt:lpstr>
      <vt:lpstr>Wingdings</vt:lpstr>
      <vt:lpstr>1_Office 主题​​</vt:lpstr>
      <vt:lpstr>XX客户XX系统实施项目 关键用户欢迎会</vt:lpstr>
      <vt:lpstr>PowerPoint 演示文稿</vt:lpstr>
      <vt:lpstr>项目组织架构</vt:lpstr>
      <vt:lpstr>项目组成员</vt:lpstr>
      <vt:lpstr>目 录</vt:lpstr>
      <vt:lpstr>基本规范</vt:lpstr>
      <vt:lpstr>项目实施背景</vt:lpstr>
      <vt:lpstr>项目目标</vt:lpstr>
      <vt:lpstr>项目建设总体思路</vt:lpstr>
      <vt:lpstr>项目功能范围</vt:lpstr>
      <vt:lpstr>试点公司范围</vt:lpstr>
      <vt:lpstr>项目实施概况</vt:lpstr>
      <vt:lpstr>项目总体计划</vt:lpstr>
      <vt:lpstr>项目整体进度</vt:lpstr>
      <vt:lpstr>项目实施</vt:lpstr>
      <vt:lpstr>对于关键用户工作的基本要求</vt:lpstr>
      <vt:lpstr>关键用户深度参与项目实施</vt:lpstr>
      <vt:lpstr>项目关键用户工作职责与工作技能</vt:lpstr>
      <vt:lpstr>关键用户工作态度</vt:lpstr>
      <vt:lpstr>近期关键用户重点工作</vt:lpstr>
      <vt:lpstr>4-1 参加项目组组织的培训</vt:lpstr>
      <vt:lpstr>4-2 参与制定业务标准</vt:lpstr>
      <vt:lpstr>4-3 参与业务流程梳理</vt:lpstr>
      <vt:lpstr>4-4 调研资料的收集及整理</vt:lpstr>
      <vt:lpstr>近期培训计划</vt:lpstr>
      <vt:lpstr>近期关键用户重点工作-项目组</vt:lpstr>
      <vt:lpstr>项目实施</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张娜</cp:lastModifiedBy>
  <cp:revision>467</cp:revision>
  <dcterms:created xsi:type="dcterms:W3CDTF">2022-05-26T11:12:00Z</dcterms:created>
  <dcterms:modified xsi:type="dcterms:W3CDTF">2022-09-19T03:37:11Z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